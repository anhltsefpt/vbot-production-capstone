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2A78D6"/>
              </a:solidFill>
              <a:ln w="19050">
                <a:solidFill>
                  <a:srgbClr val="FFFFFF"/>
                </a:solidFill>
              </a:ln>
            </c:spPr>
          </c:dPt>
          <c:dPt>
            <c:idx val="1"/>
            <c:spPr>
              <a:solidFill>
                <a:srgbClr val="EB6834"/>
              </a:solidFill>
              <a:ln w="19050">
                <a:solidFill>
                  <a:srgbClr val="FFFFFF"/>
                </a:solidFill>
              </a:ln>
            </c:spPr>
          </c:dPt>
          <c:dPt>
            <c:idx val="2"/>
            <c:spPr>
              <a:solidFill>
                <a:srgbClr val="1BAF7A"/>
              </a:solidFill>
              <a:ln w="19050">
                <a:solidFill>
                  <a:srgbClr val="FFFFFF"/>
                </a:solidFill>
              </a:ln>
            </c:spPr>
          </c:dPt>
          <c:dPt>
            <c:idx val="3"/>
            <c:spPr>
              <a:solidFill>
                <a:srgbClr val="EDA100"/>
              </a:solidFill>
              <a:ln w="19050">
                <a:solidFill>
                  <a:srgbClr val="FFFFFF"/>
                </a:solidFill>
              </a:ln>
            </c:spPr>
          </c:dPt>
          <c:dPt>
            <c:idx val="4"/>
            <c:spPr>
              <a:solidFill>
                <a:srgbClr val="E87BA4"/>
              </a:solidFill>
              <a:ln w="19050">
                <a:solidFill>
                  <a:srgbClr val="FFFFFF"/>
                </a:solidFill>
              </a:ln>
            </c:spPr>
          </c:dPt>
          <c:dPt>
            <c:idx val="5"/>
            <c:spPr>
              <a:solidFill>
                <a:srgbClr val="008300"/>
              </a:solidFill>
              <a:ln w="19050">
                <a:solidFill>
                  <a:srgbClr val="FFFFFF"/>
                </a:solidFill>
              </a:ln>
            </c:spPr>
          </c:dPt>
          <c:dPt>
            <c:idx val="6"/>
            <c:spPr>
              <a:solidFill>
                <a:srgbClr val="4A3AA7"/>
              </a:solidFill>
              <a:ln w="19050">
                <a:solidFill>
                  <a:srgbClr val="FFFFFF"/>
                </a:solidFill>
              </a:ln>
            </c:spPr>
          </c:dPt>
          <c:dPt>
            <c:idx val="7"/>
            <c:spPr>
              <a:solidFill>
                <a:srgbClr val="E34948"/>
              </a:solidFill>
              <a:ln w="19050">
                <a:solidFill>
                  <a:srgbClr val="FFFFFF"/>
                </a:solidFill>
              </a:ln>
            </c:spPr>
          </c:dPt>
          <c:cat>
            <c:strRef>
              <c:f>Sheet1!$A$2:$A$9</c:f>
              <c:strCache>
                <c:ptCount val="8"/>
                <c:pt idx="0">
                  <c:v>Kinh doanh, CSKH</c:v>
                </c:pt>
                <c:pt idx="1">
                  <c:v>Quản lý dự án, vận hành</c:v>
                </c:pt>
                <c:pt idx="2">
                  <c:v>Kế toán</c:v>
                </c:pt>
                <c:pt idx="3">
                  <c:v>Nhân sự, HC, pháp chế</c:v>
                </c:pt>
                <c:pt idx="4">
                  <c:v>Marketing</c:v>
                </c:pt>
                <c:pt idx="5">
                  <c:v>IT</c:v>
                </c:pt>
                <c:pt idx="6">
                  <c:v>Mua hàng, SCM</c:v>
                </c:pt>
                <c:pt idx="7">
                  <c:v>Lãnh đạo, trợ lý</c:v>
                </c:pt>
              </c:strCache>
            </c:strRef>
          </c:cat>
          <c:val>
            <c:numRef>
              <c:f>Sheet1!$B$2:$B$9</c:f>
              <c:numCache>
                <c:formatCode>General</c:formatCode>
                <c:ptCount val="8"/>
                <c:pt idx="0">
                  <c:v>3242.5</c:v>
                </c:pt>
                <c:pt idx="1">
                  <c:v>2236.5000000000005</c:v>
                </c:pt>
                <c:pt idx="2">
                  <c:v>1777.2</c:v>
                </c:pt>
                <c:pt idx="3">
                  <c:v>1722.5000000000002</c:v>
                </c:pt>
                <c:pt idx="4">
                  <c:v>1500.0000000000002</c:v>
                </c:pt>
                <c:pt idx="5">
                  <c:v>1469.0000000000002</c:v>
                </c:pt>
                <c:pt idx="6">
                  <c:v>1373.0000000000002</c:v>
                </c:pt>
                <c:pt idx="7">
                  <c:v>799.5</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104281"/>
              </a:solidFill>
              <a:ln w="19050">
                <a:solidFill>
                  <a:srgbClr val="FFFFFF"/>
                </a:solidFill>
              </a:ln>
            </c:spPr>
          </c:dPt>
          <c:dPt>
            <c:idx val="1"/>
            <c:spPr>
              <a:solidFill>
                <a:srgbClr val="1C5CAB"/>
              </a:solidFill>
              <a:ln w="19050">
                <a:solidFill>
                  <a:srgbClr val="FFFFFF"/>
                </a:solidFill>
              </a:ln>
            </c:spPr>
          </c:dPt>
          <c:dPt>
            <c:idx val="2"/>
            <c:spPr>
              <a:solidFill>
                <a:srgbClr val="2A78D6"/>
              </a:solidFill>
              <a:ln w="19050">
                <a:solidFill>
                  <a:srgbClr val="FFFFFF"/>
                </a:solidFill>
              </a:ln>
            </c:spPr>
          </c:dPt>
          <c:dPt>
            <c:idx val="3"/>
            <c:spPr>
              <a:solidFill>
                <a:srgbClr val="5598E7"/>
              </a:solidFill>
              <a:ln w="19050">
                <a:solidFill>
                  <a:srgbClr val="FFFFFF"/>
                </a:solidFill>
              </a:ln>
            </c:spPr>
          </c:dPt>
          <c:dPt>
            <c:idx val="4"/>
            <c:spPr>
              <a:solidFill>
                <a:srgbClr val="86B6EF"/>
              </a:solidFill>
              <a:ln w="19050">
                <a:solidFill>
                  <a:srgbClr val="FFFFFF"/>
                </a:solidFill>
              </a:ln>
            </c:spPr>
          </c:dPt>
          <c:cat>
            <c:strRef>
              <c:f>Sheet1!$A$2:$A$6</c:f>
              <c:strCache>
                <c:ptCount val="5"/>
                <c:pt idx="0">
                  <c:v>Cấp 1</c:v>
                </c:pt>
                <c:pt idx="1">
                  <c:v>Cấp 2</c:v>
                </c:pt>
                <c:pt idx="2">
                  <c:v>Cấp 3</c:v>
                </c:pt>
                <c:pt idx="3">
                  <c:v>Cấp 4</c:v>
                </c:pt>
                <c:pt idx="4">
                  <c:v>Cấp 5</c:v>
                </c:pt>
              </c:strCache>
            </c:strRef>
          </c:cat>
          <c:val>
            <c:numRef>
              <c:f>Sheet1!$B$2:$B$6</c:f>
              <c:numCache>
                <c:formatCode>General</c:formatCode>
                <c:ptCount val="5"/>
                <c:pt idx="0">
                  <c:v>11863.400000000001</c:v>
                </c:pt>
                <c:pt idx="1">
                  <c:v>1051.0</c:v>
                </c:pt>
                <c:pt idx="2">
                  <c:v>554.8</c:v>
                </c:pt>
                <c:pt idx="3">
                  <c:v>552.0</c:v>
                </c:pt>
                <c:pt idx="4">
                  <c:v>99.0</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097280"/>
          </a:xfrm>
          <a:prstGeom prst="rect">
            <a:avLst/>
          </a:prstGeom>
          <a:noFill/>
        </p:spPr>
        <p:txBody>
          <a:bodyPr wrap="square">
            <a:spAutoFit/>
          </a:bodyPr>
          <a:lstStyle/>
          <a:p>
            <a:pPr algn="l">
              <a:spcAft>
                <a:spcPts val="400"/>
              </a:spcAft>
            </a:pPr>
            <a:r>
              <a:rPr sz="4800" b="1">
                <a:solidFill>
                  <a:srgbClr val="FFFFFF"/>
                </a:solidFill>
              </a:rPr>
              <a:t>VBot Workplace</a:t>
            </a:r>
          </a:p>
        </p:txBody>
      </p:sp>
      <p:sp>
        <p:nvSpPr>
          <p:cNvPr id="4" name="TextBox 3"/>
          <p:cNvSpPr txBox="1"/>
          <p:nvPr/>
        </p:nvSpPr>
        <p:spPr>
          <a:xfrm>
            <a:off x="731520" y="2834640"/>
            <a:ext cx="10515600" cy="731520"/>
          </a:xfrm>
          <a:prstGeom prst="rect">
            <a:avLst/>
          </a:prstGeom>
          <a:noFill/>
        </p:spPr>
        <p:txBody>
          <a:bodyPr wrap="square">
            <a:spAutoFit/>
          </a:bodyPr>
          <a:lstStyle/>
          <a:p>
            <a:pPr algn="l">
              <a:spcAft>
                <a:spcPts val="400"/>
              </a:spcAft>
            </a:pPr>
            <a:r>
              <a:rPr sz="2400" b="0">
                <a:solidFill>
                  <a:srgbClr val="FFFFFF"/>
                </a:solidFill>
              </a:rPr>
              <a:t>Trợ lý AI văn phòng trên Google Cloud cho 2.000 người dùng mỗi ngày</a:t>
            </a:r>
          </a:p>
        </p:txBody>
      </p:sp>
      <p:sp>
        <p:nvSpPr>
          <p:cNvPr id="5" name="TextBox 4"/>
          <p:cNvSpPr txBox="1"/>
          <p:nvPr/>
        </p:nvSpPr>
        <p:spPr>
          <a:xfrm>
            <a:off x="731520" y="3931920"/>
            <a:ext cx="10515600" cy="1097280"/>
          </a:xfrm>
          <a:prstGeom prst="rect">
            <a:avLst/>
          </a:prstGeom>
          <a:noFill/>
        </p:spPr>
        <p:txBody>
          <a:bodyPr wrap="square">
            <a:spAutoFit/>
          </a:bodyPr>
          <a:lstStyle/>
          <a:p>
            <a:pPr algn="l">
              <a:spcAft>
                <a:spcPts val="400"/>
              </a:spcAft>
            </a:pPr>
            <a:r>
              <a:rPr sz="1800" b="0">
                <a:solidFill>
                  <a:srgbClr val="BFD7EA"/>
                </a:solidFill>
              </a:rPr>
              <a:t>Tổng chi phí: 6.821,44 USD/tháng, tức 3,41 USD cho mỗi người dùng hoạt động (DAU)</a:t>
            </a:r>
          </a:p>
          <a:p>
            <a:pPr algn="l">
              <a:spcAft>
                <a:spcPts val="400"/>
              </a:spcAft>
            </a:pPr>
            <a:r>
              <a:rPr sz="1800" b="0">
                <a:solidFill>
                  <a:srgbClr val="BFD7EA"/>
                </a:solidFill>
              </a:rPr>
              <a:t>Track 2 · Production Capstone · Nhóm G03</a:t>
            </a:r>
          </a:p>
          <a:p>
            <a:pPr algn="l">
              <a:spcAft>
                <a:spcPts val="400"/>
              </a:spcAft>
            </a:pPr>
            <a:r>
              <a:rPr sz="1800" b="0">
                <a:solidFill>
                  <a:srgbClr val="BFD7EA"/>
                </a:solidFill>
              </a:rPr>
              <a:t>Lê Tuấn Anh · MSSV 2A202602952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Tải: 14.120 việc/ngày, 91% là việc nhẹ</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cho 2.000 người dùng mỗi ngày (DAU). Nhóm ước lượng từng việc của 8 phòng ban: số việc = khối lượng thật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sp>
        <p:nvSpPr>
          <p:cNvPr id="7" name="TextBox 6"/>
          <p:cNvSpPr txBox="1"/>
          <p:nvPr/>
        </p:nvSpPr>
        <p:spPr>
          <a:xfrm>
            <a:off x="457200" y="1371600"/>
            <a:ext cx="5486400" cy="365760"/>
          </a:xfrm>
          <a:prstGeom prst="rect">
            <a:avLst/>
          </a:prstGeom>
          <a:noFill/>
        </p:spPr>
        <p:txBody>
          <a:bodyPr wrap="square">
            <a:spAutoFit/>
          </a:bodyPr>
          <a:lstStyle/>
          <a:p>
            <a:pPr algn="l">
              <a:spcAft>
                <a:spcPts val="400"/>
              </a:spcAft>
            </a:pPr>
            <a:r>
              <a:rPr sz="1400" b="1">
                <a:solidFill>
                  <a:srgbClr val="1F3A5F"/>
                </a:solidFill>
              </a:rPr>
              <a:t>Ai tạo ra việc? Nhiệm vụ mỗi ngày theo phòng ban</a:t>
            </a:r>
          </a:p>
        </p:txBody>
      </p:sp>
      <p:graphicFrame>
        <p:nvGraphicFramePr>
          <p:cNvPr id="8" name="Chart 7"/>
          <p:cNvGraphicFramePr>
            <a:graphicFrameLocks noGrp="1"/>
          </p:cNvGraphicFramePr>
          <p:nvPr/>
        </p:nvGraphicFramePr>
        <p:xfrm>
          <a:off x="320040" y="1828800"/>
          <a:ext cx="2468880" cy="2468880"/>
        </p:xfrm>
        <a:graphic>
          <a:graphicData uri="http://schemas.openxmlformats.org/drawingml/2006/chart">
            <c:chart xmlns:c="http://schemas.openxmlformats.org/drawingml/2006/chart" r:id="rId2"/>
          </a:graphicData>
        </a:graphic>
      </p:graphicFrame>
      <p:sp>
        <p:nvSpPr>
          <p:cNvPr id="9" name="TextBox 8"/>
          <p:cNvSpPr txBox="1"/>
          <p:nvPr/>
        </p:nvSpPr>
        <p:spPr>
          <a:xfrm>
            <a:off x="813816" y="2679192"/>
            <a:ext cx="1481328" cy="731520"/>
          </a:xfrm>
          <a:prstGeom prst="rect">
            <a:avLst/>
          </a:prstGeom>
          <a:noFill/>
        </p:spPr>
        <p:txBody>
          <a:bodyPr wrap="square">
            <a:spAutoFit/>
          </a:bodyPr>
          <a:lstStyle/>
          <a:p>
            <a:pPr algn="ctr">
              <a:spcAft>
                <a:spcPts val="400"/>
              </a:spcAft>
            </a:pPr>
            <a:r>
              <a:rPr sz="1300" b="1">
                <a:solidFill>
                  <a:srgbClr val="1F3A5F"/>
                </a:solidFill>
              </a:rPr>
              <a:t>14.120</a:t>
            </a:r>
          </a:p>
          <a:p>
            <a:pPr algn="ctr">
              <a:spcAft>
                <a:spcPts val="400"/>
              </a:spcAft>
            </a:pPr>
            <a:r>
              <a:rPr sz="1300" b="0">
                <a:solidFill>
                  <a:srgbClr val="1F3A5F"/>
                </a:solidFill>
              </a:rPr>
              <a:t>nhiệm vụ/ngày</a:t>
            </a:r>
          </a:p>
        </p:txBody>
      </p:sp>
      <p:sp>
        <p:nvSpPr>
          <p:cNvPr id="10" name="Rounded Rectangle 9"/>
          <p:cNvSpPr/>
          <p:nvPr/>
        </p:nvSpPr>
        <p:spPr>
          <a:xfrm>
            <a:off x="2880360" y="1901952"/>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1828800"/>
            <a:ext cx="2103120" cy="283464"/>
          </a:xfrm>
          <a:prstGeom prst="rect">
            <a:avLst/>
          </a:prstGeom>
          <a:noFill/>
        </p:spPr>
        <p:txBody>
          <a:bodyPr wrap="square">
            <a:spAutoFit/>
          </a:bodyPr>
          <a:lstStyle/>
          <a:p>
            <a:pPr algn="l">
              <a:spcAft>
                <a:spcPts val="400"/>
              </a:spcAft>
            </a:pPr>
            <a:r>
              <a:rPr sz="1100" b="0">
                <a:solidFill>
                  <a:srgbClr val="555F6B"/>
                </a:solidFill>
              </a:rPr>
              <a:t>Kinh doanh, CSKH (500)</a:t>
            </a:r>
          </a:p>
        </p:txBody>
      </p:sp>
      <p:sp>
        <p:nvSpPr>
          <p:cNvPr id="12" name="TextBox 11"/>
          <p:cNvSpPr txBox="1"/>
          <p:nvPr/>
        </p:nvSpPr>
        <p:spPr>
          <a:xfrm>
            <a:off x="5166360" y="1828800"/>
            <a:ext cx="1097280" cy="283464"/>
          </a:xfrm>
          <a:prstGeom prst="rect">
            <a:avLst/>
          </a:prstGeom>
          <a:noFill/>
        </p:spPr>
        <p:txBody>
          <a:bodyPr wrap="square">
            <a:spAutoFit/>
          </a:bodyPr>
          <a:lstStyle/>
          <a:p>
            <a:pPr algn="r">
              <a:spcAft>
                <a:spcPts val="400"/>
              </a:spcAft>
            </a:pPr>
            <a:r>
              <a:rPr sz="1100" b="0">
                <a:solidFill>
                  <a:srgbClr val="555F6B"/>
                </a:solidFill>
              </a:rPr>
              <a:t>3.242 · 23%</a:t>
            </a:r>
          </a:p>
        </p:txBody>
      </p:sp>
      <p:sp>
        <p:nvSpPr>
          <p:cNvPr id="13" name="Rounded Rectangle 12"/>
          <p:cNvSpPr/>
          <p:nvPr/>
        </p:nvSpPr>
        <p:spPr>
          <a:xfrm>
            <a:off x="2880360" y="2185416"/>
            <a:ext cx="146304" cy="146304"/>
          </a:xfrm>
          <a:prstGeom prst="round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103120" cy="283464"/>
          </a:xfrm>
          <a:prstGeom prst="rect">
            <a:avLst/>
          </a:prstGeom>
          <a:noFill/>
        </p:spPr>
        <p:txBody>
          <a:bodyPr wrap="square">
            <a:spAutoFit/>
          </a:bodyPr>
          <a:lstStyle/>
          <a:p>
            <a:pPr algn="l">
              <a:spcAft>
                <a:spcPts val="400"/>
              </a:spcAft>
            </a:pPr>
            <a:r>
              <a:rPr sz="1100" b="0">
                <a:solidFill>
                  <a:srgbClr val="555F6B"/>
                </a:solidFill>
              </a:rPr>
              <a:t>Quản lý dự án, vận hành (300)</a:t>
            </a:r>
          </a:p>
        </p:txBody>
      </p:sp>
      <p:sp>
        <p:nvSpPr>
          <p:cNvPr id="15" name="TextBox 14"/>
          <p:cNvSpPr txBox="1"/>
          <p:nvPr/>
        </p:nvSpPr>
        <p:spPr>
          <a:xfrm>
            <a:off x="5166360" y="2112264"/>
            <a:ext cx="1097280" cy="283464"/>
          </a:xfrm>
          <a:prstGeom prst="rect">
            <a:avLst/>
          </a:prstGeom>
          <a:noFill/>
        </p:spPr>
        <p:txBody>
          <a:bodyPr wrap="square">
            <a:spAutoFit/>
          </a:bodyPr>
          <a:lstStyle/>
          <a:p>
            <a:pPr algn="r">
              <a:spcAft>
                <a:spcPts val="400"/>
              </a:spcAft>
            </a:pPr>
            <a:r>
              <a:rPr sz="1100" b="0">
                <a:solidFill>
                  <a:srgbClr val="555F6B"/>
                </a:solidFill>
              </a:rPr>
              <a:t>2.237 · 16%</a:t>
            </a:r>
          </a:p>
        </p:txBody>
      </p:sp>
      <p:sp>
        <p:nvSpPr>
          <p:cNvPr id="16" name="Rounded Rectangle 15"/>
          <p:cNvSpPr/>
          <p:nvPr/>
        </p:nvSpPr>
        <p:spPr>
          <a:xfrm>
            <a:off x="2880360" y="2468880"/>
            <a:ext cx="146304" cy="146304"/>
          </a:xfrm>
          <a:prstGeom prst="round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2395728"/>
            <a:ext cx="2103120" cy="283464"/>
          </a:xfrm>
          <a:prstGeom prst="rect">
            <a:avLst/>
          </a:prstGeom>
          <a:noFill/>
        </p:spPr>
        <p:txBody>
          <a:bodyPr wrap="square">
            <a:spAutoFit/>
          </a:bodyPr>
          <a:lstStyle/>
          <a:p>
            <a:pPr algn="l">
              <a:spcAft>
                <a:spcPts val="400"/>
              </a:spcAft>
            </a:pPr>
            <a:r>
              <a:rPr sz="1100" b="0">
                <a:solidFill>
                  <a:srgbClr val="555F6B"/>
                </a:solidFill>
              </a:rPr>
              <a:t>Kế toán (240)</a:t>
            </a:r>
          </a:p>
        </p:txBody>
      </p:sp>
      <p:sp>
        <p:nvSpPr>
          <p:cNvPr id="18" name="TextBox 17"/>
          <p:cNvSpPr txBox="1"/>
          <p:nvPr/>
        </p:nvSpPr>
        <p:spPr>
          <a:xfrm>
            <a:off x="5166360" y="2395728"/>
            <a:ext cx="1097280" cy="283464"/>
          </a:xfrm>
          <a:prstGeom prst="rect">
            <a:avLst/>
          </a:prstGeom>
          <a:noFill/>
        </p:spPr>
        <p:txBody>
          <a:bodyPr wrap="square">
            <a:spAutoFit/>
          </a:bodyPr>
          <a:lstStyle/>
          <a:p>
            <a:pPr algn="r">
              <a:spcAft>
                <a:spcPts val="400"/>
              </a:spcAft>
            </a:pPr>
            <a:r>
              <a:rPr sz="1100" b="0">
                <a:solidFill>
                  <a:srgbClr val="555F6B"/>
                </a:solidFill>
              </a:rPr>
              <a:t>1.777 · 13%</a:t>
            </a:r>
          </a:p>
        </p:txBody>
      </p:sp>
      <p:sp>
        <p:nvSpPr>
          <p:cNvPr id="19" name="Rounded Rectangle 18"/>
          <p:cNvSpPr/>
          <p:nvPr/>
        </p:nvSpPr>
        <p:spPr>
          <a:xfrm>
            <a:off x="2880360" y="2752344"/>
            <a:ext cx="146304" cy="146304"/>
          </a:xfrm>
          <a:prstGeom prst="roundRect">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2679191"/>
            <a:ext cx="2103120" cy="283464"/>
          </a:xfrm>
          <a:prstGeom prst="rect">
            <a:avLst/>
          </a:prstGeom>
          <a:noFill/>
        </p:spPr>
        <p:txBody>
          <a:bodyPr wrap="square">
            <a:spAutoFit/>
          </a:bodyPr>
          <a:lstStyle/>
          <a:p>
            <a:pPr algn="l">
              <a:spcAft>
                <a:spcPts val="400"/>
              </a:spcAft>
            </a:pPr>
            <a:r>
              <a:rPr sz="1100" b="0">
                <a:solidFill>
                  <a:srgbClr val="555F6B"/>
                </a:solidFill>
              </a:rPr>
              <a:t>Nhân sự, HC, pháp chế (260)</a:t>
            </a:r>
          </a:p>
        </p:txBody>
      </p:sp>
      <p:sp>
        <p:nvSpPr>
          <p:cNvPr id="21" name="TextBox 20"/>
          <p:cNvSpPr txBox="1"/>
          <p:nvPr/>
        </p:nvSpPr>
        <p:spPr>
          <a:xfrm>
            <a:off x="5166360" y="2679191"/>
            <a:ext cx="1097280" cy="283464"/>
          </a:xfrm>
          <a:prstGeom prst="rect">
            <a:avLst/>
          </a:prstGeom>
          <a:noFill/>
        </p:spPr>
        <p:txBody>
          <a:bodyPr wrap="square">
            <a:spAutoFit/>
          </a:bodyPr>
          <a:lstStyle/>
          <a:p>
            <a:pPr algn="r">
              <a:spcAft>
                <a:spcPts val="400"/>
              </a:spcAft>
            </a:pPr>
            <a:r>
              <a:rPr sz="1100" b="0">
                <a:solidFill>
                  <a:srgbClr val="555F6B"/>
                </a:solidFill>
              </a:rPr>
              <a:t>1.723 · 12%</a:t>
            </a:r>
          </a:p>
        </p:txBody>
      </p:sp>
      <p:sp>
        <p:nvSpPr>
          <p:cNvPr id="22" name="Rounded Rectangle 21"/>
          <p:cNvSpPr/>
          <p:nvPr/>
        </p:nvSpPr>
        <p:spPr>
          <a:xfrm>
            <a:off x="2880360" y="3035808"/>
            <a:ext cx="146304" cy="146304"/>
          </a:xfrm>
          <a:prstGeom prst="roundRect">
            <a:avLst/>
          </a:prstGeom>
          <a:solidFill>
            <a:srgbClr val="E87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3240" y="2962656"/>
            <a:ext cx="2103120" cy="283464"/>
          </a:xfrm>
          <a:prstGeom prst="rect">
            <a:avLst/>
          </a:prstGeom>
          <a:noFill/>
        </p:spPr>
        <p:txBody>
          <a:bodyPr wrap="square">
            <a:spAutoFit/>
          </a:bodyPr>
          <a:lstStyle/>
          <a:p>
            <a:pPr algn="l">
              <a:spcAft>
                <a:spcPts val="400"/>
              </a:spcAft>
            </a:pPr>
            <a:r>
              <a:rPr sz="1100" b="0">
                <a:solidFill>
                  <a:srgbClr val="555F6B"/>
                </a:solidFill>
              </a:rPr>
              <a:t>Marketing (200)</a:t>
            </a:r>
          </a:p>
        </p:txBody>
      </p:sp>
      <p:sp>
        <p:nvSpPr>
          <p:cNvPr id="24" name="TextBox 23"/>
          <p:cNvSpPr txBox="1"/>
          <p:nvPr/>
        </p:nvSpPr>
        <p:spPr>
          <a:xfrm>
            <a:off x="5166360" y="2962656"/>
            <a:ext cx="1097280" cy="283464"/>
          </a:xfrm>
          <a:prstGeom prst="rect">
            <a:avLst/>
          </a:prstGeom>
          <a:noFill/>
        </p:spPr>
        <p:txBody>
          <a:bodyPr wrap="square">
            <a:spAutoFit/>
          </a:bodyPr>
          <a:lstStyle/>
          <a:p>
            <a:pPr algn="r">
              <a:spcAft>
                <a:spcPts val="400"/>
              </a:spcAft>
            </a:pPr>
            <a:r>
              <a:rPr sz="1100" b="0">
                <a:solidFill>
                  <a:srgbClr val="555F6B"/>
                </a:solidFill>
              </a:rPr>
              <a:t>1.500 · 11%</a:t>
            </a:r>
          </a:p>
        </p:txBody>
      </p:sp>
      <p:sp>
        <p:nvSpPr>
          <p:cNvPr id="25" name="Rounded Rectangle 24"/>
          <p:cNvSpPr/>
          <p:nvPr/>
        </p:nvSpPr>
        <p:spPr>
          <a:xfrm>
            <a:off x="2880360" y="3319272"/>
            <a:ext cx="146304" cy="146304"/>
          </a:xfrm>
          <a:prstGeom prst="round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3240" y="3246120"/>
            <a:ext cx="2103120" cy="283464"/>
          </a:xfrm>
          <a:prstGeom prst="rect">
            <a:avLst/>
          </a:prstGeom>
          <a:noFill/>
        </p:spPr>
        <p:txBody>
          <a:bodyPr wrap="square">
            <a:spAutoFit/>
          </a:bodyPr>
          <a:lstStyle/>
          <a:p>
            <a:pPr algn="l">
              <a:spcAft>
                <a:spcPts val="400"/>
              </a:spcAft>
            </a:pPr>
            <a:r>
              <a:rPr sz="1100" b="0">
                <a:solidFill>
                  <a:srgbClr val="555F6B"/>
                </a:solidFill>
              </a:rPr>
              <a:t>IT (200)</a:t>
            </a:r>
          </a:p>
        </p:txBody>
      </p:sp>
      <p:sp>
        <p:nvSpPr>
          <p:cNvPr id="27" name="TextBox 26"/>
          <p:cNvSpPr txBox="1"/>
          <p:nvPr/>
        </p:nvSpPr>
        <p:spPr>
          <a:xfrm>
            <a:off x="5166360" y="3246120"/>
            <a:ext cx="1097280" cy="283464"/>
          </a:xfrm>
          <a:prstGeom prst="rect">
            <a:avLst/>
          </a:prstGeom>
          <a:noFill/>
        </p:spPr>
        <p:txBody>
          <a:bodyPr wrap="square">
            <a:spAutoFit/>
          </a:bodyPr>
          <a:lstStyle/>
          <a:p>
            <a:pPr algn="r">
              <a:spcAft>
                <a:spcPts val="400"/>
              </a:spcAft>
            </a:pPr>
            <a:r>
              <a:rPr sz="1100" b="0">
                <a:solidFill>
                  <a:srgbClr val="555F6B"/>
                </a:solidFill>
              </a:rPr>
              <a:t>1.469 · 10%</a:t>
            </a:r>
          </a:p>
        </p:txBody>
      </p:sp>
      <p:sp>
        <p:nvSpPr>
          <p:cNvPr id="28" name="Rounded Rectangle 27"/>
          <p:cNvSpPr/>
          <p:nvPr/>
        </p:nvSpPr>
        <p:spPr>
          <a:xfrm>
            <a:off x="2880360" y="3602736"/>
            <a:ext cx="146304" cy="146304"/>
          </a:xfrm>
          <a:prstGeom prst="roundRect">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63240" y="3529584"/>
            <a:ext cx="2103120" cy="283464"/>
          </a:xfrm>
          <a:prstGeom prst="rect">
            <a:avLst/>
          </a:prstGeom>
          <a:noFill/>
        </p:spPr>
        <p:txBody>
          <a:bodyPr wrap="square">
            <a:spAutoFit/>
          </a:bodyPr>
          <a:lstStyle/>
          <a:p>
            <a:pPr algn="l">
              <a:spcAft>
                <a:spcPts val="400"/>
              </a:spcAft>
            </a:pPr>
            <a:r>
              <a:rPr sz="1100" b="0">
                <a:solidFill>
                  <a:srgbClr val="555F6B"/>
                </a:solidFill>
              </a:rPr>
              <a:t>Mua hàng, SCM (200)</a:t>
            </a:r>
          </a:p>
        </p:txBody>
      </p:sp>
      <p:sp>
        <p:nvSpPr>
          <p:cNvPr id="30" name="TextBox 29"/>
          <p:cNvSpPr txBox="1"/>
          <p:nvPr/>
        </p:nvSpPr>
        <p:spPr>
          <a:xfrm>
            <a:off x="5166360" y="3529584"/>
            <a:ext cx="1097280" cy="283464"/>
          </a:xfrm>
          <a:prstGeom prst="rect">
            <a:avLst/>
          </a:prstGeom>
          <a:noFill/>
        </p:spPr>
        <p:txBody>
          <a:bodyPr wrap="square">
            <a:spAutoFit/>
          </a:bodyPr>
          <a:lstStyle/>
          <a:p>
            <a:pPr algn="r">
              <a:spcAft>
                <a:spcPts val="400"/>
              </a:spcAft>
            </a:pPr>
            <a:r>
              <a:rPr sz="1100" b="0">
                <a:solidFill>
                  <a:srgbClr val="555F6B"/>
                </a:solidFill>
              </a:rPr>
              <a:t>1.373 · 10%</a:t>
            </a:r>
          </a:p>
        </p:txBody>
      </p:sp>
      <p:sp>
        <p:nvSpPr>
          <p:cNvPr id="31" name="Rounded Rectangle 30"/>
          <p:cNvSpPr/>
          <p:nvPr/>
        </p:nvSpPr>
        <p:spPr>
          <a:xfrm>
            <a:off x="2880360" y="3886200"/>
            <a:ext cx="146304" cy="146304"/>
          </a:xfrm>
          <a:prstGeom prst="roundRect">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813048"/>
            <a:ext cx="2103120" cy="283464"/>
          </a:xfrm>
          <a:prstGeom prst="rect">
            <a:avLst/>
          </a:prstGeom>
          <a:noFill/>
        </p:spPr>
        <p:txBody>
          <a:bodyPr wrap="square">
            <a:spAutoFit/>
          </a:bodyPr>
          <a:lstStyle/>
          <a:p>
            <a:pPr algn="l">
              <a:spcAft>
                <a:spcPts val="400"/>
              </a:spcAft>
            </a:pPr>
            <a:r>
              <a:rPr sz="1100" b="0">
                <a:solidFill>
                  <a:srgbClr val="555F6B"/>
                </a:solidFill>
              </a:rPr>
              <a:t>Lãnh đạo, trợ lý (100)</a:t>
            </a:r>
          </a:p>
        </p:txBody>
      </p:sp>
      <p:sp>
        <p:nvSpPr>
          <p:cNvPr id="33" name="TextBox 32"/>
          <p:cNvSpPr txBox="1"/>
          <p:nvPr/>
        </p:nvSpPr>
        <p:spPr>
          <a:xfrm>
            <a:off x="5166360" y="3813048"/>
            <a:ext cx="1097280" cy="283464"/>
          </a:xfrm>
          <a:prstGeom prst="rect">
            <a:avLst/>
          </a:prstGeom>
          <a:noFill/>
        </p:spPr>
        <p:txBody>
          <a:bodyPr wrap="square">
            <a:spAutoFit/>
          </a:bodyPr>
          <a:lstStyle/>
          <a:p>
            <a:pPr algn="r">
              <a:spcAft>
                <a:spcPts val="400"/>
              </a:spcAft>
            </a:pPr>
            <a:r>
              <a:rPr sz="1100" b="0">
                <a:solidFill>
                  <a:srgbClr val="555F6B"/>
                </a:solidFill>
              </a:rPr>
              <a:t>800 · 6%</a:t>
            </a:r>
          </a:p>
        </p:txBody>
      </p:sp>
      <p:sp>
        <p:nvSpPr>
          <p:cNvPr id="34" name="TextBox 33"/>
          <p:cNvSpPr txBox="1"/>
          <p:nvPr/>
        </p:nvSpPr>
        <p:spPr>
          <a:xfrm>
            <a:off x="457200" y="4251960"/>
            <a:ext cx="5486400" cy="914400"/>
          </a:xfrm>
          <a:prstGeom prst="rect">
            <a:avLst/>
          </a:prstGeom>
          <a:noFill/>
        </p:spPr>
        <p:txBody>
          <a:bodyPr wrap="square">
            <a:spAutoFit/>
          </a:bodyPr>
          <a:lstStyle/>
          <a:p>
            <a:pPr algn="l">
              <a:spcAft>
                <a:spcPts val="400"/>
              </a:spcAft>
            </a:pPr>
            <a:r>
              <a:rPr sz="1200" b="0">
                <a:solidFill>
                  <a:srgbClr val="555F6B"/>
                </a:solidFill>
              </a:rPr>
              <a:t>Kinh doanh, CSKH tạo nhiều việc nhất (23%) vì đông người nhất. Lãnh đạo, trợ lý dùng nhiều nhất tính theo đầu người: 8,00 nhiệm vụ/ngày (trung bình công ty: 7,06).</a:t>
            </a:r>
          </a:p>
        </p:txBody>
      </p:sp>
      <p:sp>
        <p:nvSpPr>
          <p:cNvPr id="35" name="TextBox 34"/>
          <p:cNvSpPr txBox="1"/>
          <p:nvPr/>
        </p:nvSpPr>
        <p:spPr>
          <a:xfrm>
            <a:off x="6400800" y="1371600"/>
            <a:ext cx="5486400" cy="365760"/>
          </a:xfrm>
          <a:prstGeom prst="rect">
            <a:avLst/>
          </a:prstGeom>
          <a:noFill/>
        </p:spPr>
        <p:txBody>
          <a:bodyPr wrap="square">
            <a:spAutoFit/>
          </a:bodyPr>
          <a:lstStyle/>
          <a:p>
            <a:pPr algn="l">
              <a:spcAft>
                <a:spcPts val="400"/>
              </a:spcAft>
            </a:pPr>
            <a:r>
              <a:rPr sz="1400" b="1">
                <a:solidFill>
                  <a:srgbClr val="1F3A5F"/>
                </a:solidFill>
              </a:rPr>
              <a:t>Việc gì? Nhiệm vụ chia theo 5 cấp</a:t>
            </a:r>
          </a:p>
        </p:txBody>
      </p:sp>
      <p:graphicFrame>
        <p:nvGraphicFramePr>
          <p:cNvPr id="36" name="Chart 35"/>
          <p:cNvGraphicFramePr>
            <a:graphicFrameLocks noGrp="1"/>
          </p:cNvGraphicFramePr>
          <p:nvPr/>
        </p:nvGraphicFramePr>
        <p:xfrm>
          <a:off x="6309360" y="1783080"/>
          <a:ext cx="2651760" cy="2651760"/>
        </p:xfrm>
        <a:graphic>
          <a:graphicData uri="http://schemas.openxmlformats.org/drawingml/2006/chart">
            <c:chart xmlns:c="http://schemas.openxmlformats.org/drawingml/2006/chart" r:id="rId3"/>
          </a:graphicData>
        </a:graphic>
      </p:graphicFrame>
      <p:sp>
        <p:nvSpPr>
          <p:cNvPr id="37" name="TextBox 36"/>
          <p:cNvSpPr txBox="1"/>
          <p:nvPr/>
        </p:nvSpPr>
        <p:spPr>
          <a:xfrm>
            <a:off x="6839712" y="2724912"/>
            <a:ext cx="1591056" cy="731520"/>
          </a:xfrm>
          <a:prstGeom prst="rect">
            <a:avLst/>
          </a:prstGeom>
          <a:noFill/>
        </p:spPr>
        <p:txBody>
          <a:bodyPr wrap="square">
            <a:spAutoFit/>
          </a:bodyPr>
          <a:lstStyle/>
          <a:p>
            <a:pPr algn="ctr">
              <a:spcAft>
                <a:spcPts val="400"/>
              </a:spcAft>
            </a:pPr>
            <a:r>
              <a:rPr sz="1300" b="1">
                <a:solidFill>
                  <a:srgbClr val="1F3A5F"/>
                </a:solidFill>
              </a:rPr>
              <a:t>84,0%</a:t>
            </a:r>
          </a:p>
          <a:p>
            <a:pPr algn="ctr">
              <a:spcAft>
                <a:spcPts val="400"/>
              </a:spcAft>
            </a:pPr>
            <a:r>
              <a:rPr sz="1300" b="0">
                <a:solidFill>
                  <a:srgbClr val="1F3A5F"/>
                </a:solidFill>
              </a:rPr>
              <a:t>là cấp 1</a:t>
            </a:r>
          </a:p>
        </p:txBody>
      </p:sp>
      <p:sp>
        <p:nvSpPr>
          <p:cNvPr id="38" name="Rounded Rectangle 37"/>
          <p:cNvSpPr/>
          <p:nvPr/>
        </p:nvSpPr>
        <p:spPr>
          <a:xfrm>
            <a:off x="9006840" y="1901952"/>
            <a:ext cx="146304" cy="146304"/>
          </a:xfrm>
          <a:prstGeom prst="roundRect">
            <a:avLst/>
          </a:prstGeom>
          <a:solidFill>
            <a:srgbClr val="1042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9719" y="1828800"/>
            <a:ext cx="1920240" cy="283464"/>
          </a:xfrm>
          <a:prstGeom prst="rect">
            <a:avLst/>
          </a:prstGeom>
          <a:noFill/>
        </p:spPr>
        <p:txBody>
          <a:bodyPr wrap="square">
            <a:spAutoFit/>
          </a:bodyPr>
          <a:lstStyle/>
          <a:p>
            <a:pPr algn="l">
              <a:spcAft>
                <a:spcPts val="400"/>
              </a:spcAft>
            </a:pPr>
            <a:r>
              <a:rPr sz="1100" b="0">
                <a:solidFill>
                  <a:srgbClr val="555F6B"/>
                </a:solidFill>
              </a:rPr>
              <a:t>Cấp 1: Email, hỏi đáp</a:t>
            </a:r>
          </a:p>
        </p:txBody>
      </p:sp>
      <p:sp>
        <p:nvSpPr>
          <p:cNvPr id="40" name="TextBox 39"/>
          <p:cNvSpPr txBox="1"/>
          <p:nvPr/>
        </p:nvSpPr>
        <p:spPr>
          <a:xfrm>
            <a:off x="11109959" y="1828800"/>
            <a:ext cx="777240" cy="283464"/>
          </a:xfrm>
          <a:prstGeom prst="rect">
            <a:avLst/>
          </a:prstGeom>
          <a:noFill/>
        </p:spPr>
        <p:txBody>
          <a:bodyPr wrap="square">
            <a:spAutoFit/>
          </a:bodyPr>
          <a:lstStyle/>
          <a:p>
            <a:pPr algn="r">
              <a:spcAft>
                <a:spcPts val="400"/>
              </a:spcAft>
            </a:pPr>
            <a:r>
              <a:rPr sz="1100" b="0">
                <a:solidFill>
                  <a:srgbClr val="555F6B"/>
                </a:solidFill>
              </a:rPr>
              <a:t>84,0%</a:t>
            </a:r>
          </a:p>
        </p:txBody>
      </p:sp>
      <p:sp>
        <p:nvSpPr>
          <p:cNvPr id="41" name="Rounded Rectangle 40"/>
          <p:cNvSpPr/>
          <p:nvPr/>
        </p:nvSpPr>
        <p:spPr>
          <a:xfrm>
            <a:off x="9006840" y="2185416"/>
            <a:ext cx="146304" cy="146304"/>
          </a:xfrm>
          <a:prstGeom prst="roundRect">
            <a:avLst/>
          </a:prstGeom>
          <a:solidFill>
            <a:srgbClr val="1C5C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89719" y="2112264"/>
            <a:ext cx="1920240" cy="283464"/>
          </a:xfrm>
          <a:prstGeom prst="rect">
            <a:avLst/>
          </a:prstGeom>
          <a:noFill/>
        </p:spPr>
        <p:txBody>
          <a:bodyPr wrap="square">
            <a:spAutoFit/>
          </a:bodyPr>
          <a:lstStyle/>
          <a:p>
            <a:pPr algn="l">
              <a:spcAft>
                <a:spcPts val="400"/>
              </a:spcAft>
            </a:pPr>
            <a:r>
              <a:rPr sz="1100" b="0">
                <a:solidFill>
                  <a:srgbClr val="555F6B"/>
                </a:solidFill>
              </a:rPr>
              <a:t>Cấp 2: Viết tài liệu</a:t>
            </a:r>
          </a:p>
        </p:txBody>
      </p:sp>
      <p:sp>
        <p:nvSpPr>
          <p:cNvPr id="43" name="TextBox 42"/>
          <p:cNvSpPr txBox="1"/>
          <p:nvPr/>
        </p:nvSpPr>
        <p:spPr>
          <a:xfrm>
            <a:off x="11109959" y="2112264"/>
            <a:ext cx="777240" cy="283464"/>
          </a:xfrm>
          <a:prstGeom prst="rect">
            <a:avLst/>
          </a:prstGeom>
          <a:noFill/>
        </p:spPr>
        <p:txBody>
          <a:bodyPr wrap="square">
            <a:spAutoFit/>
          </a:bodyPr>
          <a:lstStyle/>
          <a:p>
            <a:pPr algn="r">
              <a:spcAft>
                <a:spcPts val="400"/>
              </a:spcAft>
            </a:pPr>
            <a:r>
              <a:rPr sz="1100" b="0">
                <a:solidFill>
                  <a:srgbClr val="555F6B"/>
                </a:solidFill>
              </a:rPr>
              <a:t>7,4%</a:t>
            </a:r>
          </a:p>
        </p:txBody>
      </p:sp>
      <p:sp>
        <p:nvSpPr>
          <p:cNvPr id="44" name="Rounded Rectangle 43"/>
          <p:cNvSpPr/>
          <p:nvPr/>
        </p:nvSpPr>
        <p:spPr>
          <a:xfrm>
            <a:off x="9006840" y="2468880"/>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9719" y="2395728"/>
            <a:ext cx="1920240" cy="283464"/>
          </a:xfrm>
          <a:prstGeom prst="rect">
            <a:avLst/>
          </a:prstGeom>
          <a:noFill/>
        </p:spPr>
        <p:txBody>
          <a:bodyPr wrap="square">
            <a:spAutoFit/>
          </a:bodyPr>
          <a:lstStyle/>
          <a:p>
            <a:pPr algn="l">
              <a:spcAft>
                <a:spcPts val="400"/>
              </a:spcAft>
            </a:pPr>
            <a:r>
              <a:rPr sz="1100" b="0">
                <a:solidFill>
                  <a:srgbClr val="555F6B"/>
                </a:solidFill>
              </a:rPr>
              <a:t>Cấp 3: Dữ liệu, code</a:t>
            </a:r>
          </a:p>
        </p:txBody>
      </p:sp>
      <p:sp>
        <p:nvSpPr>
          <p:cNvPr id="46" name="TextBox 45"/>
          <p:cNvSpPr txBox="1"/>
          <p:nvPr/>
        </p:nvSpPr>
        <p:spPr>
          <a:xfrm>
            <a:off x="11109959" y="2395728"/>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47" name="Rounded Rectangle 46"/>
          <p:cNvSpPr/>
          <p:nvPr/>
        </p:nvSpPr>
        <p:spPr>
          <a:xfrm>
            <a:off x="9006840" y="2752344"/>
            <a:ext cx="146304" cy="146304"/>
          </a:xfrm>
          <a:prstGeom prst="roundRect">
            <a:avLst/>
          </a:prstGeom>
          <a:solidFill>
            <a:srgbClr val="559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19" y="2679191"/>
            <a:ext cx="1920240" cy="283464"/>
          </a:xfrm>
          <a:prstGeom prst="rect">
            <a:avLst/>
          </a:prstGeom>
          <a:noFill/>
        </p:spPr>
        <p:txBody>
          <a:bodyPr wrap="square">
            <a:spAutoFit/>
          </a:bodyPr>
          <a:lstStyle/>
          <a:p>
            <a:pPr algn="l">
              <a:spcAft>
                <a:spcPts val="400"/>
              </a:spcAft>
            </a:pPr>
            <a:r>
              <a:rPr sz="1100" b="0">
                <a:solidFill>
                  <a:srgbClr val="555F6B"/>
                </a:solidFill>
              </a:rPr>
              <a:t>Cấp 4: Agent dự án</a:t>
            </a:r>
          </a:p>
        </p:txBody>
      </p:sp>
      <p:sp>
        <p:nvSpPr>
          <p:cNvPr id="49" name="TextBox 48"/>
          <p:cNvSpPr txBox="1"/>
          <p:nvPr/>
        </p:nvSpPr>
        <p:spPr>
          <a:xfrm>
            <a:off x="11109959" y="2679191"/>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50" name="Rounded Rectangle 49"/>
          <p:cNvSpPr/>
          <p:nvPr/>
        </p:nvSpPr>
        <p:spPr>
          <a:xfrm>
            <a:off x="9006840" y="3035808"/>
            <a:ext cx="146304" cy="146304"/>
          </a:xfrm>
          <a:prstGeom prst="roundRect">
            <a:avLst/>
          </a:prstGeom>
          <a:solidFill>
            <a:srgbClr val="86B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89719" y="2962656"/>
            <a:ext cx="1920240" cy="283464"/>
          </a:xfrm>
          <a:prstGeom prst="rect">
            <a:avLst/>
          </a:prstGeom>
          <a:noFill/>
        </p:spPr>
        <p:txBody>
          <a:bodyPr wrap="square">
            <a:spAutoFit/>
          </a:bodyPr>
          <a:lstStyle/>
          <a:p>
            <a:pPr algn="l">
              <a:spcAft>
                <a:spcPts val="400"/>
              </a:spcAft>
            </a:pPr>
            <a:r>
              <a:rPr sz="1100" b="0">
                <a:solidFill>
                  <a:srgbClr val="555F6B"/>
                </a:solidFill>
              </a:rPr>
              <a:t>Cấp 5: Thiết kế, sinh ảnh</a:t>
            </a:r>
          </a:p>
        </p:txBody>
      </p:sp>
      <p:sp>
        <p:nvSpPr>
          <p:cNvPr id="52" name="TextBox 51"/>
          <p:cNvSpPr txBox="1"/>
          <p:nvPr/>
        </p:nvSpPr>
        <p:spPr>
          <a:xfrm>
            <a:off x="11109959" y="2962656"/>
            <a:ext cx="777240" cy="283464"/>
          </a:xfrm>
          <a:prstGeom prst="rect">
            <a:avLst/>
          </a:prstGeom>
          <a:noFill/>
        </p:spPr>
        <p:txBody>
          <a:bodyPr wrap="square">
            <a:spAutoFit/>
          </a:bodyPr>
          <a:lstStyle/>
          <a:p>
            <a:pPr algn="r">
              <a:spcAft>
                <a:spcPts val="400"/>
              </a:spcAft>
            </a:pPr>
            <a:r>
              <a:rPr sz="1100" b="0">
                <a:solidFill>
                  <a:srgbClr val="555F6B"/>
                </a:solidFill>
              </a:rPr>
              <a:t>0,7%</a:t>
            </a:r>
          </a:p>
        </p:txBody>
      </p:sp>
      <p:sp>
        <p:nvSpPr>
          <p:cNvPr id="53" name="TextBox 52"/>
          <p:cNvSpPr txBox="1"/>
          <p:nvPr/>
        </p:nvSpPr>
        <p:spPr>
          <a:xfrm>
            <a:off x="6400800" y="4251960"/>
            <a:ext cx="5486400" cy="914400"/>
          </a:xfrm>
          <a:prstGeom prst="rect">
            <a:avLst/>
          </a:prstGeom>
          <a:noFill/>
        </p:spPr>
        <p:txBody>
          <a:bodyPr wrap="square">
            <a:spAutoFit/>
          </a:bodyPr>
          <a:lstStyle/>
          <a:p>
            <a:pPr algn="l">
              <a:spcAft>
                <a:spcPts val="400"/>
              </a:spcAft>
            </a:pPr>
            <a:r>
              <a:rPr sz="1200" b="0">
                <a:solidFill>
                  <a:srgbClr val="555F6B"/>
                </a:solidFill>
              </a:rPr>
              <a:t>91% là việc nhẹ (cấp 1–2: email, hỏi đáp, tài liệu). Vì vậy một model rẻ đủ cho đa số (slide 4). Việc nặng (cấp 3–4: chạy code, agent nhiều bước) chỉ chiếm 7,8%.</a:t>
            </a:r>
          </a:p>
        </p:txBody>
      </p:sp>
      <p:sp>
        <p:nvSpPr>
          <p:cNvPr id="54" name="TextBox 53"/>
          <p:cNvSpPr txBox="1"/>
          <p:nvPr/>
        </p:nvSpPr>
        <p:spPr>
          <a:xfrm>
            <a:off x="457200" y="5303520"/>
            <a:ext cx="11247120" cy="1005840"/>
          </a:xfrm>
          <a:prstGeom prst="rect">
            <a:avLst/>
          </a:prstGeom>
          <a:noFill/>
        </p:spPr>
        <p:txBody>
          <a:bodyPr wrap="square">
            <a:spAutoFit/>
          </a:bodyPr>
          <a:lstStyle/>
          <a:p>
            <a:pPr algn="l">
              <a:spcAft>
                <a:spcPts val="400"/>
              </a:spcAft>
            </a:pPr>
            <a:r>
              <a:rPr sz="1200" b="1">
                <a:solidFill>
                  <a:srgbClr val="555F6B"/>
                </a:solidFill>
              </a:rPr>
              <a:t>Ví dụ: mỗi người gửi 9,9 email/ngày; nhóm giả định 30% số email nhờ AI soạn → 9,9 × 30% = 2,97 nhiệm vụ. Cộng mọi việc của mọi phòng ra 14.120 nhiệm vụ/ngày.</a:t>
            </a:r>
          </a:p>
          <a:p>
            <a:pPr algn="l">
              <a:spcAft>
                <a:spcPts val="400"/>
              </a:spcAft>
            </a:pPr>
            <a:r>
              <a:rPr sz="1200" b="0">
                <a:solidFill>
                  <a:srgbClr val="555F6B"/>
                </a:solidFill>
              </a:rPr>
              <a:t>Chi tiết từng việc, từng phòng ban và nguồn số liệu: Phụ lục C và 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Từ số việc ra token và tải lúc cao điểm</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Hai con số quyết định chi phí: token mỗi tháng (tiền LLM) và lượt mỗi giây lúc cao điểm (số pod cần chạy)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1b</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11247120" cy="3657600"/>
        </p:xfrm>
        <a:graphic>
          <a:graphicData uri="http://schemas.openxmlformats.org/drawingml/2006/table">
            <a:tbl>
              <a:tblPr firstRow="1" bandRow="1">
                <a:tableStyleId>{5C22544A-7EE6-4342-B048-85BDC9FD1C3A}</a:tableStyleId>
              </a:tblPr>
              <a:tblGrid>
                <a:gridCol w="2743200"/>
                <a:gridCol w="4206240"/>
                <a:gridCol w="4297680"/>
              </a:tblGrid>
              <a:tr h="457200">
                <a:tc>
                  <a:txBody>
                    <a:bodyPr/>
                    <a:lstStyle/>
                    <a:p>
                      <a:r>
                        <a:rPr sz="1300" b="1">
                          <a:solidFill>
                            <a:srgbClr val="FFFFFF"/>
                          </a:solidFill>
                        </a:rPr>
                        <a:t>Chỉ số</a:t>
                      </a:r>
                    </a:p>
                  </a:txBody>
                  <a:tcPr marL="45720" marR="45720" marT="18288" marB="18288">
                    <a:solidFill>
                      <a:srgbClr val="2E6FB7"/>
                    </a:solidFill>
                  </a:tcPr>
                </a:tc>
                <a:tc>
                  <a:txBody>
                    <a:bodyPr/>
                    <a:lstStyle/>
                    <a:p>
                      <a:r>
                        <a:rPr sz="1300" b="1">
                          <a:solidFill>
                            <a:srgbClr val="FFFFFF"/>
                          </a:solidFill>
                        </a:rPr>
                        <a:t>Giá trị</a:t>
                      </a:r>
                    </a:p>
                  </a:txBody>
                  <a:tcPr marL="45720" marR="45720" marT="18288" marB="18288">
                    <a:solidFill>
                      <a:srgbClr val="2E6FB7"/>
                    </a:solidFill>
                  </a:tcPr>
                </a:tc>
                <a:tc>
                  <a:txBody>
                    <a:bodyPr/>
                    <a:lstStyle/>
                    <a:p>
                      <a:r>
                        <a:rPr sz="1300" b="1">
                          <a:solidFill>
                            <a:srgbClr val="FFFFFF"/>
                          </a:solidFill>
                        </a:rPr>
                        <a:t>Ảnh hưởng tới chi phí nào</a:t>
                      </a:r>
                    </a:p>
                  </a:txBody>
                  <a:tcPr marL="45720" marR="45720" marT="18288" marB="18288">
                    <a:solidFill>
                      <a:srgbClr val="2E6FB7"/>
                    </a:solidFill>
                  </a:tcPr>
                </a:tc>
              </a:tr>
              <a:tr h="457200">
                <a:tc>
                  <a:txBody>
                    <a:bodyPr/>
                    <a:lstStyle/>
                    <a:p>
                      <a:r>
                        <a:rPr sz="1300" b="0">
                          <a:solidFill>
                            <a:srgbClr val="555F6B"/>
                          </a:solidFill>
                        </a:rPr>
                        <a:t>Nhiệm vụ mỗi tháng</a:t>
                      </a:r>
                    </a:p>
                  </a:txBody>
                  <a:tcPr marL="45720" marR="45720" marT="18288" marB="18288">
                    <a:solidFill>
                      <a:srgbClr val="EEF3F8"/>
                    </a:solidFill>
                  </a:tcPr>
                </a:tc>
                <a:tc>
                  <a:txBody>
                    <a:bodyPr/>
                    <a:lstStyle/>
                    <a:p>
                      <a:r>
                        <a:rPr sz="1300" b="0">
                          <a:solidFill>
                            <a:srgbClr val="555F6B"/>
                          </a:solidFill>
                        </a:rPr>
                        <a:t>310.644 (14.120 × 22 ngày làm việc)</a:t>
                      </a:r>
                    </a:p>
                  </a:txBody>
                  <a:tcPr marL="45720" marR="45720" marT="18288" marB="18288">
                    <a:solidFill>
                      <a:srgbClr val="EEF3F8"/>
                    </a:solidFill>
                  </a:tcPr>
                </a:tc>
                <a:tc>
                  <a:txBody>
                    <a:bodyPr/>
                    <a:lstStyle/>
                    <a:p>
                      <a:r>
                        <a:rPr sz="1300" b="0">
                          <a:solidFill>
                            <a:srgbClr val="555F6B"/>
                          </a:solidFill>
                        </a:rPr>
                        <a:t>Mọi khoản tính theo lượt dùng</a:t>
                      </a:r>
                    </a:p>
                  </a:txBody>
                  <a:tcPr marL="45720" marR="45720" marT="18288" marB="18288">
                    <a:solidFill>
                      <a:srgbClr val="EEF3F8"/>
                    </a:solidFill>
                  </a:tcPr>
                </a:tc>
              </a:tr>
              <a:tr h="457200">
                <a:tc>
                  <a:txBody>
                    <a:bodyPr/>
                    <a:lstStyle/>
                    <a:p>
                      <a:r>
                        <a:rPr sz="1300" b="0">
                          <a:solidFill>
                            <a:srgbClr val="555F6B"/>
                          </a:solidFill>
                        </a:rPr>
                        <a:t>Lượt chat mỗi ngày</a:t>
                      </a:r>
                    </a:p>
                  </a:txBody>
                  <a:tcPr marL="45720" marR="45720" marT="18288" marB="18288">
                    <a:solidFill>
                      <a:srgbClr val="FFFFFF"/>
                    </a:solidFill>
                  </a:tcPr>
                </a:tc>
                <a:tc>
                  <a:txBody>
                    <a:bodyPr/>
                    <a:lstStyle/>
                    <a:p>
                      <a:r>
                        <a:rPr sz="1300" b="0">
                          <a:solidFill>
                            <a:srgbClr val="555F6B"/>
                          </a:solidFill>
                        </a:rPr>
                        <a:t>27.098 (mỗi nhiệm vụ khoảng 2 lượt)</a:t>
                      </a:r>
                    </a:p>
                  </a:txBody>
                  <a:tcPr marL="45720" marR="45720" marT="18288" marB="18288">
                    <a:solidFill>
                      <a:srgbClr val="FFFFFF"/>
                    </a:solidFill>
                  </a:tcPr>
                </a:tc>
                <a:tc>
                  <a:txBody>
                    <a:bodyPr/>
                    <a:lstStyle/>
                    <a:p>
                      <a:r>
                        <a:rPr sz="1300" b="0">
                          <a:solidFill>
                            <a:srgbClr val="555F6B"/>
                          </a:solidFill>
                        </a:rPr>
                        <a:t>Số lần gọi model</a:t>
                      </a:r>
                    </a:p>
                  </a:txBody>
                  <a:tcPr marL="45720" marR="45720" marT="18288" marB="18288">
                    <a:solidFill>
                      <a:srgbClr val="FFFFFF"/>
                    </a:solidFill>
                  </a:tcPr>
                </a:tc>
              </a:tr>
              <a:tr h="457200">
                <a:tc>
                  <a:txBody>
                    <a:bodyPr/>
                    <a:lstStyle/>
                    <a:p>
                      <a:r>
                        <a:rPr sz="1300" b="0">
                          <a:solidFill>
                            <a:srgbClr val="555F6B"/>
                          </a:solidFill>
                        </a:rPr>
                        <a:t>Lượt/giây lúc cao điểm</a:t>
                      </a:r>
                    </a:p>
                  </a:txBody>
                  <a:tcPr marL="45720" marR="45720" marT="18288" marB="18288">
                    <a:solidFill>
                      <a:srgbClr val="EEF3F8"/>
                    </a:solidFill>
                  </a:tcPr>
                </a:tc>
                <a:tc>
                  <a:txBody>
                    <a:bodyPr/>
                    <a:lstStyle/>
                    <a:p>
                      <a:r>
                        <a:rPr sz="1300" b="0">
                          <a:solidFill>
                            <a:srgbClr val="555F6B"/>
                          </a:solidFill>
                        </a:rPr>
                        <a:t>1,13 (giờ bận nhất = 15% lưu lượng cả ngày)</a:t>
                      </a:r>
                    </a:p>
                  </a:txBody>
                  <a:tcPr marL="45720" marR="45720" marT="18288" marB="18288">
                    <a:solidFill>
                      <a:srgbClr val="EEF3F8"/>
                    </a:solidFill>
                  </a:tcPr>
                </a:tc>
                <a:tc>
                  <a:txBody>
                    <a:bodyPr/>
                    <a:lstStyle/>
                    <a:p>
                      <a:r>
                        <a:rPr sz="1300" b="0">
                          <a:solidFill>
                            <a:srgbClr val="555F6B"/>
                          </a:solidFill>
                        </a:rPr>
                        <a:t>compute: số pod (284 USD/tháng)</a:t>
                      </a:r>
                    </a:p>
                  </a:txBody>
                  <a:tcPr marL="45720" marR="45720" marT="18288" marB="18288">
                    <a:solidFill>
                      <a:srgbClr val="EEF3F8"/>
                    </a:solidFill>
                  </a:tcPr>
                </a:tc>
              </a:tr>
              <a:tr h="457200">
                <a:tc>
                  <a:txBody>
                    <a:bodyPr/>
                    <a:lstStyle/>
                    <a:p>
                      <a:r>
                        <a:rPr sz="1300" b="0">
                          <a:solidFill>
                            <a:srgbClr val="555F6B"/>
                          </a:solidFill>
                        </a:rPr>
                        <a:t>Token mỗi tháng</a:t>
                      </a:r>
                    </a:p>
                  </a:txBody>
                  <a:tcPr marL="45720" marR="45720" marT="18288" marB="18288">
                    <a:solidFill>
                      <a:srgbClr val="FFFFFF"/>
                    </a:solidFill>
                  </a:tcPr>
                </a:tc>
                <a:tc>
                  <a:txBody>
                    <a:bodyPr/>
                    <a:lstStyle/>
                    <a:p>
                      <a:r>
                        <a:rPr sz="1300" b="0">
                          <a:solidFill>
                            <a:srgbClr val="555F6B"/>
                          </a:solidFill>
                        </a:rPr>
                        <a:t>12,19 tỉ vào + 0,79 tỉ ra; 61% token vào đọc từ cache</a:t>
                      </a:r>
                    </a:p>
                  </a:txBody>
                  <a:tcPr marL="45720" marR="45720" marT="18288" marB="18288">
                    <a:solidFill>
                      <a:srgbClr val="FFFFFF"/>
                    </a:solidFill>
                  </a:tcPr>
                </a:tc>
                <a:tc>
                  <a:txBody>
                    <a:bodyPr/>
                    <a:lstStyle/>
                    <a:p>
                      <a:r>
                        <a:rPr sz="1300" b="0">
                          <a:solidFill>
                            <a:srgbClr val="555F6B"/>
                          </a:solidFill>
                        </a:rPr>
                        <a:t>llm: 1.093 USD/tháng; token đọc từ cache rẻ hơn 10 lần</a:t>
                      </a:r>
                    </a:p>
                  </a:txBody>
                  <a:tcPr marL="45720" marR="45720" marT="18288" marB="18288">
                    <a:solidFill>
                      <a:srgbClr val="FFFFFF"/>
                    </a:solidFill>
                  </a:tcPr>
                </a:tc>
              </a:tr>
              <a:tr h="457200">
                <a:tc>
                  <a:txBody>
                    <a:bodyPr/>
                    <a:lstStyle/>
                    <a:p>
                      <a:r>
                        <a:rPr sz="1300" b="0">
                          <a:solidFill>
                            <a:srgbClr val="555F6B"/>
                          </a:solidFill>
                        </a:rPr>
                        <a:t>Lượt chạy code (sandbox)</a:t>
                      </a:r>
                    </a:p>
                  </a:txBody>
                  <a:tcPr marL="45720" marR="45720" marT="18288" marB="18288">
                    <a:solidFill>
                      <a:srgbClr val="EEF3F8"/>
                    </a:solidFill>
                  </a:tcPr>
                </a:tc>
                <a:tc>
                  <a:txBody>
                    <a:bodyPr/>
                    <a:lstStyle/>
                    <a:p>
                      <a:r>
                        <a:rPr sz="1300" b="0">
                          <a:solidFill>
                            <a:srgbClr val="555F6B"/>
                          </a:solidFill>
                        </a:rPr>
                        <a:t>140.800 lượt/tháng, tối đa 2 phút/lượt</a:t>
                      </a:r>
                    </a:p>
                  </a:txBody>
                  <a:tcPr marL="45720" marR="45720" marT="18288" marB="18288">
                    <a:solidFill>
                      <a:srgbClr val="EEF3F8"/>
                    </a:solidFill>
                  </a:tcPr>
                </a:tc>
                <a:tc>
                  <a:txBody>
                    <a:bodyPr/>
                    <a:lstStyle/>
                    <a:p>
                      <a:r>
                        <a:rPr sz="1300" b="0">
                          <a:solidFill>
                            <a:srgbClr val="555F6B"/>
                          </a:solidFill>
                        </a:rPr>
                        <a:t>sandbox: 315 USD/tháng</a:t>
                      </a:r>
                    </a:p>
                  </a:txBody>
                  <a:tcPr marL="45720" marR="45720" marT="18288" marB="18288">
                    <a:solidFill>
                      <a:srgbClr val="EEF3F8"/>
                    </a:solidFill>
                  </a:tcPr>
                </a:tc>
              </a:tr>
              <a:tr h="457200">
                <a:tc>
                  <a:txBody>
                    <a:bodyPr/>
                    <a:lstStyle/>
                    <a:p>
                      <a:r>
                        <a:rPr sz="1300" b="0">
                          <a:solidFill>
                            <a:srgbClr val="555F6B"/>
                          </a:solidFill>
                        </a:rPr>
                        <a:t>Ảnh sinh ra</a:t>
                      </a:r>
                    </a:p>
                  </a:txBody>
                  <a:tcPr marL="45720" marR="45720" marT="18288" marB="18288">
                    <a:solidFill>
                      <a:srgbClr val="FFFFFF"/>
                    </a:solidFill>
                  </a:tcPr>
                </a:tc>
                <a:tc>
                  <a:txBody>
                    <a:bodyPr/>
                    <a:lstStyle/>
                    <a:p>
                      <a:r>
                        <a:rPr sz="1300" b="0">
                          <a:solidFill>
                            <a:srgbClr val="555F6B"/>
                          </a:solidFill>
                        </a:rPr>
                        <a:t>4.312 ảnh/tháng (chỉ cấp 5)</a:t>
                      </a:r>
                    </a:p>
                  </a:txBody>
                  <a:tcPr marL="45720" marR="45720" marT="18288" marB="18288">
                    <a:solidFill>
                      <a:srgbClr val="FFFFFF"/>
                    </a:solidFill>
                  </a:tcPr>
                </a:tc>
                <a:tc>
                  <a:txBody>
                    <a:bodyPr/>
                    <a:lstStyle/>
                    <a:p>
                      <a:r>
                        <a:rPr sz="1300" b="0">
                          <a:solidFill>
                            <a:srgbClr val="555F6B"/>
                          </a:solidFill>
                        </a:rPr>
                        <a:t>Nằm trong llm: 147 USD/tháng</a:t>
                      </a:r>
                    </a:p>
                  </a:txBody>
                  <a:tcPr marL="45720" marR="45720" marT="18288" marB="18288">
                    <a:solidFill>
                      <a:srgbClr val="FFFFFF"/>
                    </a:solidFill>
                  </a:tcPr>
                </a:tc>
              </a:tr>
              <a:tr h="457200">
                <a:tc>
                  <a:txBody>
                    <a:bodyPr/>
                    <a:lstStyle/>
                    <a:p>
                      <a:r>
                        <a:rPr sz="1300" b="0">
                          <a:solidFill>
                            <a:srgbClr val="555F6B"/>
                          </a:solidFill>
                        </a:rPr>
                        <a:t>Dung lượng workspace</a:t>
                      </a:r>
                    </a:p>
                  </a:txBody>
                  <a:tcPr marL="45720" marR="45720" marT="18288" marB="18288">
                    <a:solidFill>
                      <a:srgbClr val="EEF3F8"/>
                    </a:solidFill>
                  </a:tcPr>
                </a:tc>
                <a:tc>
                  <a:txBody>
                    <a:bodyPr/>
                    <a:lstStyle/>
                    <a:p>
                      <a:r>
                        <a:rPr sz="1300" b="0">
                          <a:solidFill>
                            <a:srgbClr val="555F6B"/>
                          </a:solidFill>
                        </a:rPr>
                        <a:t>4 TB dùng thật (2.000 người × 2 GB)</a:t>
                      </a:r>
                    </a:p>
                  </a:txBody>
                  <a:tcPr marL="45720" marR="45720" marT="18288" marB="18288">
                    <a:solidFill>
                      <a:srgbClr val="EEF3F8"/>
                    </a:solidFill>
                  </a:tcPr>
                </a:tc>
                <a:tc>
                  <a:txBody>
                    <a:bodyPr/>
                    <a:lstStyle/>
                    <a:p>
                      <a:r>
                        <a:rPr sz="1300" b="0">
                          <a:solidFill>
                            <a:srgbClr val="555F6B"/>
                          </a:solidFill>
                        </a:rPr>
                        <a:t>object_storage: 83 USD/tháng</a:t>
                      </a:r>
                    </a:p>
                  </a:txBody>
                  <a:tcPr marL="45720" marR="45720" marT="18288" marB="18288">
                    <a:solidFill>
                      <a:srgbClr val="EEF3F8"/>
                    </a:solidFill>
                  </a:tcPr>
                </a:tc>
              </a:tr>
            </a:tbl>
          </a:graphicData>
        </a:graphic>
      </p:graphicFrame>
      <p:sp>
        <p:nvSpPr>
          <p:cNvPr id="8" name="TextBox 7"/>
          <p:cNvSpPr txBox="1"/>
          <p:nvPr/>
        </p:nvSpPr>
        <p:spPr>
          <a:xfrm>
            <a:off x="457200" y="5257800"/>
            <a:ext cx="11247120" cy="1005840"/>
          </a:xfrm>
          <a:prstGeom prst="rect">
            <a:avLst/>
          </a:prstGeom>
          <a:noFill/>
        </p:spPr>
        <p:txBody>
          <a:bodyPr wrap="square">
            <a:spAutoFit/>
          </a:bodyPr>
          <a:lstStyle/>
          <a:p>
            <a:pPr algn="l">
              <a:spcAft>
                <a:spcPts val="400"/>
              </a:spcAft>
            </a:pPr>
            <a:r>
              <a:rPr sz="1200" b="1">
                <a:solidFill>
                  <a:srgbClr val="555F6B"/>
                </a:solidFill>
              </a:rPr>
              <a:t>Cách đọc: số việc → số lượt chat → số token. Token nhân với giá model ra tiền LLM.</a:t>
            </a:r>
          </a:p>
          <a:p>
            <a:pPr algn="l">
              <a:spcAft>
                <a:spcPts val="400"/>
              </a:spcAft>
            </a:pPr>
            <a:r>
              <a:rPr sz="1200" b="0">
                <a:solidFill>
                  <a:srgbClr val="555F6B"/>
                </a:solidFill>
              </a:rPr>
              <a:t>Số token mỗi lượt theo từng cấp lấy từ benchmark công khai (Azure On your data, DA-Code, MCP-Universe, MCPMark); chi tiết ở Phụ lục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2. Kiến trúc: một region GCP, không có điểm lỗi đơn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GCP Singapore vì rẻ nhất trong 3 cloud (6.821 USD/tháng; AWS 8.643, Azure 14.484). Số tròn là bước ở slide 3; chữ xanh là mã dòng trong báo giá</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2</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sp>
        <p:nvSpPr>
          <p:cNvPr id="7" name="Rounded Rectangle 6"/>
          <p:cNvSpPr/>
          <p:nvPr/>
        </p:nvSpPr>
        <p:spPr>
          <a:xfrm>
            <a:off x="274320" y="1554480"/>
            <a:ext cx="1463040" cy="822960"/>
          </a:xfrm>
          <a:prstGeom prst="roundRect">
            <a:avLst/>
          </a:prstGeom>
          <a:solidFill>
            <a:srgbClr val="FFFFFF"/>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Nhân viên</a:t>
            </a:r>
          </a:p>
          <a:p>
            <a:pPr algn="ctr"/>
            <a:r>
              <a:rPr sz="900" b="1">
                <a:solidFill>
                  <a:srgbClr val="1A8F7A"/>
                </a:solidFill>
              </a:rPr>
              <a:t>trình duyệt</a:t>
            </a:r>
          </a:p>
        </p:txBody>
      </p:sp>
      <p:sp>
        <p:nvSpPr>
          <p:cNvPr id="8" name="Rounded Rectangle 7"/>
          <p:cNvSpPr/>
          <p:nvPr/>
        </p:nvSpPr>
        <p:spPr>
          <a:xfrm>
            <a:off x="201168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Tường lửa web + cân bằng tải</a:t>
            </a:r>
          </a:p>
          <a:p>
            <a:pPr algn="ctr"/>
            <a:r>
              <a:rPr sz="900" b="1">
                <a:solidFill>
                  <a:srgbClr val="1A8F7A"/>
                </a:solidFill>
              </a:rPr>
              <a:t>network · load_balancer</a:t>
            </a:r>
          </a:p>
        </p:txBody>
      </p:sp>
      <p:sp>
        <p:nvSpPr>
          <p:cNvPr id="9" name="Rounded Rectangle 8"/>
          <p:cNvSpPr/>
          <p:nvPr/>
        </p:nvSpPr>
        <p:spPr>
          <a:xfrm>
            <a:off x="411480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IAP + SSO tập đoàn (MFA)</a:t>
            </a:r>
          </a:p>
          <a:p>
            <a:pPr algn="ctr"/>
            <a:r>
              <a:rPr sz="900" b="1">
                <a:solidFill>
                  <a:srgbClr val="1A8F7A"/>
                </a:solidFill>
              </a:rPr>
              <a:t>authn</a:t>
            </a:r>
          </a:p>
        </p:txBody>
      </p:sp>
      <p:cxnSp>
        <p:nvCxnSpPr>
          <p:cNvPr id="10" name="Connector 9"/>
          <p:cNvCxnSpPr/>
          <p:nvPr/>
        </p:nvCxnSpPr>
        <p:spPr>
          <a:xfrm>
            <a:off x="173736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4048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17920" y="1280160"/>
            <a:ext cx="5669280" cy="2834640"/>
          </a:xfrm>
          <a:prstGeom prst="rect">
            <a:avLst/>
          </a:prstGeom>
          <a:noFill/>
          <a:ln>
            <a:solidFill>
              <a:srgbClr val="1A8F7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298448"/>
            <a:ext cx="5486400" cy="274320"/>
          </a:xfrm>
          <a:prstGeom prst="rect">
            <a:avLst/>
          </a:prstGeom>
          <a:noFill/>
        </p:spPr>
        <p:txBody>
          <a:bodyPr wrap="square">
            <a:spAutoFit/>
          </a:bodyPr>
          <a:lstStyle/>
          <a:p>
            <a:pPr algn="l">
              <a:spcAft>
                <a:spcPts val="400"/>
              </a:spcAft>
            </a:pPr>
            <a:r>
              <a:rPr sz="1000" b="0">
                <a:solidFill>
                  <a:srgbClr val="1A8F7A"/>
                </a:solidFill>
              </a:rPr>
              <a:t>Cụm GKE Autopilot chạy trên 2 zone (prod; staging dùng chung cụm)</a:t>
            </a:r>
          </a:p>
        </p:txBody>
      </p:sp>
      <p:sp>
        <p:nvSpPr>
          <p:cNvPr id="14" name="Rounded Rectangle 13"/>
          <p:cNvSpPr/>
          <p:nvPr/>
        </p:nvSpPr>
        <p:spPr>
          <a:xfrm>
            <a:off x="640080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Web/API (stream câu trả lời)</a:t>
            </a:r>
          </a:p>
          <a:p>
            <a:pPr algn="ctr"/>
            <a:r>
              <a:rPr sz="900" b="1">
                <a:solidFill>
                  <a:srgbClr val="1A8F7A"/>
                </a:solidFill>
              </a:rPr>
              <a:t>compute</a:t>
            </a:r>
          </a:p>
        </p:txBody>
      </p:sp>
      <p:sp>
        <p:nvSpPr>
          <p:cNvPr id="15" name="Rounded Rectangle 14"/>
          <p:cNvSpPr/>
          <p:nvPr/>
        </p:nvSpPr>
        <p:spPr>
          <a:xfrm>
            <a:off x="8229600" y="164592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LiteLLM gateway (quota USD)</a:t>
            </a:r>
          </a:p>
          <a:p>
            <a:pPr algn="ctr"/>
            <a:r>
              <a:rPr sz="900" b="1">
                <a:solidFill>
                  <a:srgbClr val="1A8F7A"/>
                </a:solidFill>
              </a:rPr>
              <a:t>gateway · authz</a:t>
            </a:r>
          </a:p>
        </p:txBody>
      </p:sp>
      <p:sp>
        <p:nvSpPr>
          <p:cNvPr id="16" name="Rounded Rectangle 15"/>
          <p:cNvSpPr/>
          <p:nvPr/>
        </p:nvSpPr>
        <p:spPr>
          <a:xfrm>
            <a:off x="1014984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Worker: connector, agent</a:t>
            </a:r>
          </a:p>
          <a:p>
            <a:pPr algn="ctr"/>
            <a:r>
              <a:rPr sz="900" b="1">
                <a:solidFill>
                  <a:srgbClr val="1A8F7A"/>
                </a:solidFill>
              </a:rPr>
              <a:t>connectors</a:t>
            </a:r>
          </a:p>
        </p:txBody>
      </p:sp>
      <p:sp>
        <p:nvSpPr>
          <p:cNvPr id="17" name="Rounded Rectangle 16"/>
          <p:cNvSpPr/>
          <p:nvPr/>
        </p:nvSpPr>
        <p:spPr>
          <a:xfrm>
            <a:off x="8229600" y="2834640"/>
            <a:ext cx="173736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Sandbox chạy code, không có mạng ra ngoài</a:t>
            </a:r>
          </a:p>
          <a:p>
            <a:pPr algn="ctr"/>
            <a:r>
              <a:rPr sz="900" b="1">
                <a:solidFill>
                  <a:srgbClr val="1A8F7A"/>
                </a:solidFill>
              </a:rPr>
              <a:t>sandbox</a:t>
            </a:r>
          </a:p>
        </p:txBody>
      </p:sp>
      <p:sp>
        <p:nvSpPr>
          <p:cNvPr id="18" name="Rounded Rectangle 17"/>
          <p:cNvSpPr/>
          <p:nvPr/>
        </p:nvSpPr>
        <p:spPr>
          <a:xfrm>
            <a:off x="1014984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NAT → 11 SaaS (OAuth của user)</a:t>
            </a:r>
          </a:p>
          <a:p>
            <a:pPr algn="ctr"/>
            <a:r>
              <a:rPr sz="900" b="1">
                <a:solidFill>
                  <a:srgbClr val="1A8F7A"/>
                </a:solidFill>
              </a:rPr>
              <a:t>network</a:t>
            </a:r>
          </a:p>
        </p:txBody>
      </p:sp>
      <p:sp>
        <p:nvSpPr>
          <p:cNvPr id="19" name="Rounded Rectangle 18"/>
          <p:cNvSpPr/>
          <p:nvPr/>
        </p:nvSpPr>
        <p:spPr>
          <a:xfrm>
            <a:off x="640080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Model Armor (guardrail, che PII)</a:t>
            </a:r>
          </a:p>
          <a:p>
            <a:pPr algn="ctr"/>
            <a:r>
              <a:rPr sz="900" b="1">
                <a:solidFill>
                  <a:srgbClr val="1A8F7A"/>
                </a:solidFill>
              </a:rPr>
              <a:t>governance</a:t>
            </a:r>
          </a:p>
        </p:txBody>
      </p:sp>
      <p:cxnSp>
        <p:nvCxnSpPr>
          <p:cNvPr id="20" name="Connector 19"/>
          <p:cNvCxnSpPr/>
          <p:nvPr/>
        </p:nvCxnSpPr>
        <p:spPr>
          <a:xfrm>
            <a:off x="5943600" y="1965960"/>
            <a:ext cx="457200" cy="13716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74320" y="3108960"/>
            <a:ext cx="192024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Vertex AI qua kết nối riêng: Haiku 5.5, embedding, ảnh</a:t>
            </a:r>
          </a:p>
          <a:p>
            <a:pPr algn="ctr"/>
            <a:r>
              <a:rPr sz="900" b="1">
                <a:solidFill>
                  <a:srgbClr val="1A8F7A"/>
                </a:solidFill>
              </a:rPr>
              <a:t>llm · embedding</a:t>
            </a:r>
          </a:p>
        </p:txBody>
      </p:sp>
      <p:sp>
        <p:nvSpPr>
          <p:cNvPr id="22" name="Rounded Rectangle 21"/>
          <p:cNvSpPr/>
          <p:nvPr/>
        </p:nvSpPr>
        <p:spPr>
          <a:xfrm>
            <a:off x="2377440" y="310896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Postgres HA + tìm kiếm vector</a:t>
            </a:r>
          </a:p>
          <a:p>
            <a:pPr algn="ctr"/>
            <a:r>
              <a:rPr sz="900" b="1">
                <a:solidFill>
                  <a:srgbClr val="1A8F7A"/>
                </a:solidFill>
              </a:rPr>
              <a:t>database · vector_db</a:t>
            </a:r>
          </a:p>
        </p:txBody>
      </p:sp>
      <p:sp>
        <p:nvSpPr>
          <p:cNvPr id="23" name="Rounded Rectangle 22"/>
          <p:cNvSpPr/>
          <p:nvPr/>
        </p:nvSpPr>
        <p:spPr>
          <a:xfrm>
            <a:off x="4389120" y="310896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Cache + hàng đợi việc nền</a:t>
            </a:r>
          </a:p>
          <a:p>
            <a:pPr algn="ctr"/>
            <a:r>
              <a:rPr sz="900" b="1">
                <a:solidFill>
                  <a:srgbClr val="1A8F7A"/>
                </a:solidFill>
              </a:rPr>
              <a:t>cache_queue</a:t>
            </a:r>
          </a:p>
        </p:txBody>
      </p:sp>
      <p:sp>
        <p:nvSpPr>
          <p:cNvPr id="24" name="Rounded Rectangle 23"/>
          <p:cNvSpPr/>
          <p:nvPr/>
        </p:nvSpPr>
        <p:spPr>
          <a:xfrm>
            <a:off x="274320" y="4480560"/>
            <a:ext cx="192024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Lưu file workspace (2 region)</a:t>
            </a:r>
          </a:p>
          <a:p>
            <a:pPr algn="ctr"/>
            <a:r>
              <a:rPr sz="900" b="1">
                <a:solidFill>
                  <a:srgbClr val="1A8F7A"/>
                </a:solidFill>
              </a:rPr>
              <a:t>object_storage</a:t>
            </a:r>
          </a:p>
        </p:txBody>
      </p:sp>
      <p:sp>
        <p:nvSpPr>
          <p:cNvPr id="25" name="Rounded Rectangle 24"/>
          <p:cNvSpPr/>
          <p:nvPr/>
        </p:nvSpPr>
        <p:spPr>
          <a:xfrm>
            <a:off x="237744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Khóa mã hóa, secret</a:t>
            </a:r>
          </a:p>
          <a:p>
            <a:pPr algn="ctr"/>
            <a:r>
              <a:rPr sz="900" b="1">
                <a:solidFill>
                  <a:srgbClr val="1A8F7A"/>
                </a:solidFill>
              </a:rPr>
              <a:t>secrets_kms</a:t>
            </a:r>
          </a:p>
        </p:txBody>
      </p:sp>
      <p:sp>
        <p:nvSpPr>
          <p:cNvPr id="26" name="Rounded Rectangle 25"/>
          <p:cNvSpPr/>
          <p:nvPr/>
        </p:nvSpPr>
        <p:spPr>
          <a:xfrm>
            <a:off x="438912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Log, metric, trace</a:t>
            </a:r>
          </a:p>
          <a:p>
            <a:pPr algn="ctr"/>
            <a:r>
              <a:rPr sz="900" b="1">
                <a:solidFill>
                  <a:srgbClr val="1A8F7A"/>
                </a:solidFill>
              </a:rPr>
              <a:t>monitoring</a:t>
            </a:r>
          </a:p>
        </p:txBody>
      </p:sp>
      <p:sp>
        <p:nvSpPr>
          <p:cNvPr id="27" name="Rounded Rectangle 26"/>
          <p:cNvSpPr/>
          <p:nvPr/>
        </p:nvSpPr>
        <p:spPr>
          <a:xfrm>
            <a:off x="621792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Backup + DR sang Jakarta</a:t>
            </a:r>
          </a:p>
          <a:p>
            <a:pPr algn="ctr"/>
            <a:r>
              <a:rPr sz="900" b="1">
                <a:solidFill>
                  <a:srgbClr val="1A8F7A"/>
                </a:solidFill>
              </a:rPr>
              <a:t>backup_dr</a:t>
            </a:r>
          </a:p>
        </p:txBody>
      </p:sp>
      <p:sp>
        <p:nvSpPr>
          <p:cNvPr id="28" name="Rounded Rectangle 27"/>
          <p:cNvSpPr/>
          <p:nvPr/>
        </p:nvSpPr>
        <p:spPr>
          <a:xfrm>
            <a:off x="8229600" y="448056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Build, deploy</a:t>
            </a:r>
          </a:p>
          <a:p>
            <a:pPr algn="ctr"/>
            <a:r>
              <a:rPr sz="900" b="1">
                <a:solidFill>
                  <a:srgbClr val="1A8F7A"/>
                </a:solidFill>
              </a:rPr>
              <a:t>cicd</a:t>
            </a:r>
          </a:p>
        </p:txBody>
      </p:sp>
      <p:sp>
        <p:nvSpPr>
          <p:cNvPr id="29" name="Rounded Rectangle 28"/>
          <p:cNvSpPr/>
          <p:nvPr/>
        </p:nvSpPr>
        <p:spPr>
          <a:xfrm>
            <a:off x="1014984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2 kỹ sư vận hành</a:t>
            </a:r>
          </a:p>
          <a:p>
            <a:pPr algn="ctr"/>
            <a:r>
              <a:rPr sz="900" b="1">
                <a:solidFill>
                  <a:srgbClr val="1A8F7A"/>
                </a:solidFill>
              </a:rPr>
              <a:t>ops_labor</a:t>
            </a:r>
          </a:p>
        </p:txBody>
      </p:sp>
      <p:sp>
        <p:nvSpPr>
          <p:cNvPr id="30" name="Oval 29"/>
          <p:cNvSpPr/>
          <p:nvPr/>
        </p:nvSpPr>
        <p:spPr>
          <a:xfrm>
            <a:off x="1883664" y="13350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1</a:t>
            </a:r>
          </a:p>
        </p:txBody>
      </p:sp>
      <p:sp>
        <p:nvSpPr>
          <p:cNvPr id="31" name="Oval 30"/>
          <p:cNvSpPr/>
          <p:nvPr/>
        </p:nvSpPr>
        <p:spPr>
          <a:xfrm>
            <a:off x="627278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2</a:t>
            </a:r>
          </a:p>
        </p:txBody>
      </p:sp>
      <p:sp>
        <p:nvSpPr>
          <p:cNvPr id="32" name="Oval 31"/>
          <p:cNvSpPr/>
          <p:nvPr/>
        </p:nvSpPr>
        <p:spPr>
          <a:xfrm>
            <a:off x="4261104" y="298094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3</a:t>
            </a:r>
          </a:p>
        </p:txBody>
      </p:sp>
      <p:sp>
        <p:nvSpPr>
          <p:cNvPr id="33" name="Oval 32"/>
          <p:cNvSpPr/>
          <p:nvPr/>
        </p:nvSpPr>
        <p:spPr>
          <a:xfrm>
            <a:off x="10021824"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4</a:t>
            </a:r>
          </a:p>
        </p:txBody>
      </p:sp>
      <p:sp>
        <p:nvSpPr>
          <p:cNvPr id="34" name="Oval 33"/>
          <p:cNvSpPr/>
          <p:nvPr/>
        </p:nvSpPr>
        <p:spPr>
          <a:xfrm>
            <a:off x="8101583"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5</a:t>
            </a:r>
          </a:p>
        </p:txBody>
      </p:sp>
      <p:sp>
        <p:nvSpPr>
          <p:cNvPr id="35" name="Oval 34"/>
          <p:cNvSpPr/>
          <p:nvPr/>
        </p:nvSpPr>
        <p:spPr>
          <a:xfrm>
            <a:off x="1002182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6</a:t>
            </a:r>
          </a:p>
        </p:txBody>
      </p:sp>
      <p:sp>
        <p:nvSpPr>
          <p:cNvPr id="36" name="TextBox 35"/>
          <p:cNvSpPr txBox="1"/>
          <p:nvPr/>
        </p:nvSpPr>
        <p:spPr>
          <a:xfrm>
            <a:off x="274320" y="5577840"/>
            <a:ext cx="11612880" cy="731520"/>
          </a:xfrm>
          <a:prstGeom prst="rect">
            <a:avLst/>
          </a:prstGeom>
          <a:noFill/>
        </p:spPr>
        <p:txBody>
          <a:bodyPr wrap="square">
            <a:spAutoFit/>
          </a:bodyPr>
          <a:lstStyle/>
          <a:p>
            <a:pPr algn="l">
              <a:spcAft>
                <a:spcPts val="400"/>
              </a:spcAft>
            </a:pPr>
            <a:r>
              <a:rPr sz="1100" b="0">
                <a:solidFill>
                  <a:srgbClr val="555F6B"/>
                </a:solidFill>
              </a:rPr>
              <a:t>Mỗi thành phần có bản thứ hai ở zone khác (slide 9). Dữ liệu lưu tại Singapore; Vertex AI cam kết không lưu và không dùng dữ liệu để huấn luyện.</a:t>
            </a:r>
          </a:p>
          <a:p>
            <a:pPr algn="l">
              <a:spcAft>
                <a:spcPts val="400"/>
              </a:spcAft>
            </a:pPr>
            <a:r>
              <a:rPr sz="1100" b="0">
                <a:solidFill>
                  <a:srgbClr val="555F6B"/>
                </a:solidFill>
              </a:rPr>
              <a:t>H1–H8 là 8 ràng buộc cứng của đề: H1 cloud · H2 phân quyền · H3 cô lập user · H4 AI governance · H5 data governance · H6 độ trễ · H7 HA, DR · H8 chất lượng, chi phí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3. Một request đi qua 3 cổng: SSO, guardrail, xác nhận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Ví dụ: "Tóm tắt thread email dự án X, rồi tạo 3 ticket Jira". Số bước khớp với số tròn trên sơ đồ slide 2</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3</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sp>
        <p:nvSpPr>
          <p:cNvPr id="7" name="TextBox 6"/>
          <p:cNvSpPr txBox="1"/>
          <p:nvPr/>
        </p:nvSpPr>
        <p:spPr>
          <a:xfrm>
            <a:off x="548640" y="1463040"/>
            <a:ext cx="11155680" cy="4846320"/>
          </a:xfrm>
          <a:prstGeom prst="rect">
            <a:avLst/>
          </a:prstGeom>
          <a:noFill/>
        </p:spPr>
        <p:txBody>
          <a:bodyPr wrap="square">
            <a:spAutoFit/>
          </a:bodyPr>
          <a:lstStyle/>
          <a:p>
            <a:pPr algn="l">
              <a:spcAft>
                <a:spcPts val="400"/>
              </a:spcAft>
            </a:pPr>
            <a:r>
              <a:rPr sz="1600" b="1">
                <a:solidFill>
                  <a:srgbClr val="555F6B"/>
                </a:solidFill>
              </a:rPr>
              <a:t>1. Đăng nhập</a:t>
            </a:r>
          </a:p>
          <a:p>
            <a:pPr algn="l">
              <a:spcAft>
                <a:spcPts val="400"/>
              </a:spcAft>
            </a:pPr>
            <a:r>
              <a:rPr sz="1600" b="0">
                <a:solidFill>
                  <a:srgbClr val="555F6B"/>
                </a:solidFill>
              </a:rPr>
              <a:t>Request đi qua tường lửa web. IAP kiểm tra đăng nhập SSO và MFA của tập đoàn.</a:t>
            </a:r>
          </a:p>
          <a:p>
            <a:pPr algn="l">
              <a:spcAft>
                <a:spcPts val="400"/>
              </a:spcAft>
            </a:pPr>
            <a:r>
              <a:rPr sz="1600" b="1">
                <a:solidFill>
                  <a:srgbClr val="555F6B"/>
                </a:solidFill>
              </a:rPr>
              <a:t>2. Kiểm tra đầu vào (cổng guardrail)</a:t>
            </a:r>
          </a:p>
          <a:p>
            <a:pPr algn="l">
              <a:spcAft>
                <a:spcPts val="400"/>
              </a:spcAft>
            </a:pPr>
            <a:r>
              <a:rPr sz="1600" b="0">
                <a:solidFill>
                  <a:srgbClr val="555F6B"/>
                </a:solidFill>
              </a:rPr>
              <a:t>Model Armor quét tin nhắn để chặn prompt injection và lộ dữ liệu cá nhân. Mọi bước đều ghi audit.</a:t>
            </a:r>
          </a:p>
          <a:p>
            <a:pPr algn="l">
              <a:spcAft>
                <a:spcPts val="400"/>
              </a:spcAft>
            </a:pPr>
            <a:r>
              <a:rPr sz="1600" b="1">
                <a:solidFill>
                  <a:srgbClr val="555F6B"/>
                </a:solidFill>
              </a:rPr>
              <a:t>3. Chạy nền</a:t>
            </a:r>
          </a:p>
          <a:p>
            <a:pPr algn="l">
              <a:spcAft>
                <a:spcPts val="400"/>
              </a:spcAft>
            </a:pPr>
            <a:r>
              <a:rPr sz="1600" b="0">
                <a:solidFill>
                  <a:srgbClr val="555F6B"/>
                </a:solidFill>
              </a:rPr>
              <a:t>Việc nhiều bước (cấp 4) vào hàng đợi. User nhận "đang chạy nền" ngay, dưới 3 giây (H6).</a:t>
            </a:r>
          </a:p>
          <a:p>
            <a:pPr algn="l">
              <a:spcAft>
                <a:spcPts val="400"/>
              </a:spcAft>
            </a:pPr>
            <a:r>
              <a:rPr sz="1600" b="1">
                <a:solidFill>
                  <a:srgbClr val="555F6B"/>
                </a:solidFill>
              </a:rPr>
              <a:t>4. Đọc email bằng quyền của chính user</a:t>
            </a:r>
          </a:p>
          <a:p>
            <a:pPr algn="l">
              <a:spcAft>
                <a:spcPts val="400"/>
              </a:spcAft>
            </a:pPr>
            <a:r>
              <a:rPr sz="1600" b="0">
                <a:solidFill>
                  <a:srgbClr val="555F6B"/>
                </a:solidFill>
              </a:rPr>
              <a:t>Worker dùng OAuth token của user để tìm email. Nội dung email được đánh dấu "không tin cậy", không phải chỉ dẫn.</a:t>
            </a:r>
          </a:p>
          <a:p>
            <a:pPr algn="l">
              <a:spcAft>
                <a:spcPts val="400"/>
              </a:spcAft>
            </a:pPr>
            <a:r>
              <a:rPr sz="1600" b="1">
                <a:solidFill>
                  <a:srgbClr val="555F6B"/>
                </a:solidFill>
              </a:rPr>
              <a:t>5. Gọi model</a:t>
            </a:r>
          </a:p>
          <a:p>
            <a:pPr algn="l">
              <a:spcAft>
                <a:spcPts val="400"/>
              </a:spcAft>
            </a:pPr>
            <a:r>
              <a:rPr sz="1600" b="0">
                <a:solidFill>
                  <a:srgbClr val="555F6B"/>
                </a:solidFill>
              </a:rPr>
              <a:t>LiteLLM kiểm tra quota USD của user, rồi gọi Claude Haiku 5.5 trên Vertex AI. Agent đề xuất 3 ticket.</a:t>
            </a:r>
          </a:p>
          <a:p>
            <a:pPr algn="l">
              <a:spcAft>
                <a:spcPts val="400"/>
              </a:spcAft>
            </a:pPr>
            <a:r>
              <a:rPr sz="1600" b="1">
                <a:solidFill>
                  <a:srgbClr val="555F6B"/>
                </a:solidFill>
              </a:rPr>
              <a:t>6. User xác nhận rồi mới ghi (cổng xác nhận)</a:t>
            </a:r>
          </a:p>
          <a:p>
            <a:pPr algn="l">
              <a:spcAft>
                <a:spcPts val="400"/>
              </a:spcAft>
            </a:pPr>
            <a:r>
              <a:rPr sz="1600" b="0">
                <a:solidFill>
                  <a:srgbClr val="555F6B"/>
                </a:solidFill>
              </a:rPr>
              <a:t>User duyệt 3 ticket trên một màn hình. Worker tạo ticket, ghi audit, báo "xong" (tối đa 10 phút, H6).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4. Haiku 5.5 cho cả 5 cấp: 947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Dùng API model trên Vertex AI, không tự host GPU. Chỉ nâng một cấp lên Sonnet 5.5 khi eval của cấp đó dưới 95%</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4</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11247120" cy="2048256"/>
        </p:xfrm>
        <a:graphic>
          <a:graphicData uri="http://schemas.openxmlformats.org/drawingml/2006/table">
            <a:tbl>
              <a:tblPr firstRow="1" bandRow="1">
                <a:tableStyleId>{5C22544A-7EE6-4342-B048-85BDC9FD1C3A}</a:tableStyleId>
              </a:tblPr>
              <a:tblGrid>
                <a:gridCol w="1645920"/>
                <a:gridCol w="2651760"/>
                <a:gridCol w="2103120"/>
                <a:gridCol w="1097280"/>
                <a:gridCol w="1371600"/>
                <a:gridCol w="2377440"/>
              </a:tblGrid>
              <a:tr h="292608">
                <a:tc>
                  <a:txBody>
                    <a:bodyPr/>
                    <a:lstStyle/>
                    <a:p>
                      <a:r>
                        <a:rPr sz="1200" b="1">
                          <a:solidFill>
                            <a:srgbClr val="FFFFFF"/>
                          </a:solidFill>
                        </a:rPr>
                        <a:t>Cấp</a:t>
                      </a:r>
                    </a:p>
                  </a:txBody>
                  <a:tcPr marL="45720" marR="45720" marT="18288" marB="18288">
                    <a:solidFill>
                      <a:srgbClr val="2E6FB7"/>
                    </a:solidFill>
                  </a:tcPr>
                </a:tc>
                <a:tc>
                  <a:txBody>
                    <a:bodyPr/>
                    <a:lstStyle/>
                    <a:p>
                      <a:r>
                        <a:rPr sz="1200" b="1">
                          <a:solidFill>
                            <a:srgbClr val="FFFFFF"/>
                          </a:solidFill>
                        </a:rPr>
                        <a:t>Model</a:t>
                      </a:r>
                    </a:p>
                  </a:txBody>
                  <a:tcPr marL="45720" marR="45720" marT="18288" marB="18288">
                    <a:solidFill>
                      <a:srgbClr val="2E6FB7"/>
                    </a:solidFill>
                  </a:tcPr>
                </a:tc>
                <a:tc>
                  <a:txBody>
                    <a:bodyPr/>
                    <a:lstStyle/>
                    <a:p>
                      <a:r>
                        <a:rPr sz="1200" b="1">
                          <a:solidFill>
                            <a:srgbClr val="FFFFFF"/>
                          </a:solidFill>
                        </a:rPr>
                        <a:t>Chế độ</a:t>
                      </a:r>
                    </a:p>
                  </a:txBody>
                  <a:tcPr marL="45720" marR="45720" marT="18288" marB="18288">
                    <a:solidFill>
                      <a:srgbClr val="2E6FB7"/>
                    </a:solidFill>
                  </a:tcPr>
                </a:tc>
                <a:tc>
                  <a:txBody>
                    <a:bodyPr/>
                    <a:lstStyle/>
                    <a:p>
                      <a:r>
                        <a:rPr sz="1200" b="1">
                          <a:solidFill>
                            <a:srgbClr val="FFFFFF"/>
                          </a:solidFill>
                        </a:rPr>
                        <a:t>Lượt/ngày</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Nếu eval &lt; 95%: nâng lên</a:t>
                      </a:r>
                    </a:p>
                  </a:txBody>
                  <a:tcPr marL="45720" marR="45720" marT="18288" marB="18288">
                    <a:solidFill>
                      <a:srgbClr val="2E6FB7"/>
                    </a:solidFill>
                  </a:tcPr>
                </a:tc>
              </a:tr>
              <a:tr h="292608">
                <a:tc>
                  <a:txBody>
                    <a:bodyPr/>
                    <a:lstStyle/>
                    <a:p>
                      <a:r>
                        <a:rPr sz="1200" b="0">
                          <a:solidFill>
                            <a:srgbClr val="555F6B"/>
                          </a:solidFill>
                        </a:rPr>
                        <a:t>1 Email, hỏi đáp</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tắt reasoning (cần nhanh)</a:t>
                      </a:r>
                    </a:p>
                  </a:txBody>
                  <a:tcPr marL="45720" marR="45720" marT="18288" marB="18288">
                    <a:solidFill>
                      <a:srgbClr val="EEF3F8"/>
                    </a:solidFill>
                  </a:tcPr>
                </a:tc>
                <a:tc>
                  <a:txBody>
                    <a:bodyPr/>
                    <a:lstStyle/>
                    <a:p>
                      <a:r>
                        <a:rPr sz="1200" b="0">
                          <a:solidFill>
                            <a:srgbClr val="555F6B"/>
                          </a:solidFill>
                        </a:rPr>
                        <a:t>20.507</a:t>
                      </a:r>
                    </a:p>
                  </a:txBody>
                  <a:tcPr marL="45720" marR="45720" marT="18288" marB="18288">
                    <a:solidFill>
                      <a:srgbClr val="EEF3F8"/>
                    </a:solidFill>
                  </a:tcPr>
                </a:tc>
                <a:tc>
                  <a:txBody>
                    <a:bodyPr/>
                    <a:lstStyle/>
                    <a:p>
                      <a:r>
                        <a:rPr sz="1200" b="0">
                          <a:solidFill>
                            <a:srgbClr val="555F6B"/>
                          </a:solidFill>
                        </a:rPr>
                        <a:t>386</a:t>
                      </a:r>
                    </a:p>
                  </a:txBody>
                  <a:tcPr marL="45720" marR="45720" marT="18288" marB="18288">
                    <a:solidFill>
                      <a:srgbClr val="EEF3F8"/>
                    </a:solidFill>
                  </a:tcPr>
                </a:tc>
                <a:tc>
                  <a:txBody>
                    <a:bodyPr/>
                    <a:lstStyle/>
                    <a:p>
                      <a:r>
                        <a:rPr sz="1200" b="0">
                          <a:solidFill>
                            <a:srgbClr val="555F6B"/>
                          </a:solidFill>
                        </a:rPr>
                        <a:t>Sonnet 5.5</a:t>
                      </a:r>
                    </a:p>
                  </a:txBody>
                  <a:tcPr marL="45720" marR="45720" marT="18288" marB="18288">
                    <a:solidFill>
                      <a:srgbClr val="EEF3F8"/>
                    </a:solidFill>
                  </a:tcPr>
                </a:tc>
              </a:tr>
              <a:tr h="292608">
                <a:tc>
                  <a:txBody>
                    <a:bodyPr/>
                    <a:lstStyle/>
                    <a:p>
                      <a:r>
                        <a:rPr sz="1200" b="0">
                          <a:solidFill>
                            <a:srgbClr val="555F6B"/>
                          </a:solidFill>
                        </a:rPr>
                        <a:t>2 Tài liệu</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tắt reasoning (cần nhanh)</a:t>
                      </a:r>
                    </a:p>
                  </a:txBody>
                  <a:tcPr marL="45720" marR="45720" marT="18288" marB="18288">
                    <a:solidFill>
                      <a:srgbClr val="FFFFFF"/>
                    </a:solidFill>
                  </a:tcPr>
                </a:tc>
                <a:tc>
                  <a:txBody>
                    <a:bodyPr/>
                    <a:lstStyle/>
                    <a:p>
                      <a:r>
                        <a:rPr sz="1200" b="0">
                          <a:solidFill>
                            <a:srgbClr val="555F6B"/>
                          </a:solidFill>
                        </a:rPr>
                        <a:t>3.153</a:t>
                      </a:r>
                    </a:p>
                  </a:txBody>
                  <a:tcPr marL="45720" marR="45720" marT="18288" marB="18288">
                    <a:solidFill>
                      <a:srgbClr val="FFFFFF"/>
                    </a:solidFill>
                  </a:tcPr>
                </a:tc>
                <a:tc>
                  <a:txBody>
                    <a:bodyPr/>
                    <a:lstStyle/>
                    <a:p>
                      <a:r>
                        <a:rPr sz="1200" b="0">
                          <a:solidFill>
                            <a:srgbClr val="555F6B"/>
                          </a:solidFill>
                        </a:rPr>
                        <a:t>288</a:t>
                      </a:r>
                    </a:p>
                  </a:txBody>
                  <a:tcPr marL="45720" marR="45720" marT="18288" marB="18288">
                    <a:solidFill>
                      <a:srgbClr val="FFFFFF"/>
                    </a:solidFill>
                  </a:tcPr>
                </a:tc>
                <a:tc>
                  <a:txBody>
                    <a:bodyPr/>
                    <a:lstStyle/>
                    <a:p>
                      <a:r>
                        <a:rPr sz="1200" b="0">
                          <a:solidFill>
                            <a:srgbClr val="555F6B"/>
                          </a:solidFill>
                        </a:rPr>
                        <a:t>Sonnet 5.5</a:t>
                      </a:r>
                    </a:p>
                  </a:txBody>
                  <a:tcPr marL="45720" marR="45720" marT="18288" marB="18288">
                    <a:solidFill>
                      <a:srgbClr val="FFFFFF"/>
                    </a:solidFill>
                  </a:tcPr>
                </a:tc>
              </a:tr>
              <a:tr h="292608">
                <a:tc>
                  <a:txBody>
                    <a:bodyPr/>
                    <a:lstStyle/>
                    <a:p>
                      <a:r>
                        <a:rPr sz="1200" b="0">
                          <a:solidFill>
                            <a:srgbClr val="555F6B"/>
                          </a:solidFill>
                        </a:rPr>
                        <a:t>3 Dữ liệu, code</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reasoning thấp</a:t>
                      </a:r>
                    </a:p>
                  </a:txBody>
                  <a:tcPr marL="45720" marR="45720" marT="18288" marB="18288">
                    <a:solidFill>
                      <a:srgbClr val="EEF3F8"/>
                    </a:solidFill>
                  </a:tcPr>
                </a:tc>
                <a:tc>
                  <a:txBody>
                    <a:bodyPr/>
                    <a:lstStyle/>
                    <a:p>
                      <a:r>
                        <a:rPr sz="1200" b="0">
                          <a:solidFill>
                            <a:srgbClr val="555F6B"/>
                          </a:solidFill>
                        </a:rPr>
                        <a:t>2.099</a:t>
                      </a:r>
                    </a:p>
                  </a:txBody>
                  <a:tcPr marL="45720" marR="45720" marT="18288" marB="18288">
                    <a:solidFill>
                      <a:srgbClr val="EEF3F8"/>
                    </a:solidFill>
                  </a:tcPr>
                </a:tc>
                <a:tc>
                  <a:txBody>
                    <a:bodyPr/>
                    <a:lstStyle/>
                    <a:p>
                      <a:r>
                        <a:rPr sz="1200" b="0">
                          <a:solidFill>
                            <a:srgbClr val="555F6B"/>
                          </a:solidFill>
                        </a:rPr>
                        <a:t>161</a:t>
                      </a:r>
                    </a:p>
                  </a:txBody>
                  <a:tcPr marL="45720" marR="45720" marT="18288" marB="18288">
                    <a:solidFill>
                      <a:srgbClr val="EEF3F8"/>
                    </a:solidFill>
                  </a:tcPr>
                </a:tc>
                <a:tc>
                  <a:txBody>
                    <a:bodyPr/>
                    <a:lstStyle/>
                    <a:p>
                      <a:r>
                        <a:rPr sz="1200" b="0">
                          <a:solidFill>
                            <a:srgbClr val="555F6B"/>
                          </a:solidFill>
                        </a:rPr>
                        <a:t>Sonnet 5.5: +2.939 USD</a:t>
                      </a:r>
                    </a:p>
                  </a:txBody>
                  <a:tcPr marL="45720" marR="45720" marT="18288" marB="18288">
                    <a:solidFill>
                      <a:srgbClr val="EEF3F8"/>
                    </a:solidFill>
                  </a:tcPr>
                </a:tc>
              </a:tr>
              <a:tr h="292608">
                <a:tc>
                  <a:txBody>
                    <a:bodyPr/>
                    <a:lstStyle/>
                    <a:p>
                      <a:r>
                        <a:rPr sz="1200" b="0">
                          <a:solidFill>
                            <a:srgbClr val="555F6B"/>
                          </a:solidFill>
                        </a:rPr>
                        <a:t>4 Agent dự án</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reasoning thấp, chạy nền</a:t>
                      </a:r>
                    </a:p>
                  </a:txBody>
                  <a:tcPr marL="45720" marR="45720" marT="18288" marB="18288">
                    <a:solidFill>
                      <a:srgbClr val="FFFFFF"/>
                    </a:solidFill>
                  </a:tcPr>
                </a:tc>
                <a:tc>
                  <a:txBody>
                    <a:bodyPr/>
                    <a:lstStyle/>
                    <a:p>
                      <a:r>
                        <a:rPr sz="1200" b="0">
                          <a:solidFill>
                            <a:srgbClr val="555F6B"/>
                          </a:solidFill>
                        </a:rPr>
                        <a:t>1.042</a:t>
                      </a:r>
                    </a:p>
                  </a:txBody>
                  <a:tcPr marL="45720" marR="45720" marT="18288" marB="18288">
                    <a:solidFill>
                      <a:srgbClr val="FFFFFF"/>
                    </a:solidFill>
                  </a:tcPr>
                </a:tc>
                <a:tc>
                  <a:txBody>
                    <a:bodyPr/>
                    <a:lstStyle/>
                    <a:p>
                      <a:r>
                        <a:rPr sz="1200" b="0">
                          <a:solidFill>
                            <a:srgbClr val="555F6B"/>
                          </a:solidFill>
                        </a:rPr>
                        <a:t>105</a:t>
                      </a:r>
                    </a:p>
                  </a:txBody>
                  <a:tcPr marL="45720" marR="45720" marT="18288" marB="18288">
                    <a:solidFill>
                      <a:srgbClr val="FFFFFF"/>
                    </a:solidFill>
                  </a:tcPr>
                </a:tc>
                <a:tc>
                  <a:txBody>
                    <a:bodyPr/>
                    <a:lstStyle/>
                    <a:p>
                      <a:r>
                        <a:rPr sz="1200" b="0">
                          <a:solidFill>
                            <a:srgbClr val="555F6B"/>
                          </a:solidFill>
                        </a:rPr>
                        <a:t>Sonnet 5.5: +1.766 USD</a:t>
                      </a:r>
                    </a:p>
                  </a:txBody>
                  <a:tcPr marL="45720" marR="45720" marT="18288" marB="18288">
                    <a:solidFill>
                      <a:srgbClr val="FFFFFF"/>
                    </a:solidFill>
                  </a:tcPr>
                </a:tc>
              </a:tr>
              <a:tr h="292608">
                <a:tc>
                  <a:txBody>
                    <a:bodyPr/>
                    <a:lstStyle/>
                    <a:p>
                      <a:r>
                        <a:rPr sz="1200" b="0">
                          <a:solidFill>
                            <a:srgbClr val="555F6B"/>
                          </a:solidFill>
                        </a:rPr>
                        <a:t>5 Thiết kế</a:t>
                      </a:r>
                    </a:p>
                  </a:txBody>
                  <a:tcPr marL="45720" marR="45720" marT="18288" marB="18288">
                    <a:solidFill>
                      <a:srgbClr val="EEF3F8"/>
                    </a:solidFill>
                  </a:tcPr>
                </a:tc>
                <a:tc>
                  <a:txBody>
                    <a:bodyPr/>
                    <a:lstStyle/>
                    <a:p>
                      <a:r>
                        <a:rPr sz="1200" b="0">
                          <a:solidFill>
                            <a:srgbClr val="555F6B"/>
                          </a:solidFill>
                        </a:rPr>
                        <a:t>Haiku 5.5 + Gemini 3.1 Flash-Lite Image</a:t>
                      </a:r>
                    </a:p>
                  </a:txBody>
                  <a:tcPr marL="45720" marR="45720" marT="18288" marB="18288">
                    <a:solidFill>
                      <a:srgbClr val="EEF3F8"/>
                    </a:solidFill>
                  </a:tcPr>
                </a:tc>
                <a:tc>
                  <a:txBody>
                    <a:bodyPr/>
                    <a:lstStyle/>
                    <a:p>
                      <a:r>
                        <a:rPr sz="1200" b="0">
                          <a:solidFill>
                            <a:srgbClr val="555F6B"/>
                          </a:solidFill>
                        </a:rPr>
                        <a:t>1 ảnh/lượt</a:t>
                      </a:r>
                    </a:p>
                  </a:txBody>
                  <a:tcPr marL="45720" marR="45720" marT="18288" marB="18288">
                    <a:solidFill>
                      <a:srgbClr val="EEF3F8"/>
                    </a:solidFill>
                  </a:tcPr>
                </a:tc>
                <a:tc>
                  <a:txBody>
                    <a:bodyPr/>
                    <a:lstStyle/>
                    <a:p>
                      <a:r>
                        <a:rPr sz="1200" b="0">
                          <a:solidFill>
                            <a:srgbClr val="555F6B"/>
                          </a:solidFill>
                        </a:rPr>
                        <a:t>297</a:t>
                      </a:r>
                    </a:p>
                  </a:txBody>
                  <a:tcPr marL="45720" marR="45720" marT="18288" marB="18288">
                    <a:solidFill>
                      <a:srgbClr val="EEF3F8"/>
                    </a:solidFill>
                  </a:tcPr>
                </a:tc>
                <a:tc>
                  <a:txBody>
                    <a:bodyPr/>
                    <a:lstStyle/>
                    <a:p>
                      <a:r>
                        <a:rPr sz="1200" b="0">
                          <a:solidFill>
                            <a:srgbClr val="555F6B"/>
                          </a:solidFill>
                        </a:rPr>
                        <a:t>7 + 147 ảnh</a:t>
                      </a:r>
                    </a:p>
                  </a:txBody>
                  <a:tcPr marL="45720" marR="45720" marT="18288" marB="18288">
                    <a:solidFill>
                      <a:srgbClr val="EEF3F8"/>
                    </a:solidFill>
                  </a:tcPr>
                </a:tc>
                <a:tc>
                  <a:txBody>
                    <a:bodyPr/>
                    <a:lstStyle/>
                    <a:p>
                      <a:r>
                        <a:rPr sz="1200" b="0">
                          <a:solidFill>
                            <a:srgbClr val="555F6B"/>
                          </a:solidFill>
                        </a:rPr>
                        <a:t>—</a:t>
                      </a:r>
                    </a:p>
                  </a:txBody>
                  <a:tcPr marL="45720" marR="45720" marT="18288" marB="18288">
                    <a:solidFill>
                      <a:srgbClr val="EEF3F8"/>
                    </a:solidFill>
                  </a:tcPr>
                </a:tc>
              </a:tr>
              <a:tr h="292608">
                <a:tc>
                  <a:txBody>
                    <a:bodyPr/>
                    <a:lstStyle/>
                    <a:p>
                      <a:r>
                        <a:rPr sz="1200" b="0">
                          <a:solidFill>
                            <a:srgbClr val="555F6B"/>
                          </a:solidFill>
                        </a:rPr>
                        <a:t>Embedding</a:t>
                      </a:r>
                    </a:p>
                  </a:txBody>
                  <a:tcPr marL="45720" marR="45720" marT="18288" marB="18288">
                    <a:solidFill>
                      <a:srgbClr val="FFFFFF"/>
                    </a:solidFill>
                  </a:tcPr>
                </a:tc>
                <a:tc>
                  <a:txBody>
                    <a:bodyPr/>
                    <a:lstStyle/>
                    <a:p>
                      <a:r>
                        <a:rPr sz="1200" b="0">
                          <a:solidFill>
                            <a:srgbClr val="555F6B"/>
                          </a:solidFill>
                        </a:rPr>
                        <a:t>gemini-embedding-001</a:t>
                      </a:r>
                    </a:p>
                  </a:txBody>
                  <a:tcPr marL="45720" marR="45720" marT="18288" marB="18288">
                    <a:solidFill>
                      <a:srgbClr val="FFFFFF"/>
                    </a:solidFill>
                  </a:tcPr>
                </a:tc>
                <a:tc>
                  <a:txBody>
                    <a:bodyPr/>
                    <a:lstStyle/>
                    <a:p>
                      <a:r>
                        <a:rPr sz="1200" b="0">
                          <a:solidFill>
                            <a:srgbClr val="555F6B"/>
                          </a:solidFill>
                        </a:rPr>
                        <a:t>tìm kiếm tài liệu</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c>
                  <a:txBody>
                    <a:bodyPr/>
                    <a:lstStyle/>
                    <a:p>
                      <a:r>
                        <a:rPr sz="1200" b="0">
                          <a:solidFill>
                            <a:srgbClr val="555F6B"/>
                          </a:solidFill>
                        </a:rPr>
                        <a:t>20</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3840480"/>
            <a:ext cx="5486400" cy="2103120"/>
          </a:xfrm>
          <a:prstGeom prst="rect">
            <a:avLst/>
          </a:prstGeom>
          <a:noFill/>
        </p:spPr>
        <p:txBody>
          <a:bodyPr wrap="square">
            <a:spAutoFit/>
          </a:bodyPr>
          <a:lstStyle/>
          <a:p>
            <a:pPr algn="l">
              <a:spcAft>
                <a:spcPts val="400"/>
              </a:spcAft>
            </a:pPr>
            <a:r>
              <a:rPr sz="1200" b="1">
                <a:solidFill>
                  <a:srgbClr val="555F6B"/>
                </a:solidFill>
              </a:rPr>
              <a:t>Cách giữ chất lượng (eval gate, H8)</a:t>
            </a:r>
          </a:p>
          <a:p>
            <a:pPr algn="l">
              <a:spcAft>
                <a:spcPts val="400"/>
              </a:spcAft>
            </a:pPr>
            <a:r>
              <a:rPr sz="1200" b="0">
                <a:solidFill>
                  <a:srgbClr val="555F6B"/>
                </a:solidFill>
              </a:rPr>
              <a:t>Bộ kiểm tra: 100 nhiệm vụ thật cho mỗi cấp, đã che dữ liệu cá nhân</a:t>
            </a:r>
          </a:p>
          <a:p>
            <a:pPr algn="l">
              <a:spcAft>
                <a:spcPts val="400"/>
              </a:spcAft>
            </a:pPr>
            <a:r>
              <a:rPr sz="1200" b="0">
                <a:solidFill>
                  <a:srgbClr val="555F6B"/>
                </a:solidFill>
              </a:rPr>
              <a:t>Claude Opus 5.5 làm bài mẫu và chấm điểm; người chấm lại 10%</a:t>
            </a:r>
          </a:p>
          <a:p>
            <a:pPr algn="l">
              <a:spcAft>
                <a:spcPts val="400"/>
              </a:spcAft>
            </a:pPr>
            <a:r>
              <a:rPr sz="1200" b="0">
                <a:solidFill>
                  <a:srgbClr val="555F6B"/>
                </a:solidFill>
              </a:rPr>
              <a:t>Đạt khi điểm Haiku ≥ 95% điểm Opus. Chạy lại mỗi lần đổi model hoặc prompt (525 USD/tháng)</a:t>
            </a:r>
          </a:p>
        </p:txBody>
      </p:sp>
      <p:sp>
        <p:nvSpPr>
          <p:cNvPr id="9" name="TextBox 8"/>
          <p:cNvSpPr txBox="1"/>
          <p:nvPr/>
        </p:nvSpPr>
        <p:spPr>
          <a:xfrm>
            <a:off x="6217920" y="3840480"/>
            <a:ext cx="5486400" cy="2103120"/>
          </a:xfrm>
          <a:prstGeom prst="rect">
            <a:avLst/>
          </a:prstGeom>
          <a:noFill/>
        </p:spPr>
        <p:txBody>
          <a:bodyPr wrap="square">
            <a:spAutoFit/>
          </a:bodyPr>
          <a:lstStyle/>
          <a:p>
            <a:pPr algn="l">
              <a:spcAft>
                <a:spcPts val="400"/>
              </a:spcAft>
            </a:pPr>
            <a:r>
              <a:rPr sz="1200" b="1">
                <a:solidFill>
                  <a:srgbClr val="555F6B"/>
                </a:solidFill>
              </a:rPr>
              <a:t>Vì sao Haiku 5.5</a:t>
            </a:r>
          </a:p>
          <a:p>
            <a:pPr algn="l">
              <a:spcAft>
                <a:spcPts val="400"/>
              </a:spcAft>
            </a:pPr>
            <a:r>
              <a:rPr sz="1200" b="0">
                <a:solidFill>
                  <a:srgbClr val="555F6B"/>
                </a:solidFill>
              </a:rPr>
              <a:t>Rẻ: 0,10 USD/1M token vào, 0,50 USD/1M token ra; token đọc từ cache chỉ 0,01</a:t>
            </a:r>
          </a:p>
          <a:p>
            <a:pPr algn="l">
              <a:spcAft>
                <a:spcPts val="400"/>
              </a:spcAft>
            </a:pPr>
            <a:r>
              <a:rPr sz="1200" b="0">
                <a:solidFill>
                  <a:srgbClr val="555F6B"/>
                </a:solidFill>
              </a:rPr>
              <a:t>Điểm chất lượng cao nhất trong nhóm model cùng tầm giá (Artificial Analysis)</a:t>
            </a:r>
          </a:p>
          <a:p>
            <a:pPr algn="l">
              <a:spcAft>
                <a:spcPts val="400"/>
              </a:spcAft>
            </a:pPr>
            <a:r>
              <a:rPr sz="1200" b="0">
                <a:solidFill>
                  <a:srgbClr val="555F6B"/>
                </a:solidFill>
              </a:rPr>
              <a:t>Dùng Opus cho mọi cấp sẽ tốn 36.380 USD/tháng, gấp 38 lần</a:t>
            </a:r>
          </a:p>
          <a:p>
            <a:pPr algn="l">
              <a:spcAft>
                <a:spcPts val="400"/>
              </a:spcAft>
            </a:pPr>
            <a:r>
              <a:rPr sz="1200" b="0">
                <a:solidFill>
                  <a:srgbClr val="555F6B"/>
                </a:solidFill>
              </a:rPr>
              <a:t>Rủi ro: chưa có số đo độ trễ khi tắt reasoning → đo trong pilot</a:t>
            </a:r>
          </a:p>
        </p:txBody>
      </p:sp>
      <p:sp>
        <p:nvSpPr>
          <p:cNvPr id="10" name="TextBox 9"/>
          <p:cNvSpPr txBox="1"/>
          <p:nvPr/>
        </p:nvSpPr>
        <p:spPr>
          <a:xfrm>
            <a:off x="457200" y="5943600"/>
            <a:ext cx="11247120" cy="365760"/>
          </a:xfrm>
          <a:prstGeom prst="rect">
            <a:avLst/>
          </a:prstGeom>
          <a:noFill/>
        </p:spPr>
        <p:txBody>
          <a:bodyPr wrap="square">
            <a:spAutoFit/>
          </a:bodyPr>
          <a:lstStyle/>
          <a:p>
            <a:pPr algn="l">
              <a:spcAft>
                <a:spcPts val="400"/>
              </a:spcAft>
            </a:pPr>
            <a:r>
              <a:rPr sz="1100" b="0">
                <a:solidFill>
                  <a:srgbClr val="555F6B"/>
                </a:solidFill>
              </a:rPr>
              <a:t>947 USD là tiền text. Cộng 147 USD tiền ảnh ≈ dòng llm 1.093 USD ở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Mỗi lựa chọn đều rẻ hơn phương án thay thế</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Chọn phương án rẻ nhất mà vẫn đạt đủ ràng buộc H1–H8. Đơn vị: USD/tháng. Cách tính từng con số: slide 5b</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11247120" cy="4023360"/>
        </p:xfrm>
        <a:graphic>
          <a:graphicData uri="http://schemas.openxmlformats.org/drawingml/2006/table">
            <a:tbl>
              <a:tblPr firstRow="1" bandRow="1">
                <a:tableStyleId>{5C22544A-7EE6-4342-B048-85BDC9FD1C3A}</a:tableStyleId>
              </a:tblPr>
              <a:tblGrid>
                <a:gridCol w="1554480"/>
                <a:gridCol w="2834640"/>
                <a:gridCol w="3017520"/>
                <a:gridCol w="3840480"/>
              </a:tblGrid>
              <a:tr h="502920">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Chọn</a:t>
                      </a:r>
                    </a:p>
                  </a:txBody>
                  <a:tcPr marL="45720" marR="45720" marT="18288" marB="18288">
                    <a:solidFill>
                      <a:srgbClr val="2E6FB7"/>
                    </a:solidFill>
                  </a:tcPr>
                </a:tc>
                <a:tc>
                  <a:txBody>
                    <a:bodyPr/>
                    <a:lstStyle/>
                    <a:p>
                      <a:r>
                        <a:rPr sz="1200" b="1">
                          <a:solidFill>
                            <a:srgbClr val="FFFFFF"/>
                          </a:solidFill>
                        </a:rPr>
                        <a:t>Phương án so sánh</a:t>
                      </a:r>
                    </a:p>
                  </a:txBody>
                  <a:tcPr marL="45720" marR="45720" marT="18288" marB="18288">
                    <a:solidFill>
                      <a:srgbClr val="2E6FB7"/>
                    </a:solidFill>
                  </a:tcPr>
                </a:tc>
                <a:tc>
                  <a:txBody>
                    <a:bodyPr/>
                    <a:lstStyle/>
                    <a:p>
                      <a:r>
                        <a:rPr sz="1200" b="1">
                          <a:solidFill>
                            <a:srgbClr val="FFFFFF"/>
                          </a:solidFill>
                        </a:rPr>
                        <a:t>Lý do</a:t>
                      </a:r>
                    </a:p>
                  </a:txBody>
                  <a:tcPr marL="45720" marR="45720" marT="18288" marB="18288">
                    <a:solidFill>
                      <a:srgbClr val="2E6FB7"/>
                    </a:solidFill>
                  </a:tcPr>
                </a:tc>
              </a:tr>
              <a:tr h="502920">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6.821 (tổng)</a:t>
                      </a:r>
                    </a:p>
                  </a:txBody>
                  <a:tcPr marL="45720" marR="45720" marT="18288" marB="18288">
                    <a:solidFill>
                      <a:srgbClr val="EEF3F8"/>
                    </a:solidFill>
                  </a:tcPr>
                </a:tc>
                <a:tc>
                  <a:txBody>
                    <a:bodyPr/>
                    <a:lstStyle/>
                    <a:p>
                      <a:r>
                        <a:rPr sz="1200" b="0">
                          <a:solidFill>
                            <a:srgbClr val="555F6B"/>
                          </a:solidFill>
                        </a:rPr>
                        <a:t>AWS 8.643 · Azure 14.484</a:t>
                      </a:r>
                    </a:p>
                  </a:txBody>
                  <a:tcPr marL="45720" marR="45720" marT="18288" marB="18288">
                    <a:solidFill>
                      <a:srgbClr val="EEF3F8"/>
                    </a:solidFill>
                  </a:tcPr>
                </a:tc>
                <a:tc>
                  <a:txBody>
                    <a:bodyPr/>
                    <a:lstStyle/>
                    <a:p>
                      <a:r>
                        <a:rPr sz="1200" b="0">
                          <a:solidFill>
                            <a:srgbClr val="555F6B"/>
                          </a:solidFill>
                        </a:rPr>
                        <a:t>Rẻ nhất; chênh lệch chủ yếu ở guardrail</a:t>
                      </a:r>
                    </a:p>
                  </a:txBody>
                  <a:tcPr marL="45720" marR="45720" marT="18288" marB="18288">
                    <a:solidFill>
                      <a:srgbClr val="EEF3F8"/>
                    </a:solidFill>
                  </a:tcPr>
                </a:tc>
              </a:tr>
              <a:tr h="502920">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tự chạy: 0 tiền license</a:t>
                      </a:r>
                    </a:p>
                  </a:txBody>
                  <a:tcPr marL="45720" marR="45720" marT="18288" marB="18288">
                    <a:solidFill>
                      <a:srgbClr val="FFFFFF"/>
                    </a:solidFill>
                  </a:tcPr>
                </a:tc>
                <a:tc>
                  <a:txBody>
                    <a:bodyPr/>
                    <a:lstStyle/>
                    <a:p>
                      <a:r>
                        <a:rPr sz="1200" b="0">
                          <a:solidFill>
                            <a:srgbClr val="555F6B"/>
                          </a:solidFill>
                        </a:rPr>
                        <a:t>Apigee ~1.595 · Azure APIM ~700</a:t>
                      </a:r>
                    </a:p>
                  </a:txBody>
                  <a:tcPr marL="45720" marR="45720" marT="18288" marB="18288">
                    <a:solidFill>
                      <a:srgbClr val="FFFFFF"/>
                    </a:solidFill>
                  </a:tcPr>
                </a:tc>
                <a:tc>
                  <a:txBody>
                    <a:bodyPr/>
                    <a:lstStyle/>
                    <a:p>
                      <a:r>
                        <a:rPr sz="1200" b="0">
                          <a:solidFill>
                            <a:srgbClr val="555F6B"/>
                          </a:solidFill>
                        </a:rPr>
                        <a:t>Duy nhất có quota USD theo từng user và phòng ban (H8)</a:t>
                      </a:r>
                    </a:p>
                  </a:txBody>
                  <a:tcPr marL="45720" marR="45720" marT="18288" marB="18288">
                    <a:solidFill>
                      <a:srgbClr val="FFFFFF"/>
                    </a:solidFill>
                  </a:tcPr>
                </a:tc>
              </a:tr>
              <a:tr h="502920">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trong Postgres: 0 thêm</a:t>
                      </a:r>
                    </a:p>
                  </a:txBody>
                  <a:tcPr marL="45720" marR="45720" marT="18288" marB="18288">
                    <a:solidFill>
                      <a:srgbClr val="EEF3F8"/>
                    </a:solidFill>
                  </a:tcPr>
                </a:tc>
                <a:tc>
                  <a:txBody>
                    <a:bodyPr/>
                    <a:lstStyle/>
                    <a:p>
                      <a:r>
                        <a:rPr sz="1200" b="0">
                          <a:solidFill>
                            <a:srgbClr val="555F6B"/>
                          </a:solidFill>
                        </a:rPr>
                        <a:t>Vertex Vector Search ~84 · OpenSearch ~413</a:t>
                      </a:r>
                    </a:p>
                  </a:txBody>
                  <a:tcPr marL="45720" marR="45720" marT="18288" marB="18288">
                    <a:solidFill>
                      <a:srgbClr val="EEF3F8"/>
                    </a:solidFill>
                  </a:tcPr>
                </a:tc>
                <a:tc>
                  <a:txBody>
                    <a:bodyPr/>
                    <a:lstStyle/>
                    <a:p>
                      <a:r>
                        <a:rPr sz="1200" b="0">
                          <a:solidFill>
                            <a:srgbClr val="555F6B"/>
                          </a:solidFill>
                        </a:rPr>
                        <a:t>Dữ liệu nhỏ; lọc quyền bằng SQL ngay trong database</a:t>
                      </a:r>
                    </a:p>
                  </a:txBody>
                  <a:tcPr marL="45720" marR="45720" marT="18288" marB="18288">
                    <a:solidFill>
                      <a:srgbClr val="EEF3F8"/>
                    </a:solidFill>
                  </a:tcPr>
                </a:tc>
              </a:tr>
              <a:tr h="502920">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Mã hóa bằng KMS, lưu trong Postgres: ~4</a:t>
                      </a:r>
                    </a:p>
                  </a:txBody>
                  <a:tcPr marL="45720" marR="45720" marT="18288" marB="18288">
                    <a:solidFill>
                      <a:srgbClr val="FFFFFF"/>
                    </a:solidFill>
                  </a:tcPr>
                </a:tc>
                <a:tc>
                  <a:txBody>
                    <a:bodyPr/>
                    <a:lstStyle/>
                    <a:p>
                      <a:r>
                        <a:rPr sz="1200" b="0">
                          <a:solidFill>
                            <a:srgbClr val="555F6B"/>
                          </a:solidFill>
                        </a:rPr>
                        <a:t>Secret Manager (12.000 secret) ~720</a:t>
                      </a:r>
                    </a:p>
                  </a:txBody>
                  <a:tcPr marL="45720" marR="45720" marT="18288" marB="18288">
                    <a:solidFill>
                      <a:srgbClr val="FFFFFF"/>
                    </a:solidFill>
                  </a:tcPr>
                </a:tc>
                <a:tc>
                  <a:txBody>
                    <a:bodyPr/>
                    <a:lstStyle/>
                    <a:p>
                      <a:r>
                        <a:rPr sz="1200" b="0">
                          <a:solidFill>
                            <a:srgbClr val="555F6B"/>
                          </a:solidFill>
                        </a:rPr>
                        <a:t>Vẫn mã hóa và có audit, rẻ hơn 180 lần</a:t>
                      </a:r>
                    </a:p>
                  </a:txBody>
                  <a:tcPr marL="45720" marR="45720" marT="18288" marB="18288">
                    <a:solidFill>
                      <a:srgbClr val="FFFFFF"/>
                    </a:solidFill>
                  </a:tcPr>
                </a:tc>
              </a:tr>
              <a:tr h="502920">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GKE Sandbox (gVisor): 315</a:t>
                      </a:r>
                    </a:p>
                  </a:txBody>
                  <a:tcPr marL="45720" marR="45720" marT="18288" marB="18288">
                    <a:solidFill>
                      <a:srgbClr val="EEF3F8"/>
                    </a:solidFill>
                  </a:tcPr>
                </a:tc>
                <a:tc>
                  <a:txBody>
                    <a:bodyPr/>
                    <a:lstStyle/>
                    <a:p>
                      <a:r>
                        <a:rPr sz="1200" b="0">
                          <a:solidFill>
                            <a:srgbClr val="555F6B"/>
                          </a:solidFill>
                        </a:rPr>
                        <a:t>Agent Engine 483 · AgentCore 509</a:t>
                      </a:r>
                    </a:p>
                  </a:txBody>
                  <a:tcPr marL="45720" marR="45720" marT="18288" marB="18288">
                    <a:solidFill>
                      <a:srgbClr val="EEF3F8"/>
                    </a:solidFill>
                  </a:tcPr>
                </a:tc>
                <a:tc>
                  <a:txBody>
                    <a:bodyPr/>
                    <a:lstStyle/>
                    <a:p>
                      <a:r>
                        <a:rPr sz="1200" b="0">
                          <a:solidFill>
                            <a:srgbClr val="555F6B"/>
                          </a:solidFill>
                        </a:rPr>
                        <a:t>Có sẵn trên cụm GKE; chặn mạng ra ngoài bằng NetworkPolicy</a:t>
                      </a:r>
                    </a:p>
                  </a:txBody>
                  <a:tcPr marL="45720" marR="45720" marT="18288" marB="18288">
                    <a:solidFill>
                      <a:srgbClr val="EEF3F8"/>
                    </a:solidFill>
                  </a:tcPr>
                </a:tc>
              </a:tr>
              <a:tr h="502920">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a:t>
                      </a:r>
                    </a:p>
                  </a:txBody>
                  <a:tcPr marL="45720" marR="45720" marT="18288" marB="18288">
                    <a:solidFill>
                      <a:srgbClr val="FFFFFF"/>
                    </a:solidFill>
                  </a:tcPr>
                </a:tc>
                <a:tc>
                  <a:txBody>
                    <a:bodyPr/>
                    <a:lstStyle/>
                    <a:p>
                      <a:r>
                        <a:rPr sz="1200" b="0">
                          <a:solidFill>
                            <a:srgbClr val="555F6B"/>
                          </a:solidFill>
                        </a:rPr>
                        <a:t>Quét toàn bộ token: 1.298</a:t>
                      </a:r>
                    </a:p>
                  </a:txBody>
                  <a:tcPr marL="45720" marR="45720" marT="18288" marB="18288">
                    <a:solidFill>
                      <a:srgbClr val="FFFFFF"/>
                    </a:solidFill>
                  </a:tcPr>
                </a:tc>
                <a:tc>
                  <a:txBody>
                    <a:bodyPr/>
                    <a:lstStyle/>
                    <a:p>
                      <a:r>
                        <a:rPr sz="1200" b="0">
                          <a:solidFill>
                            <a:srgbClr val="555F6B"/>
                          </a:solidFill>
                        </a:rPr>
                        <a:t>Mỗi đoạn text chỉ quét một lần, khi vào hệ thống</a:t>
                      </a:r>
                    </a:p>
                  </a:txBody>
                  <a:tcPr marL="45720" marR="45720" marT="18288" marB="18288">
                    <a:solidFill>
                      <a:srgbClr val="FFFFFF"/>
                    </a:solidFill>
                  </a:tcPr>
                </a:tc>
              </a:tr>
              <a:tr h="502920">
                <a:tc>
                  <a:txBody>
                    <a:bodyPr/>
                    <a:lstStyle/>
                    <a:p>
                      <a:r>
                        <a:rPr sz="1200" b="0">
                          <a:solidFill>
                            <a:srgbClr val="555F6B"/>
                          </a:solidFill>
                        </a:rPr>
                        <a:t>Connector</a:t>
                      </a:r>
                    </a:p>
                  </a:txBody>
                  <a:tcPr marL="45720" marR="45720" marT="18288" marB="18288">
                    <a:solidFill>
                      <a:srgbClr val="EEF3F8"/>
                    </a:solidFill>
                  </a:tcPr>
                </a:tc>
                <a:tc>
                  <a:txBody>
                    <a:bodyPr/>
                    <a:lstStyle/>
                    <a:p>
                      <a:r>
                        <a:rPr sz="1200" b="0">
                          <a:solidFill>
                            <a:srgbClr val="555F6B"/>
                          </a:solidFill>
                        </a:rPr>
                        <a:t>Gọi API bằng OAuth của user</a:t>
                      </a:r>
                    </a:p>
                  </a:txBody>
                  <a:tcPr marL="45720" marR="45720" marT="18288" marB="18288">
                    <a:solidFill>
                      <a:srgbClr val="EEF3F8"/>
                    </a:solidFill>
                  </a:tcPr>
                </a:tc>
                <a:tc>
                  <a:txBody>
                    <a:bodyPr/>
                    <a:lstStyle/>
                    <a:p>
                      <a:r>
                        <a:rPr sz="1200" b="0">
                          <a:solidFill>
                            <a:srgbClr val="555F6B"/>
                          </a:solidFill>
                        </a:rPr>
                        <a:t>Crawl toàn bộ dữ liệu vào index</a:t>
                      </a:r>
                    </a:p>
                  </a:txBody>
                  <a:tcPr marL="45720" marR="45720" marT="18288" marB="18288">
                    <a:solidFill>
                      <a:srgbClr val="EEF3F8"/>
                    </a:solidFill>
                  </a:tcPr>
                </a:tc>
                <a:tc>
                  <a:txBody>
                    <a:bodyPr/>
                    <a:lstStyle/>
                    <a:p>
                      <a:r>
                        <a:rPr sz="1200" b="0">
                          <a:solidFill>
                            <a:srgbClr val="555F6B"/>
                          </a:solidFill>
                        </a:rPr>
                        <a:t>SaaS tự áp quyền gốc; không cần tài khoản quyền rộng</a:t>
                      </a:r>
                    </a:p>
                  </a:txBody>
                  <a:tcPr marL="45720" marR="45720" marT="18288" marB="18288">
                    <a:solidFill>
                      <a:srgbClr val="EEF3F8"/>
                    </a:solidFill>
                  </a:tcPr>
                </a:tc>
              </a:tr>
            </a:tbl>
          </a:graphicData>
        </a:graphic>
      </p:graphicFrame>
      <p:sp>
        <p:nvSpPr>
          <p:cNvPr id="8" name="TextBox 7"/>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Lựa chọn model: slide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Cách tính: đơn giá niêm yết × khối lượng tải</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con số ở slide 5a = đơn giá của dịch vụ × khối lượng ước lượng ở slide 1b. Đơn vị: USD/tháng; 1 tháng = 730 giờ</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5b</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11247120" cy="3968496"/>
        </p:xfrm>
        <a:graphic>
          <a:graphicData uri="http://schemas.openxmlformats.org/drawingml/2006/table">
            <a:tbl>
              <a:tblPr firstRow="1" bandRow="1">
                <a:tableStyleId>{5C22544A-7EE6-4342-B048-85BDC9FD1C3A}</a:tableStyleId>
              </a:tblPr>
              <a:tblGrid>
                <a:gridCol w="1554480"/>
                <a:gridCol w="4480560"/>
                <a:gridCol w="5212080"/>
              </a:tblGrid>
              <a:tr h="566928">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Phương án chọn: cách tính</a:t>
                      </a:r>
                    </a:p>
                  </a:txBody>
                  <a:tcPr marL="45720" marR="45720" marT="18288" marB="18288">
                    <a:solidFill>
                      <a:srgbClr val="2E6FB7"/>
                    </a:solidFill>
                  </a:tcPr>
                </a:tc>
                <a:tc>
                  <a:txBody>
                    <a:bodyPr/>
                    <a:lstStyle/>
                    <a:p>
                      <a:r>
                        <a:rPr sz="1200" b="1">
                          <a:solidFill>
                            <a:srgbClr val="FFFFFF"/>
                          </a:solidFill>
                        </a:rPr>
                        <a:t>Phương án so sánh: cách tính</a:t>
                      </a:r>
                    </a:p>
                  </a:txBody>
                  <a:tcPr marL="45720" marR="45720" marT="18288" marB="18288">
                    <a:solidFill>
                      <a:srgbClr val="2E6FB7"/>
                    </a:solidFill>
                  </a:tcPr>
                </a:tc>
              </a:tr>
              <a:tr h="566928">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6.821 = tổng 20 dòng của báo giá (Phụ lục A)</a:t>
                      </a:r>
                    </a:p>
                  </a:txBody>
                  <a:tcPr marL="45720" marR="45720" marT="18288" marB="18288">
                    <a:solidFill>
                      <a:srgbClr val="EEF3F8"/>
                    </a:solidFill>
                  </a:tcPr>
                </a:tc>
                <a:tc>
                  <a:txBody>
                    <a:bodyPr/>
                    <a:lstStyle/>
                    <a:p>
                      <a:r>
                        <a:rPr sz="1200" b="0">
                          <a:solidFill>
                            <a:srgbClr val="555F6B"/>
                          </a:solidFill>
                        </a:rPr>
                        <a:t>AWS 8.643, Azure 14.484: cùng khối lượng, tính theo giá của AWS, Azure. Nếu bỏ dòng governance, 3 cloud chênh nhau dưới 8%. Chênh lệch nằm ở guardrail + che PII: GCP 281, AWS ~1.910, Azure ~7.534</a:t>
                      </a:r>
                    </a:p>
                  </a:txBody>
                  <a:tcPr marL="45720" marR="45720" marT="18288" marB="18288">
                    <a:solidFill>
                      <a:srgbClr val="EEF3F8"/>
                    </a:solidFill>
                  </a:tcPr>
                </a:tc>
              </a:tr>
              <a:tr h="566928">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là phần mềm miễn phí. 2 pod chạy trong cụm GKE, tiền máy đã nằm trong dòng compute</a:t>
                      </a:r>
                    </a:p>
                  </a:txBody>
                  <a:tcPr marL="45720" marR="45720" marT="18288" marB="18288">
                    <a:solidFill>
                      <a:srgbClr val="FFFFFF"/>
                    </a:solidFill>
                  </a:tcPr>
                </a:tc>
                <a:tc>
                  <a:txBody>
                    <a:bodyPr/>
                    <a:lstStyle/>
                    <a:p>
                      <a:r>
                        <a:rPr sz="1200" b="0">
                          <a:solidFill>
                            <a:srgbClr val="555F6B"/>
                          </a:solidFill>
                        </a:rPr>
                        <a:t>Apigee: môi trường Intermediate 1.460 + phí theo lượt gọi model (100 USD/1 triệu lượt) ≈ 1.595. Azure APIM Standard v2: 0,96 USD/giờ × 730 giờ ≈ 700</a:t>
                      </a:r>
                    </a:p>
                  </a:txBody>
                  <a:tcPr marL="45720" marR="45720" marT="18288" marB="18288">
                    <a:solidFill>
                      <a:srgbClr val="FFFFFF"/>
                    </a:solidFill>
                  </a:tcPr>
                </a:tc>
              </a:tr>
              <a:tr h="566928">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là extension của Postgres, chạy trong database đã có (467 USD), chỉ tốn thêm ít dung lượng</a:t>
                      </a:r>
                    </a:p>
                  </a:txBody>
                  <a:tcPr marL="45720" marR="45720" marT="18288" marB="18288">
                    <a:solidFill>
                      <a:srgbClr val="EEF3F8"/>
                    </a:solidFill>
                  </a:tcPr>
                </a:tc>
                <a:tc>
                  <a:txBody>
                    <a:bodyPr/>
                    <a:lstStyle/>
                    <a:p>
                      <a:r>
                        <a:rPr sz="1200" b="0">
                          <a:solidFill>
                            <a:srgbClr val="555F6B"/>
                          </a:solidFill>
                        </a:rPr>
                        <a:t>Vertex Vector Search: tối thiểu 1 máy e2-standard-2 chạy 24/7 ≈ 84. OpenSearch: tối thiểu 2 OCU × 0,283 USD/giờ × 730 giờ ≈ 413</a:t>
                      </a:r>
                    </a:p>
                  </a:txBody>
                  <a:tcPr marL="45720" marR="45720" marT="18288" marB="18288">
                    <a:solidFill>
                      <a:srgbClr val="EEF3F8"/>
                    </a:solidFill>
                  </a:tcPr>
                </a:tc>
              </a:tr>
              <a:tr h="566928">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3 khóa KMS × 0,06 + 760.000 lần mã hóa/giải mã × 0,03 USD/10.000 lần + 20 secret hệ thống ≈ 4</a:t>
                      </a:r>
                    </a:p>
                  </a:txBody>
                  <a:tcPr marL="45720" marR="45720" marT="18288" marB="18288">
                    <a:solidFill>
                      <a:srgbClr val="FFFFFF"/>
                    </a:solidFill>
                  </a:tcPr>
                </a:tc>
                <a:tc>
                  <a:txBody>
                    <a:bodyPr/>
                    <a:lstStyle/>
                    <a:p>
                      <a:r>
                        <a:rPr sz="1200" b="0">
                          <a:solidFill>
                            <a:srgbClr val="555F6B"/>
                          </a:solidFill>
                        </a:rPr>
                        <a:t>Mỗi token một secret: 2.000 user × 6 connector = 12.000 secret × 0,06 USD ≈ 720</a:t>
                      </a:r>
                    </a:p>
                  </a:txBody>
                  <a:tcPr marL="45720" marR="45720" marT="18288" marB="18288">
                    <a:solidFill>
                      <a:srgbClr val="FFFFFF"/>
                    </a:solidFill>
                  </a:tcPr>
                </a:tc>
              </a:tr>
              <a:tr h="566928">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140.800 lượt × 2 phút = 4.693 vCPU-giờ × 0,0549 + 9.386 GB-giờ × 0,0061 ≈ 315</a:t>
                      </a:r>
                    </a:p>
                  </a:txBody>
                  <a:tcPr marL="45720" marR="45720" marT="18288" marB="18288">
                    <a:solidFill>
                      <a:srgbClr val="EEF3F8"/>
                    </a:solidFill>
                  </a:tcPr>
                </a:tc>
                <a:tc>
                  <a:txBody>
                    <a:bodyPr/>
                    <a:lstStyle/>
                    <a:p>
                      <a:r>
                        <a:rPr sz="1200" b="0">
                          <a:solidFill>
                            <a:srgbClr val="555F6B"/>
                          </a:solidFill>
                        </a:rPr>
                        <a:t>Cùng số giờ, theo giá Agent Engine (0,085 USD/vCPU-giờ) ≈ 483; AgentCore (0,0895 USD/vCPU-giờ) ≈ 509</a:t>
                      </a:r>
                    </a:p>
                  </a:txBody>
                  <a:tcPr marL="45720" marR="45720" marT="18288" marB="18288">
                    <a:solidFill>
                      <a:srgbClr val="EEF3F8"/>
                    </a:solidFill>
                  </a:tcPr>
                </a:tc>
              </a:tr>
              <a:tr h="566928">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 tỉ token/tháng × 0,10 USD/1 triệu token ≈ 281</a:t>
                      </a:r>
                    </a:p>
                  </a:txBody>
                  <a:tcPr marL="45720" marR="45720" marT="18288" marB="18288">
                    <a:solidFill>
                      <a:srgbClr val="FFFFFF"/>
                    </a:solidFill>
                  </a:tcPr>
                </a:tc>
                <a:tc>
                  <a:txBody>
                    <a:bodyPr/>
                    <a:lstStyle/>
                    <a:p>
                      <a:r>
                        <a:rPr sz="1200" b="0">
                          <a:solidFill>
                            <a:srgbClr val="555F6B"/>
                          </a:solidFill>
                        </a:rPr>
                        <a:t>Quét toàn bộ token: (12,19 + 0,79) tỉ token × 0,10 USD/1 triệu token ≈ 1.298</a:t>
                      </a:r>
                    </a:p>
                  </a:txBody>
                  <a:tcPr marL="45720" marR="45720" marT="18288" marB="18288">
                    <a:solidFill>
                      <a:srgbClr val="FFFFFF"/>
                    </a:solidFill>
                  </a:tcPr>
                </a:tc>
              </a:tr>
            </a:tbl>
          </a:graphicData>
        </a:graphic>
      </p:graphicFrame>
      <p:sp>
        <p:nvSpPr>
          <p:cNvPr id="8" name="TextBox 7"/>
          <p:cNvSpPr txBox="1"/>
          <p:nvPr/>
        </p:nvSpPr>
        <p:spPr>
          <a:xfrm>
            <a:off x="457200" y="5623560"/>
            <a:ext cx="11247120" cy="73152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chưa VAT. Sandbox tính theo trần 2 phút/lượt nên là cận trên.</a:t>
            </a:r>
          </a:p>
          <a:p>
            <a:pPr algn="l">
              <a:spcAft>
                <a:spcPts val="400"/>
              </a:spcAft>
            </a:pPr>
            <a:r>
              <a:rPr sz="1100" b="0">
                <a:solidFill>
                  <a:srgbClr val="555F6B"/>
                </a:solidFill>
              </a:rPr>
              <a:t>Đơn giá và khối lượng của từng dòng: cột Ghi chú và Bằng chứng trong G03_baogia.xlsx.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6. Agent chỉ thấy những gì user được thấy (H2)</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dùng 11 connector (Google, Microsoft, Atlassian, Notion) bằng quyền OAuth của chính user</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6</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sp>
        <p:nvSpPr>
          <p:cNvPr id="7" name="TextBox 6"/>
          <p:cNvSpPr txBox="1"/>
          <p:nvPr/>
        </p:nvSpPr>
        <p:spPr>
          <a:xfrm>
            <a:off x="457200" y="1463040"/>
            <a:ext cx="5577840" cy="4389120"/>
          </a:xfrm>
          <a:prstGeom prst="rect">
            <a:avLst/>
          </a:prstGeom>
          <a:noFill/>
        </p:spPr>
        <p:txBody>
          <a:bodyPr wrap="square">
            <a:spAutoFit/>
          </a:bodyPr>
          <a:lstStyle/>
          <a:p>
            <a:pPr algn="l">
              <a:spcAft>
                <a:spcPts val="400"/>
              </a:spcAft>
            </a:pPr>
            <a:r>
              <a:rPr sz="1500" b="1">
                <a:solidFill>
                  <a:srgbClr val="555F6B"/>
                </a:solidFill>
              </a:rPr>
              <a:t>Đăng nhập</a:t>
            </a:r>
          </a:p>
          <a:p>
            <a:pPr algn="l">
              <a:spcAft>
                <a:spcPts val="400"/>
              </a:spcAft>
            </a:pPr>
            <a:r>
              <a:rPr sz="1500" b="0">
                <a:solidFill>
                  <a:srgbClr val="555F6B"/>
                </a:solidFill>
              </a:rPr>
              <a:t>SSO bằng tài khoản tập đoàn có sẵn, bắt buộc MFA</a:t>
            </a:r>
          </a:p>
          <a:p>
            <a:pPr algn="l">
              <a:spcAft>
                <a:spcPts val="400"/>
              </a:spcAft>
            </a:pPr>
            <a:r>
              <a:rPr sz="1500" b="0">
                <a:solidFill>
                  <a:srgbClr val="555F6B"/>
                </a:solidFill>
              </a:rPr>
              <a:t>Phân quyền chức năng theo nhóm (ví dụ: chỉ IT dùng sandbox hạng lớn)</a:t>
            </a:r>
          </a:p>
          <a:p>
            <a:pPr algn="l">
              <a:spcAft>
                <a:spcPts val="400"/>
              </a:spcAft>
            </a:pPr>
            <a:r>
              <a:rPr sz="1500" b="1">
                <a:solidFill>
                  <a:srgbClr val="555F6B"/>
                </a:solidFill>
              </a:rPr>
              <a:t>Agent mượn quyền của user (OAuth)</a:t>
            </a:r>
          </a:p>
          <a:p>
            <a:pPr algn="l">
              <a:spcAft>
                <a:spcPts val="400"/>
              </a:spcAft>
            </a:pPr>
            <a:r>
              <a:rPr sz="1500" b="0">
                <a:solidFill>
                  <a:srgbClr val="555F6B"/>
                </a:solidFill>
              </a:rPr>
              <a:t>Mỗi user tự cho phép từng SaaS; mặc định chỉ quyền đọc</a:t>
            </a:r>
          </a:p>
          <a:p>
            <a:pPr algn="l">
              <a:spcAft>
                <a:spcPts val="400"/>
              </a:spcAft>
            </a:pPr>
            <a:r>
              <a:rPr sz="1500" b="0">
                <a:solidFill>
                  <a:srgbClr val="555F6B"/>
                </a:solidFill>
              </a:rPr>
              <a:t>Quyền ghi (gửi email, tạo ticket) chỉ xin khi cần</a:t>
            </a:r>
          </a:p>
          <a:p>
            <a:pPr algn="l">
              <a:spcAft>
                <a:spcPts val="400"/>
              </a:spcAft>
            </a:pPr>
            <a:r>
              <a:rPr sz="1500" b="0">
                <a:solidFill>
                  <a:srgbClr val="555F6B"/>
                </a:solidFill>
              </a:rPr>
              <a:t>Không dùng tài khoản dịch vụ có quyền rộng</a:t>
            </a:r>
          </a:p>
        </p:txBody>
      </p:sp>
      <p:sp>
        <p:nvSpPr>
          <p:cNvPr id="8" name="TextBox 7"/>
          <p:cNvSpPr txBox="1"/>
          <p:nvPr/>
        </p:nvSpPr>
        <p:spPr>
          <a:xfrm>
            <a:off x="6309360" y="1463040"/>
            <a:ext cx="5486400" cy="4389120"/>
          </a:xfrm>
          <a:prstGeom prst="rect">
            <a:avLst/>
          </a:prstGeom>
          <a:noFill/>
        </p:spPr>
        <p:txBody>
          <a:bodyPr wrap="square">
            <a:spAutoFit/>
          </a:bodyPr>
          <a:lstStyle/>
          <a:p>
            <a:pPr algn="l">
              <a:spcAft>
                <a:spcPts val="400"/>
              </a:spcAft>
            </a:pPr>
            <a:r>
              <a:rPr sz="1500" b="1">
                <a:solidFill>
                  <a:srgbClr val="555F6B"/>
                </a:solidFill>
              </a:rPr>
              <a:t>Token được cất an toàn</a:t>
            </a:r>
          </a:p>
          <a:p>
            <a:pPr algn="l">
              <a:spcAft>
                <a:spcPts val="400"/>
              </a:spcAft>
            </a:pPr>
            <a:r>
              <a:rPr sz="1500" b="0">
                <a:solidFill>
                  <a:srgbClr val="555F6B"/>
                </a:solidFill>
              </a:rPr>
              <a:t>Token OAuth được mã hóa bằng khóa trong Cloud KMS, lưu trong Postgres</a:t>
            </a:r>
          </a:p>
          <a:p>
            <a:pPr algn="l">
              <a:spcAft>
                <a:spcPts val="400"/>
              </a:spcAft>
            </a:pPr>
            <a:r>
              <a:rPr sz="1500" b="0">
                <a:solidFill>
                  <a:srgbClr val="555F6B"/>
                </a:solidFill>
              </a:rPr>
              <a:t>Chỉ worker được giải mã, và chỉ cho đúng user của request. Mỗi lần giải mã đều ghi audit</a:t>
            </a:r>
          </a:p>
          <a:p>
            <a:pPr algn="l">
              <a:spcAft>
                <a:spcPts val="400"/>
              </a:spcAft>
            </a:pPr>
            <a:r>
              <a:rPr sz="1500" b="1">
                <a:solidFill>
                  <a:srgbClr val="555F6B"/>
                </a:solidFill>
              </a:rPr>
              <a:t>Tài liệu giữ quyền gốc</a:t>
            </a:r>
          </a:p>
          <a:p>
            <a:pPr algn="l">
              <a:spcAft>
                <a:spcPts val="400"/>
              </a:spcAft>
            </a:pPr>
            <a:r>
              <a:rPr sz="1500" b="0">
                <a:solidFill>
                  <a:srgbClr val="555F6B"/>
                </a:solidFill>
              </a:rPr>
              <a:t>Mail, lịch, Jira: agent gọi search API của SaaS bằng token của user, nên SaaS tự lọc quyền</a:t>
            </a:r>
          </a:p>
          <a:p>
            <a:pPr algn="l">
              <a:spcAft>
                <a:spcPts val="400"/>
              </a:spcAft>
            </a:pPr>
            <a:r>
              <a:rPr sz="1500" b="0">
                <a:solidFill>
                  <a:srgbClr val="555F6B"/>
                </a:solidFill>
              </a:rPr>
              <a:t>Tài liệu chung đã index: mỗi đoạn ghi nhóm được xem; mọi truy vấn lọc theo nhóm của user</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API của 11 SaaS không tính phí theo lượt; tập đoàn đã có license SaaS. Rate limit của SaaS: slide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7. File của user A không lộ sang user B (H3)</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của A có đọc được file của B không?" Không, vì có 4 lớp chặn: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7</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5669280" cy="3200400"/>
        </p:xfrm>
        <a:graphic>
          <a:graphicData uri="http://schemas.openxmlformats.org/drawingml/2006/table">
            <a:tbl>
              <a:tblPr firstRow="1" bandRow="1">
                <a:tableStyleId>{5C22544A-7EE6-4342-B048-85BDC9FD1C3A}</a:tableStyleId>
              </a:tblPr>
              <a:tblGrid>
                <a:gridCol w="1188720"/>
                <a:gridCol w="4480560"/>
              </a:tblGrid>
              <a:tr h="640080">
                <a:tc>
                  <a:txBody>
                    <a:bodyPr/>
                    <a:lstStyle/>
                    <a:p>
                      <a:r>
                        <a:rPr sz="1400" b="1">
                          <a:solidFill>
                            <a:srgbClr val="FFFFFF"/>
                          </a:solidFill>
                        </a:rPr>
                        <a:t>Lớp</a:t>
                      </a:r>
                    </a:p>
                  </a:txBody>
                  <a:tcPr marL="45720" marR="45720" marT="18288" marB="18288">
                    <a:solidFill>
                      <a:srgbClr val="2E6FB7"/>
                    </a:solidFill>
                  </a:tcPr>
                </a:tc>
                <a:tc>
                  <a:txBody>
                    <a:bodyPr/>
                    <a:lstStyle/>
                    <a:p>
                      <a:r>
                        <a:rPr sz="1400" b="1">
                          <a:solidFill>
                            <a:srgbClr val="FFFFFF"/>
                          </a:solidFill>
                        </a:rPr>
                        <a:t>Cách chặn</a:t>
                      </a:r>
                    </a:p>
                  </a:txBody>
                  <a:tcPr marL="45720" marR="45720" marT="18288" marB="18288">
                    <a:solidFill>
                      <a:srgbClr val="2E6FB7"/>
                    </a:solidFill>
                  </a:tcPr>
                </a:tc>
              </a:tr>
              <a:tr h="640080">
                <a:tc>
                  <a:txBody>
                    <a:bodyPr/>
                    <a:lstStyle/>
                    <a:p>
                      <a:r>
                        <a:rPr sz="1400" b="0">
                          <a:solidFill>
                            <a:srgbClr val="555F6B"/>
                          </a:solidFill>
                        </a:rPr>
                        <a:t>Lưu trữ</a:t>
                      </a:r>
                    </a:p>
                  </a:txBody>
                  <a:tcPr marL="45720" marR="45720" marT="18288" marB="18288">
                    <a:solidFill>
                      <a:srgbClr val="EEF3F8"/>
                    </a:solidFill>
                  </a:tcPr>
                </a:tc>
                <a:tc>
                  <a:txBody>
                    <a:bodyPr/>
                    <a:lstStyle/>
                    <a:p>
                      <a:r>
                        <a:rPr sz="1400" b="0">
                          <a:solidFill>
                            <a:srgbClr val="555F6B"/>
                          </a:solidFill>
                        </a:rPr>
                        <a:t>Mỗi user một thư mục riêng; chỉ app có quyền vào bucket</a:t>
                      </a:r>
                    </a:p>
                  </a:txBody>
                  <a:tcPr marL="45720" marR="45720" marT="18288" marB="18288">
                    <a:solidFill>
                      <a:srgbClr val="EEF3F8"/>
                    </a:solidFill>
                  </a:tcPr>
                </a:tc>
              </a:tr>
              <a:tr h="640080">
                <a:tc>
                  <a:txBody>
                    <a:bodyPr/>
                    <a:lstStyle/>
                    <a:p>
                      <a:r>
                        <a:rPr sz="1400" b="0">
                          <a:solidFill>
                            <a:srgbClr val="555F6B"/>
                          </a:solidFill>
                        </a:rPr>
                        <a:t>Database</a:t>
                      </a:r>
                    </a:p>
                  </a:txBody>
                  <a:tcPr marL="45720" marR="45720" marT="18288" marB="18288">
                    <a:solidFill>
                      <a:srgbClr val="FFFFFF"/>
                    </a:solidFill>
                  </a:tcPr>
                </a:tc>
                <a:tc>
                  <a:txBody>
                    <a:bodyPr/>
                    <a:lstStyle/>
                    <a:p>
                      <a:r>
                        <a:rPr sz="1400" b="0">
                          <a:solidFill>
                            <a:srgbClr val="555F6B"/>
                          </a:solidFill>
                        </a:rPr>
                        <a:t>Postgres tự lọc dòng theo người sở hữu (Row-Level Security)</a:t>
                      </a:r>
                    </a:p>
                  </a:txBody>
                  <a:tcPr marL="45720" marR="45720" marT="18288" marB="18288">
                    <a:solidFill>
                      <a:srgbClr val="FFFFFF"/>
                    </a:solidFill>
                  </a:tcPr>
                </a:tc>
              </a:tr>
              <a:tr h="640080">
                <a:tc>
                  <a:txBody>
                    <a:bodyPr/>
                    <a:lstStyle/>
                    <a:p>
                      <a:r>
                        <a:rPr sz="1400" b="0">
                          <a:solidFill>
                            <a:srgbClr val="555F6B"/>
                          </a:solidFill>
                        </a:rPr>
                        <a:t>Tìm kiếm</a:t>
                      </a:r>
                    </a:p>
                  </a:txBody>
                  <a:tcPr marL="45720" marR="45720" marT="18288" marB="18288">
                    <a:solidFill>
                      <a:srgbClr val="EEF3F8"/>
                    </a:solidFill>
                  </a:tcPr>
                </a:tc>
                <a:tc>
                  <a:txBody>
                    <a:bodyPr/>
                    <a:lstStyle/>
                    <a:p>
                      <a:r>
                        <a:rPr sz="1400" b="0">
                          <a:solidFill>
                            <a:srgbClr val="555F6B"/>
                          </a:solidFill>
                        </a:rPr>
                        <a:t>Mọi truy vấn bắt buộc lọc theo người sở hữu hoặc nhóm</a:t>
                      </a:r>
                    </a:p>
                  </a:txBody>
                  <a:tcPr marL="45720" marR="45720" marT="18288" marB="18288">
                    <a:solidFill>
                      <a:srgbClr val="EEF3F8"/>
                    </a:solidFill>
                  </a:tcPr>
                </a:tc>
              </a:tr>
              <a:tr h="640080">
                <a:tc>
                  <a:txBody>
                    <a:bodyPr/>
                    <a:lstStyle/>
                    <a:p>
                      <a:r>
                        <a:rPr sz="1400" b="0">
                          <a:solidFill>
                            <a:srgbClr val="555F6B"/>
                          </a:solidFill>
                        </a:rPr>
                        <a:t>Connector</a:t>
                      </a:r>
                    </a:p>
                  </a:txBody>
                  <a:tcPr marL="45720" marR="45720" marT="18288" marB="18288">
                    <a:solidFill>
                      <a:srgbClr val="FFFFFF"/>
                    </a:solidFill>
                  </a:tcPr>
                </a:tc>
                <a:tc>
                  <a:txBody>
                    <a:bodyPr/>
                    <a:lstStyle/>
                    <a:p>
                      <a:r>
                        <a:rPr sz="1400" b="0">
                          <a:solidFill>
                            <a:srgbClr val="555F6B"/>
                          </a:solidFill>
                        </a:rPr>
                        <a:t>Dùng OAuth của chính user, nên không thấy dữ liệu người khác</a:t>
                      </a:r>
                    </a:p>
                  </a:txBody>
                  <a:tcPr marL="45720" marR="45720" marT="18288" marB="18288">
                    <a:solidFill>
                      <a:srgbClr val="FFFFFF"/>
                    </a:solidFill>
                  </a:tcPr>
                </a:tc>
              </a:tr>
            </a:tbl>
          </a:graphicData>
        </a:graphic>
      </p:graphicFrame>
      <p:sp>
        <p:nvSpPr>
          <p:cNvPr id="8" name="TextBox 7"/>
          <p:cNvSpPr txBox="1"/>
          <p:nvPr/>
        </p:nvSpPr>
        <p:spPr>
          <a:xfrm>
            <a:off x="6400800" y="1371600"/>
            <a:ext cx="5394960" cy="4572000"/>
          </a:xfrm>
          <a:prstGeom prst="rect">
            <a:avLst/>
          </a:prstGeom>
          <a:noFill/>
        </p:spPr>
        <p:txBody>
          <a:bodyPr wrap="square">
            <a:spAutoFit/>
          </a:bodyPr>
          <a:lstStyle/>
          <a:p>
            <a:pPr algn="l">
              <a:spcAft>
                <a:spcPts val="400"/>
              </a:spcAft>
            </a:pPr>
            <a:r>
              <a:rPr sz="1500" b="1">
                <a:solidFill>
                  <a:srgbClr val="555F6B"/>
                </a:solidFill>
              </a:rPr>
              <a:t>Sandbox: code của agent chạy trong hộp kín</a:t>
            </a:r>
          </a:p>
          <a:p>
            <a:pPr algn="l">
              <a:spcAft>
                <a:spcPts val="400"/>
              </a:spcAft>
            </a:pPr>
            <a:r>
              <a:rPr sz="1500" b="0">
                <a:solidFill>
                  <a:srgbClr val="555F6B"/>
                </a:solidFill>
              </a:rPr>
              <a:t>gVisor ngăn code chạm trực tiếp vào kernel của máy chủ</a:t>
            </a:r>
          </a:p>
          <a:p>
            <a:pPr algn="l">
              <a:spcAft>
                <a:spcPts val="400"/>
              </a:spcAft>
            </a:pPr>
            <a:r>
              <a:rPr sz="1500" b="0">
                <a:solidFill>
                  <a:srgbClr val="555F6B"/>
                </a:solidFill>
              </a:rPr>
              <a:t>Không có mạng ra ngoài: không internet, không mạng nội bộ</a:t>
            </a:r>
          </a:p>
          <a:p>
            <a:pPr algn="l">
              <a:spcAft>
                <a:spcPts val="400"/>
              </a:spcAft>
            </a:pPr>
            <a:r>
              <a:rPr sz="1500" b="0">
                <a:solidFill>
                  <a:srgbClr val="555F6B"/>
                </a:solidFill>
              </a:rPr>
              <a:t>Chỉ thấy thư mục workspace của đúng user đó</a:t>
            </a:r>
          </a:p>
          <a:p>
            <a:pPr algn="l">
              <a:spcAft>
                <a:spcPts val="400"/>
              </a:spcAft>
            </a:pPr>
            <a:r>
              <a:rPr sz="1500" b="0">
                <a:solidFill>
                  <a:srgbClr val="555F6B"/>
                </a:solidFill>
              </a:rPr>
              <a:t>Tối đa 2 phút (hạng lớn 10 phút); chạy xong hoặc hết giờ thì hủy pod</a:t>
            </a:r>
          </a:p>
          <a:p>
            <a:pPr algn="l">
              <a:spcAft>
                <a:spcPts val="400"/>
              </a:spcAft>
            </a:pPr>
            <a:r>
              <a:rPr sz="1500" b="1">
                <a:solidFill>
                  <a:srgbClr val="555F6B"/>
                </a:solidFill>
              </a:rPr>
              <a:t>Code cố thoát ra máy chủ?</a:t>
            </a:r>
          </a:p>
          <a:p>
            <a:pPr algn="l">
              <a:spcAft>
                <a:spcPts val="400"/>
              </a:spcAft>
            </a:pPr>
            <a:r>
              <a:rPr sz="1500" b="0">
                <a:solidFill>
                  <a:srgbClr val="555F6B"/>
                </a:solidFill>
              </a:rPr>
              <a:t>Bị gVisor chặn. Pod không có quyền đặc biệt và không gọi được API của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8. Lệnh ẩn trong email bị chặn ở 3 chỗ (H4, H5)</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"Một email chứa lệnh ẩn: gửi toàn bộ hợp đồng ra ngoài." Lệnh này không chạy được, vì:</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8</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400" b="1">
                <a:solidFill>
                  <a:srgbClr val="555F6B"/>
                </a:solidFill>
              </a:rPr>
              <a:t>1. Guardrail quét nội dung</a:t>
            </a:r>
          </a:p>
          <a:p>
            <a:pPr algn="l">
              <a:spcAft>
                <a:spcPts val="400"/>
              </a:spcAft>
            </a:pPr>
            <a:r>
              <a:rPr sz="1400" b="0">
                <a:solidFill>
                  <a:srgbClr val="555F6B"/>
                </a:solidFill>
              </a:rPr>
              <a:t>Model Armor quét tin nhắn mới, nội dung từ connector và câu trả lời cuối (281 USD/tháng)</a:t>
            </a:r>
          </a:p>
          <a:p>
            <a:pPr algn="l">
              <a:spcAft>
                <a:spcPts val="400"/>
              </a:spcAft>
            </a:pPr>
            <a:r>
              <a:rPr sz="1400" b="1">
                <a:solidFill>
                  <a:srgbClr val="555F6B"/>
                </a:solidFill>
              </a:rPr>
              <a:t>2. Nội dung email chỉ là dữ liệu</a:t>
            </a:r>
          </a:p>
          <a:p>
            <a:pPr algn="l">
              <a:spcAft>
                <a:spcPts val="400"/>
              </a:spcAft>
            </a:pPr>
            <a:r>
              <a:rPr sz="1400" b="0">
                <a:solidFill>
                  <a:srgbClr val="555F6B"/>
                </a:solidFill>
              </a:rPr>
              <a:t>Nội dung từ connector được đánh dấu "không tin cậy". Chỉ yêu cầu của user mới kích hoạt được hành động ghi</a:t>
            </a:r>
          </a:p>
          <a:p>
            <a:pPr algn="l">
              <a:spcAft>
                <a:spcPts val="400"/>
              </a:spcAft>
            </a:pPr>
            <a:r>
              <a:rPr sz="1400" b="1">
                <a:solidFill>
                  <a:srgbClr val="555F6B"/>
                </a:solidFill>
              </a:rPr>
              <a:t>3. User xác nhận trước khi ghi</a:t>
            </a:r>
          </a:p>
          <a:p>
            <a:pPr algn="l">
              <a:spcAft>
                <a:spcPts val="400"/>
              </a:spcAft>
            </a:pPr>
            <a:r>
              <a:rPr sz="1400" b="0">
                <a:solidFill>
                  <a:srgbClr val="555F6B"/>
                </a:solidFill>
              </a:rPr>
              <a:t>Gửi ra ngoài, xóa, chia sẻ quyền: xác nhận từng việc. Ticket, email nháp: duyệt một lần cho cả nhóm</a:t>
            </a:r>
          </a:p>
          <a:p>
            <a:pPr algn="l">
              <a:spcAft>
                <a:spcPts val="400"/>
              </a:spcAft>
            </a:pPr>
            <a:r>
              <a:rPr sz="1400" b="0">
                <a:solidFill>
                  <a:srgbClr val="555F6B"/>
                </a:solidFill>
              </a:rPr>
              <a:t>Thêm nữa: sandbox không có mạng ra ngoài, nên code cũng không gửi được dữ liệu</a:t>
            </a:r>
          </a:p>
        </p:txBody>
      </p:sp>
      <p:sp>
        <p:nvSpPr>
          <p:cNvPr id="8" name="TextBox 7"/>
          <p:cNvSpPr txBox="1"/>
          <p:nvPr/>
        </p:nvSpPr>
        <p:spPr>
          <a:xfrm>
            <a:off x="6309360" y="1371600"/>
            <a:ext cx="5486400" cy="4572000"/>
          </a:xfrm>
          <a:prstGeom prst="rect">
            <a:avLst/>
          </a:prstGeom>
          <a:noFill/>
        </p:spPr>
        <p:txBody>
          <a:bodyPr wrap="square">
            <a:spAutoFit/>
          </a:bodyPr>
          <a:lstStyle/>
          <a:p>
            <a:pPr algn="l">
              <a:spcAft>
                <a:spcPts val="400"/>
              </a:spcAft>
            </a:pPr>
            <a:r>
              <a:rPr sz="1400" b="1">
                <a:solidFill>
                  <a:srgbClr val="555F6B"/>
                </a:solidFill>
              </a:rPr>
              <a:t>Bảo vệ dữ liệu</a:t>
            </a:r>
          </a:p>
          <a:p>
            <a:pPr algn="l">
              <a:spcAft>
                <a:spcPts val="400"/>
              </a:spcAft>
            </a:pPr>
            <a:r>
              <a:rPr sz="1400" b="0">
                <a:solidFill>
                  <a:srgbClr val="555F6B"/>
                </a:solidFill>
              </a:rPr>
              <a:t>Mã hóa khi lưu và khi truyền</a:t>
            </a:r>
          </a:p>
          <a:p>
            <a:pPr algn="l">
              <a:spcAft>
                <a:spcPts val="400"/>
              </a:spcAft>
            </a:pPr>
            <a:r>
              <a:rPr sz="1400" b="0">
                <a:solidFill>
                  <a:srgbClr val="555F6B"/>
                </a:solidFill>
              </a:rPr>
              <a:t>Che dữ liệu cá nhân (PII) trước khi gửi cho model</a:t>
            </a:r>
          </a:p>
          <a:p>
            <a:pPr algn="l">
              <a:spcAft>
                <a:spcPts val="400"/>
              </a:spcAft>
            </a:pPr>
            <a:r>
              <a:rPr sz="1400" b="0">
                <a:solidFill>
                  <a:srgbClr val="555F6B"/>
                </a:solidFill>
              </a:rPr>
              <a:t>Vertex AI không lưu và không dùng dữ liệu để huấn luyện</a:t>
            </a:r>
          </a:p>
          <a:p>
            <a:pPr algn="l">
              <a:spcAft>
                <a:spcPts val="400"/>
              </a:spcAft>
            </a:pPr>
            <a:r>
              <a:rPr sz="1400" b="0">
                <a:solidFill>
                  <a:srgbClr val="555F6B"/>
                </a:solidFill>
              </a:rPr>
              <a:t>Audit log 12 tháng: ai, lúc nào, dùng tool nào, xác nhận hành động gì</a:t>
            </a:r>
          </a:p>
          <a:p>
            <a:pPr algn="l">
              <a:spcAft>
                <a:spcPts val="400"/>
              </a:spcAft>
            </a:pPr>
            <a:r>
              <a:rPr sz="1400" b="1">
                <a:solidFill>
                  <a:srgbClr val="555F6B"/>
                </a:solidFill>
              </a:rPr>
              <a:t>Eval gate</a:t>
            </a:r>
          </a:p>
          <a:p>
            <a:pPr algn="l">
              <a:spcAft>
                <a:spcPts val="400"/>
              </a:spcAft>
            </a:pPr>
            <a:r>
              <a:rPr sz="1400" b="0">
                <a:solidFill>
                  <a:srgbClr val="555F6B"/>
                </a:solidFill>
              </a:rPr>
              <a:t>Đổi model hoặc prompt phải chạy lại bộ kiểm tra; dưới 95% thì không deploy (525 USD/tháng)</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Dòng governance ở slide 11 = 281 USD guardrail + 525 USD eval = 806 USD/tháng. Thời hạn lưu khác: chat 12 tháng, file tạm 30 ngày, prompt log 30 ngày (đã che PII).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9. Mất 1 zone: tự chuyển trong 1–2 phút (H7)</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yêu cầu: chạy 99,5% giờ hành chính, khôi phục trong 4 giờ (RTO), mất tối đa 1 giờ dữ liệu (RPO)</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9</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6400800" cy="3291840"/>
        </p:xfrm>
        <a:graphic>
          <a:graphicData uri="http://schemas.openxmlformats.org/drawingml/2006/table">
            <a:tbl>
              <a:tblPr firstRow="1" bandRow="1">
                <a:tableStyleId>{5C22544A-7EE6-4342-B048-85BDC9FD1C3A}</a:tableStyleId>
              </a:tblPr>
              <a:tblGrid>
                <a:gridCol w="1737360"/>
                <a:gridCol w="2194560"/>
                <a:gridCol w="2468880"/>
              </a:tblGrid>
              <a:tr h="411480">
                <a:tc>
                  <a:txBody>
                    <a:bodyPr/>
                    <a:lstStyle/>
                    <a:p>
                      <a:r>
                        <a:rPr sz="1100" b="1">
                          <a:solidFill>
                            <a:srgbClr val="FFFFFF"/>
                          </a:solidFill>
                        </a:rPr>
                        <a:t>Thành phần</a:t>
                      </a:r>
                    </a:p>
                  </a:txBody>
                  <a:tcPr marL="45720" marR="45720" marT="18288" marB="18288">
                    <a:solidFill>
                      <a:srgbClr val="2E6FB7"/>
                    </a:solidFill>
                  </a:tcPr>
                </a:tc>
                <a:tc>
                  <a:txBody>
                    <a:bodyPr/>
                    <a:lstStyle/>
                    <a:p>
                      <a:r>
                        <a:rPr sz="1100" b="1">
                          <a:solidFill>
                            <a:srgbClr val="FFFFFF"/>
                          </a:solidFill>
                        </a:rPr>
                        <a:t>Chạy liên tục (HA)</a:t>
                      </a:r>
                    </a:p>
                  </a:txBody>
                  <a:tcPr marL="45720" marR="45720" marT="18288" marB="18288">
                    <a:solidFill>
                      <a:srgbClr val="2E6FB7"/>
                    </a:solidFill>
                  </a:tcPr>
                </a:tc>
                <a:tc>
                  <a:txBody>
                    <a:bodyPr/>
                    <a:lstStyle/>
                    <a:p>
                      <a:r>
                        <a:rPr sz="1100" b="1">
                          <a:solidFill>
                            <a:srgbClr val="FFFFFF"/>
                          </a:solidFill>
                        </a:rPr>
                        <a:t>Backup, khôi phục (DR)</a:t>
                      </a:r>
                    </a:p>
                  </a:txBody>
                  <a:tcPr marL="45720" marR="45720" marT="18288" marB="18288">
                    <a:solidFill>
                      <a:srgbClr val="2E6FB7"/>
                    </a:solidFill>
                  </a:tcPr>
                </a:tc>
              </a:tr>
              <a:tr h="411480">
                <a:tc>
                  <a:txBody>
                    <a:bodyPr/>
                    <a:lstStyle/>
                    <a:p>
                      <a:r>
                        <a:rPr sz="1100" b="0">
                          <a:solidFill>
                            <a:srgbClr val="555F6B"/>
                          </a:solidFill>
                        </a:rPr>
                        <a:t>Tường lửa, cân bằng tải</a:t>
                      </a:r>
                    </a:p>
                  </a:txBody>
                  <a:tcPr marL="45720" marR="45720" marT="18288" marB="18288">
                    <a:solidFill>
                      <a:srgbClr val="EEF3F8"/>
                    </a:solidFill>
                  </a:tcPr>
                </a:tc>
                <a:tc>
                  <a:txBody>
                    <a:bodyPr/>
                    <a:lstStyle/>
                    <a:p>
                      <a:r>
                        <a:rPr sz="1100" b="0">
                          <a:solidFill>
                            <a:srgbClr val="555F6B"/>
                          </a:solidFill>
                        </a:rPr>
                        <a:t>Managed, đa zone</a:t>
                      </a:r>
                    </a:p>
                  </a:txBody>
                  <a:tcPr marL="45720" marR="45720" marT="18288" marB="18288">
                    <a:solidFill>
                      <a:srgbClr val="EEF3F8"/>
                    </a:solidFill>
                  </a:tcPr>
                </a:tc>
                <a:tc>
                  <a:txBody>
                    <a:bodyPr/>
                    <a:lstStyle/>
                    <a:p>
                      <a:r>
                        <a:rPr sz="1100" b="0">
                          <a:solidFill>
                            <a:srgbClr val="555F6B"/>
                          </a:solidFill>
                        </a:rPr>
                        <a:t>—</a:t>
                      </a:r>
                    </a:p>
                  </a:txBody>
                  <a:tcPr marL="45720" marR="45720" marT="18288" marB="18288">
                    <a:solidFill>
                      <a:srgbClr val="EEF3F8"/>
                    </a:solidFill>
                  </a:tcPr>
                </a:tc>
              </a:tr>
              <a:tr h="411480">
                <a:tc>
                  <a:txBody>
                    <a:bodyPr/>
                    <a:lstStyle/>
                    <a:p>
                      <a:r>
                        <a:rPr sz="1100" b="0">
                          <a:solidFill>
                            <a:srgbClr val="555F6B"/>
                          </a:solidFill>
                        </a:rPr>
                        <a:t>Cụm GKE</a:t>
                      </a:r>
                    </a:p>
                  </a:txBody>
                  <a:tcPr marL="45720" marR="45720" marT="18288" marB="18288">
                    <a:solidFill>
                      <a:srgbClr val="FFFFFF"/>
                    </a:solidFill>
                  </a:tcPr>
                </a:tc>
                <a:tc>
                  <a:txBody>
                    <a:bodyPr/>
                    <a:lstStyle/>
                    <a:p>
                      <a:r>
                        <a:rPr sz="1100" b="0">
                          <a:solidFill>
                            <a:srgbClr val="555F6B"/>
                          </a:solidFill>
                        </a:rPr>
                        <a:t>Mỗi pod 2 bản ở 2 zone</a:t>
                      </a:r>
                    </a:p>
                  </a:txBody>
                  <a:tcPr marL="45720" marR="45720" marT="18288" marB="18288">
                    <a:solidFill>
                      <a:srgbClr val="FFFFFF"/>
                    </a:solidFill>
                  </a:tcPr>
                </a:tc>
                <a:tc>
                  <a:txBody>
                    <a:bodyPr/>
                    <a:lstStyle/>
                    <a:p>
                      <a:r>
                        <a:rPr sz="1100" b="0">
                          <a:solidFill>
                            <a:srgbClr val="555F6B"/>
                          </a:solidFill>
                        </a:rPr>
                        <a:t>Dựng lại bằng Terraform</a:t>
                      </a:r>
                    </a:p>
                  </a:txBody>
                  <a:tcPr marL="45720" marR="45720" marT="18288" marB="18288">
                    <a:solidFill>
                      <a:srgbClr val="FFFFFF"/>
                    </a:solidFill>
                  </a:tcPr>
                </a:tc>
              </a:tr>
              <a:tr h="411480">
                <a:tc>
                  <a:txBody>
                    <a:bodyPr/>
                    <a:lstStyle/>
                    <a:p>
                      <a:r>
                        <a:rPr sz="1100" b="0">
                          <a:solidFill>
                            <a:srgbClr val="555F6B"/>
                          </a:solidFill>
                        </a:rPr>
                        <a:t>LiteLLM, web, worker</a:t>
                      </a:r>
                    </a:p>
                  </a:txBody>
                  <a:tcPr marL="45720" marR="45720" marT="18288" marB="18288">
                    <a:solidFill>
                      <a:srgbClr val="EEF3F8"/>
                    </a:solidFill>
                  </a:tcPr>
                </a:tc>
                <a:tc>
                  <a:txBody>
                    <a:bodyPr/>
                    <a:lstStyle/>
                    <a:p>
                      <a:r>
                        <a:rPr sz="1100" b="0">
                          <a:solidFill>
                            <a:srgbClr val="555F6B"/>
                          </a:solidFill>
                        </a:rPr>
                        <a:t>2 bản, 2 zone</a:t>
                      </a:r>
                    </a:p>
                  </a:txBody>
                  <a:tcPr marL="45720" marR="45720" marT="18288" marB="18288">
                    <a:solidFill>
                      <a:srgbClr val="EEF3F8"/>
                    </a:solidFill>
                  </a:tcPr>
                </a:tc>
                <a:tc>
                  <a:txBody>
                    <a:bodyPr/>
                    <a:lstStyle/>
                    <a:p>
                      <a:r>
                        <a:rPr sz="1100" b="0">
                          <a:solidFill>
                            <a:srgbClr val="555F6B"/>
                          </a:solidFill>
                        </a:rPr>
                        <a:t>Image lưu trong Artifact Registry</a:t>
                      </a:r>
                    </a:p>
                  </a:txBody>
                  <a:tcPr marL="45720" marR="45720" marT="18288" marB="18288">
                    <a:solidFill>
                      <a:srgbClr val="EEF3F8"/>
                    </a:solidFill>
                  </a:tcPr>
                </a:tc>
              </a:tr>
              <a:tr h="411480">
                <a:tc>
                  <a:txBody>
                    <a:bodyPr/>
                    <a:lstStyle/>
                    <a:p>
                      <a:r>
                        <a:rPr sz="1100" b="0">
                          <a:solidFill>
                            <a:srgbClr val="555F6B"/>
                          </a:solidFill>
                        </a:rPr>
                        <a:t>Postgres (Cloud SQL)</a:t>
                      </a:r>
                    </a:p>
                  </a:txBody>
                  <a:tcPr marL="45720" marR="45720" marT="18288" marB="18288">
                    <a:solidFill>
                      <a:srgbClr val="FFFFFF"/>
                    </a:solidFill>
                  </a:tcPr>
                </a:tc>
                <a:tc>
                  <a:txBody>
                    <a:bodyPr/>
                    <a:lstStyle/>
                    <a:p>
                      <a:r>
                        <a:rPr sz="1100" b="0">
                          <a:solidFill>
                            <a:srgbClr val="555F6B"/>
                          </a:solidFill>
                        </a:rPr>
                        <a:t>Bản dự phòng ở zone khác, tự chuyển</a:t>
                      </a:r>
                    </a:p>
                  </a:txBody>
                  <a:tcPr marL="45720" marR="45720" marT="18288" marB="18288">
                    <a:solidFill>
                      <a:srgbClr val="FFFFFF"/>
                    </a:solidFill>
                  </a:tcPr>
                </a:tc>
                <a:tc>
                  <a:txBody>
                    <a:bodyPr/>
                    <a:lstStyle/>
                    <a:p>
                      <a:r>
                        <a:rPr sz="1100" b="0">
                          <a:solidFill>
                            <a:srgbClr val="555F6B"/>
                          </a:solidFill>
                        </a:rPr>
                        <a:t>Backup hằng ngày, khôi phục về thời điểm bất kỳ; bản sao ở Jakarta</a:t>
                      </a:r>
                    </a:p>
                  </a:txBody>
                  <a:tcPr marL="45720" marR="45720" marT="18288" marB="18288">
                    <a:solidFill>
                      <a:srgbClr val="FFFFFF"/>
                    </a:solidFill>
                  </a:tcPr>
                </a:tc>
              </a:tr>
              <a:tr h="411480">
                <a:tc>
                  <a:txBody>
                    <a:bodyPr/>
                    <a:lstStyle/>
                    <a:p>
                      <a:r>
                        <a:rPr sz="1100" b="0">
                          <a:solidFill>
                            <a:srgbClr val="555F6B"/>
                          </a:solidFill>
                        </a:rPr>
                        <a:t>Cache</a:t>
                      </a:r>
                    </a:p>
                  </a:txBody>
                  <a:tcPr marL="45720" marR="45720" marT="18288" marB="18288">
                    <a:solidFill>
                      <a:srgbClr val="EEF3F8"/>
                    </a:solidFill>
                  </a:tcPr>
                </a:tc>
                <a:tc>
                  <a:txBody>
                    <a:bodyPr/>
                    <a:lstStyle/>
                    <a:p>
                      <a:r>
                        <a:rPr sz="1100" b="0">
                          <a:solidFill>
                            <a:srgbClr val="555F6B"/>
                          </a:solidFill>
                        </a:rPr>
                        <a:t>Bản chính + bản phụ</a:t>
                      </a:r>
                    </a:p>
                  </a:txBody>
                  <a:tcPr marL="45720" marR="45720" marT="18288" marB="18288">
                    <a:solidFill>
                      <a:srgbClr val="EEF3F8"/>
                    </a:solidFill>
                  </a:tcPr>
                </a:tc>
                <a:tc>
                  <a:txBody>
                    <a:bodyPr/>
                    <a:lstStyle/>
                    <a:p>
                      <a:r>
                        <a:rPr sz="1100" b="0">
                          <a:solidFill>
                            <a:srgbClr val="555F6B"/>
                          </a:solidFill>
                        </a:rPr>
                        <a:t>Không cần (chỉ dữ liệu tạm)</a:t>
                      </a:r>
                    </a:p>
                  </a:txBody>
                  <a:tcPr marL="45720" marR="45720" marT="18288" marB="18288">
                    <a:solidFill>
                      <a:srgbClr val="EEF3F8"/>
                    </a:solidFill>
                  </a:tcPr>
                </a:tc>
              </a:tr>
              <a:tr h="411480">
                <a:tc>
                  <a:txBody>
                    <a:bodyPr/>
                    <a:lstStyle/>
                    <a:p>
                      <a:r>
                        <a:rPr sz="1100" b="0">
                          <a:solidFill>
                            <a:srgbClr val="555F6B"/>
                          </a:solidFill>
                        </a:rPr>
                        <a:t>File workspace</a:t>
                      </a:r>
                    </a:p>
                  </a:txBody>
                  <a:tcPr marL="45720" marR="45720" marT="18288" marB="18288">
                    <a:solidFill>
                      <a:srgbClr val="FFFFFF"/>
                    </a:solidFill>
                  </a:tcPr>
                </a:tc>
                <a:tc>
                  <a:txBody>
                    <a:bodyPr/>
                    <a:lstStyle/>
                    <a:p>
                      <a:r>
                        <a:rPr sz="1100" b="0">
                          <a:solidFill>
                            <a:srgbClr val="555F6B"/>
                          </a:solidFill>
                        </a:rPr>
                        <a:t>Đa zone</a:t>
                      </a:r>
                    </a:p>
                  </a:txBody>
                  <a:tcPr marL="45720" marR="45720" marT="18288" marB="18288">
                    <a:solidFill>
                      <a:srgbClr val="FFFFFF"/>
                    </a:solidFill>
                  </a:tcPr>
                </a:tc>
                <a:tc>
                  <a:txBody>
                    <a:bodyPr/>
                    <a:lstStyle/>
                    <a:p>
                      <a:r>
                        <a:rPr sz="1100" b="0">
                          <a:solidFill>
                            <a:srgbClr val="555F6B"/>
                          </a:solidFill>
                        </a:rPr>
                        <a:t>Lưu ở 2 region</a:t>
                      </a:r>
                    </a:p>
                  </a:txBody>
                  <a:tcPr marL="45720" marR="45720" marT="18288" marB="18288">
                    <a:solidFill>
                      <a:srgbClr val="FFFFFF"/>
                    </a:solidFill>
                  </a:tcPr>
                </a:tc>
              </a:tr>
              <a:tr h="411480">
                <a:tc>
                  <a:txBody>
                    <a:bodyPr/>
                    <a:lstStyle/>
                    <a:p>
                      <a:r>
                        <a:rPr sz="1100" b="0">
                          <a:solidFill>
                            <a:srgbClr val="555F6B"/>
                          </a:solidFill>
                        </a:rPr>
                        <a:t>Vertex AI</a:t>
                      </a:r>
                    </a:p>
                  </a:txBody>
                  <a:tcPr marL="45720" marR="45720" marT="18288" marB="18288">
                    <a:solidFill>
                      <a:srgbClr val="EEF3F8"/>
                    </a:solidFill>
                  </a:tcPr>
                </a:tc>
                <a:tc>
                  <a:txBody>
                    <a:bodyPr/>
                    <a:lstStyle/>
                    <a:p>
                      <a:r>
                        <a:rPr sz="1100" b="0">
                          <a:solidFill>
                            <a:srgbClr val="555F6B"/>
                          </a:solidFill>
                        </a:rPr>
                        <a:t>Endpoint global</a:t>
                      </a:r>
                    </a:p>
                  </a:txBody>
                  <a:tcPr marL="45720" marR="45720" marT="18288" marB="18288">
                    <a:solidFill>
                      <a:srgbClr val="EEF3F8"/>
                    </a:solidFill>
                  </a:tcPr>
                </a:tc>
                <a:tc>
                  <a:txBody>
                    <a:bodyPr/>
                    <a:lstStyle/>
                    <a:p>
                      <a:r>
                        <a:rPr sz="1100" b="0">
                          <a:solidFill>
                            <a:srgbClr val="555F6B"/>
                          </a:solidFill>
                        </a:rPr>
                        <a:t>Model dự phòng qua LiteLLM</a:t>
                      </a:r>
                    </a:p>
                  </a:txBody>
                  <a:tcPr marL="45720" marR="45720" marT="18288" marB="18288">
                    <a:solidFill>
                      <a:srgbClr val="EEF3F8"/>
                    </a:solidFill>
                  </a:tcPr>
                </a:tc>
              </a:tr>
            </a:tbl>
          </a:graphicData>
        </a:graphic>
      </p:graphicFrame>
      <p:sp>
        <p:nvSpPr>
          <p:cNvPr id="8" name="TextBox 7"/>
          <p:cNvSpPr txBox="1"/>
          <p:nvPr/>
        </p:nvSpPr>
        <p:spPr>
          <a:xfrm>
            <a:off x="7132320" y="1371600"/>
            <a:ext cx="4663440" cy="4754880"/>
          </a:xfrm>
          <a:prstGeom prst="rect">
            <a:avLst/>
          </a:prstGeom>
          <a:noFill/>
        </p:spPr>
        <p:txBody>
          <a:bodyPr wrap="square">
            <a:spAutoFit/>
          </a:bodyPr>
          <a:lstStyle/>
          <a:p>
            <a:pPr algn="l">
              <a:spcAft>
                <a:spcPts val="400"/>
              </a:spcAft>
            </a:pPr>
            <a:r>
              <a:rPr sz="1200" b="1">
                <a:solidFill>
                  <a:srgbClr val="555F6B"/>
                </a:solidFill>
              </a:rPr>
              <a:t>Khi mất 1 zone lúc 10:00</a:t>
            </a:r>
          </a:p>
          <a:p>
            <a:pPr algn="l">
              <a:spcAft>
                <a:spcPts val="400"/>
              </a:spcAft>
            </a:pPr>
            <a:r>
              <a:rPr sz="1200" b="0">
                <a:solidFill>
                  <a:srgbClr val="555F6B"/>
                </a:solidFill>
              </a:rPr>
              <a:t>Cân bằng tải chuyển traffic sang zone còn lại; GKE tạo thêm pod</a:t>
            </a:r>
          </a:p>
          <a:p>
            <a:pPr algn="l">
              <a:spcAft>
                <a:spcPts val="400"/>
              </a:spcAft>
            </a:pPr>
            <a:r>
              <a:rPr sz="1200" b="0">
                <a:solidFill>
                  <a:srgbClr val="555F6B"/>
                </a:solidFill>
              </a:rPr>
              <a:t>Postgres tự chuyển sang bản dự phòng trong vài chục giây đến 1–2 phút</a:t>
            </a:r>
          </a:p>
          <a:p>
            <a:pPr algn="l">
              <a:spcAft>
                <a:spcPts val="400"/>
              </a:spcAft>
            </a:pPr>
            <a:r>
              <a:rPr sz="1200" b="0">
                <a:solidFill>
                  <a:srgbClr val="555F6B"/>
                </a:solidFill>
              </a:rPr>
              <a:t>Vài request lỗi, user gửi lại được; dữ liệu đã lưu không mất</a:t>
            </a:r>
          </a:p>
          <a:p>
            <a:pPr algn="l">
              <a:spcAft>
                <a:spcPts val="400"/>
              </a:spcAft>
            </a:pPr>
            <a:r>
              <a:rPr sz="1200" b="1">
                <a:solidFill>
                  <a:srgbClr val="555F6B"/>
                </a:solidFill>
              </a:rPr>
              <a:t>Khi mất cả region Singapore</a:t>
            </a:r>
          </a:p>
          <a:p>
            <a:pPr algn="l">
              <a:spcAft>
                <a:spcPts val="400"/>
              </a:spcAft>
            </a:pPr>
            <a:r>
              <a:rPr sz="1200" b="0">
                <a:solidFill>
                  <a:srgbClr val="555F6B"/>
                </a:solidFill>
              </a:rPr>
              <a:t>Dựng lại ở Jakarta bằng Terraform và backup đã sao chép: ≤ 4 giờ, mất ≤ 1 giờ dữ liệu</a:t>
            </a:r>
          </a:p>
          <a:p>
            <a:pPr algn="l">
              <a:spcAft>
                <a:spcPts val="400"/>
              </a:spcAft>
            </a:pPr>
            <a:r>
              <a:rPr sz="1200" b="1">
                <a:solidFill>
                  <a:srgbClr val="555F6B"/>
                </a:solidFill>
              </a:rPr>
              <a:t>Diễn tập và chi phí</a:t>
            </a:r>
          </a:p>
          <a:p>
            <a:pPr algn="l">
              <a:spcAft>
                <a:spcPts val="400"/>
              </a:spcAft>
            </a:pPr>
            <a:r>
              <a:rPr sz="1200" b="0">
                <a:solidFill>
                  <a:srgbClr val="555F6B"/>
                </a:solidFill>
              </a:rPr>
              <a:t>Thử khôi phục DB mỗi quý, dựng region DR mỗi 6 tháng. backup_dr: 164 USD/tháng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10. Mỗi user có quota USD; vượt thì hạ cấp (H8)</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LiteLLM ghi chi phí của từng user và phòng ban, nên mỗi tháng biết ai tiêu bao nhiêu và chặn được khi vượt</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10</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300" b="1">
                <a:solidFill>
                  <a:srgbClr val="555F6B"/>
                </a:solidFill>
              </a:rPr>
              <a:t>Cảnh báo chính</a:t>
            </a:r>
          </a:p>
          <a:p>
            <a:pPr algn="l">
              <a:spcAft>
                <a:spcPts val="400"/>
              </a:spcAft>
            </a:pPr>
            <a:r>
              <a:rPr sz="1300" b="0">
                <a:solidFill>
                  <a:srgbClr val="555F6B"/>
                </a:solidFill>
              </a:rPr>
              <a:t>Chậm: p95 thời gian tới token đầu tiên &gt; 3 giây trong 10 phút</a:t>
            </a:r>
          </a:p>
          <a:p>
            <a:pPr algn="l">
              <a:spcAft>
                <a:spcPts val="400"/>
              </a:spcAft>
            </a:pPr>
            <a:r>
              <a:rPr sz="1300" b="0">
                <a:solidFill>
                  <a:srgbClr val="555F6B"/>
                </a:solidFill>
              </a:rPr>
              <a:t>Agent chạy quá 10 phút; tỉ lệ lỗi &gt; 2%</a:t>
            </a:r>
          </a:p>
          <a:p>
            <a:pPr algn="l">
              <a:spcAft>
                <a:spcPts val="400"/>
              </a:spcAft>
            </a:pPr>
            <a:r>
              <a:rPr sz="1300" b="0">
                <a:solidFill>
                  <a:srgbClr val="555F6B"/>
                </a:solidFill>
              </a:rPr>
              <a:t>Cache hit &lt; 50%, tức chi phí LLM sắp tăng</a:t>
            </a:r>
          </a:p>
          <a:p>
            <a:pPr algn="l">
              <a:spcAft>
                <a:spcPts val="400"/>
              </a:spcAft>
            </a:pPr>
            <a:r>
              <a:rPr sz="1300" b="0">
                <a:solidFill>
                  <a:srgbClr val="555F6B"/>
                </a:solidFill>
              </a:rPr>
              <a:t>Chi tiêu trong ngày vượt dự báo 20%</a:t>
            </a:r>
          </a:p>
          <a:p>
            <a:pPr algn="l">
              <a:spcAft>
                <a:spcPts val="400"/>
              </a:spcAft>
            </a:pPr>
            <a:r>
              <a:rPr sz="1300" b="1">
                <a:solidFill>
                  <a:srgbClr val="555F6B"/>
                </a:solidFill>
              </a:rPr>
              <a:t>Dashboard</a:t>
            </a:r>
          </a:p>
          <a:p>
            <a:pPr algn="l">
              <a:spcAft>
                <a:spcPts val="400"/>
              </a:spcAft>
            </a:pPr>
            <a:r>
              <a:rPr sz="1300" b="0">
                <a:solidFill>
                  <a:srgbClr val="555F6B"/>
                </a:solidFill>
              </a:rPr>
              <a:t>Token và USD theo user, phòng ban, model, cấp</a:t>
            </a:r>
          </a:p>
          <a:p>
            <a:pPr algn="l">
              <a:spcAft>
                <a:spcPts val="400"/>
              </a:spcAft>
            </a:pPr>
            <a:r>
              <a:rPr sz="1300" b="0">
                <a:solidFill>
                  <a:srgbClr val="555F6B"/>
                </a:solidFill>
              </a:rPr>
              <a:t>Số lần guardrail chặn, số hành động ghi bị user từ chối</a:t>
            </a:r>
          </a:p>
        </p:txBody>
      </p:sp>
      <p:graphicFrame>
        <p:nvGraphicFramePr>
          <p:cNvPr id="8" name="Table 7"/>
          <p:cNvGraphicFramePr>
            <a:graphicFrameLocks noGrp="1"/>
          </p:cNvGraphicFramePr>
          <p:nvPr/>
        </p:nvGraphicFramePr>
        <p:xfrm>
          <a:off x="6309360" y="1371600"/>
          <a:ext cx="5486400" cy="2286000"/>
        </p:xfrm>
        <a:graphic>
          <a:graphicData uri="http://schemas.openxmlformats.org/drawingml/2006/table">
            <a:tbl>
              <a:tblPr firstRow="1" bandRow="1">
                <a:tableStyleId>{5C22544A-7EE6-4342-B048-85BDC9FD1C3A}</a:tableStyleId>
              </a:tblPr>
              <a:tblGrid>
                <a:gridCol w="2011680"/>
                <a:gridCol w="3474720"/>
              </a:tblGrid>
              <a:tr h="457200">
                <a:tc>
                  <a:txBody>
                    <a:bodyPr/>
                    <a:lstStyle/>
                    <a:p>
                      <a:r>
                        <a:rPr sz="1200" b="1">
                          <a:solidFill>
                            <a:srgbClr val="FFFFFF"/>
                          </a:solidFill>
                        </a:rPr>
                        <a:t>Mức dùng quota tháng</a:t>
                      </a:r>
                    </a:p>
                  </a:txBody>
                  <a:tcPr marL="45720" marR="45720" marT="18288" marB="18288">
                    <a:solidFill>
                      <a:srgbClr val="2E6FB7"/>
                    </a:solidFill>
                  </a:tcPr>
                </a:tc>
                <a:tc>
                  <a:txBody>
                    <a:bodyPr/>
                    <a:lstStyle/>
                    <a:p>
                      <a:r>
                        <a:rPr sz="1200" b="1">
                          <a:solidFill>
                            <a:srgbClr val="FFFFFF"/>
                          </a:solidFill>
                        </a:rPr>
                        <a:t>Hành động</a:t>
                      </a:r>
                    </a:p>
                  </a:txBody>
                  <a:tcPr marL="45720" marR="45720" marT="18288" marB="18288">
                    <a:solidFill>
                      <a:srgbClr val="2E6FB7"/>
                    </a:solidFill>
                  </a:tcPr>
                </a:tc>
              </a:tr>
              <a:tr h="457200">
                <a:tc>
                  <a:txBody>
                    <a:bodyPr/>
                    <a:lstStyle/>
                    <a:p>
                      <a:r>
                        <a:rPr sz="1200" b="0">
                          <a:solidFill>
                            <a:srgbClr val="555F6B"/>
                          </a:solidFill>
                        </a:rPr>
                        <a:t>80%</a:t>
                      </a:r>
                    </a:p>
                  </a:txBody>
                  <a:tcPr marL="45720" marR="45720" marT="18288" marB="18288">
                    <a:solidFill>
                      <a:srgbClr val="EEF3F8"/>
                    </a:solidFill>
                  </a:tcPr>
                </a:tc>
                <a:tc>
                  <a:txBody>
                    <a:bodyPr/>
                    <a:lstStyle/>
                    <a:p>
                      <a:r>
                        <a:rPr sz="1200" b="0">
                          <a:solidFill>
                            <a:srgbClr val="555F6B"/>
                          </a:solidFill>
                        </a:rPr>
                        <a:t>Cảnh báo user; báo trưởng phòng nếu là quota phòng</a:t>
                      </a:r>
                    </a:p>
                  </a:txBody>
                  <a:tcPr marL="45720" marR="45720" marT="18288" marB="18288">
                    <a:solidFill>
                      <a:srgbClr val="EEF3F8"/>
                    </a:solidFill>
                  </a:tcPr>
                </a:tc>
              </a:tr>
              <a:tr h="457200">
                <a:tc>
                  <a:txBody>
                    <a:bodyPr/>
                    <a:lstStyle/>
                    <a:p>
                      <a:r>
                        <a:rPr sz="1200" b="0">
                          <a:solidFill>
                            <a:srgbClr val="555F6B"/>
                          </a:solidFill>
                        </a:rPr>
                        <a:t>100%</a:t>
                      </a:r>
                    </a:p>
                  </a:txBody>
                  <a:tcPr marL="45720" marR="45720" marT="18288" marB="18288">
                    <a:solidFill>
                      <a:srgbClr val="FFFFFF"/>
                    </a:solidFill>
                  </a:tcPr>
                </a:tc>
                <a:tc>
                  <a:txBody>
                    <a:bodyPr/>
                    <a:lstStyle/>
                    <a:p>
                      <a:r>
                        <a:rPr sz="1200" b="0">
                          <a:solidFill>
                            <a:srgbClr val="555F6B"/>
                          </a:solidFill>
                        </a:rPr>
                        <a:t>Hạ cấp: cấp 1–2 chỉ dùng model rẻ nhất; khóa cấp 4–5</a:t>
                      </a:r>
                    </a:p>
                  </a:txBody>
                  <a:tcPr marL="45720" marR="45720" marT="18288" marB="18288">
                    <a:solidFill>
                      <a:srgbClr val="FFFFFF"/>
                    </a:solidFill>
                  </a:tcPr>
                </a:tc>
              </a:tr>
              <a:tr h="457200">
                <a:tc>
                  <a:txBody>
                    <a:bodyPr/>
                    <a:lstStyle/>
                    <a:p>
                      <a:r>
                        <a:rPr sz="1200" b="0">
                          <a:solidFill>
                            <a:srgbClr val="555F6B"/>
                          </a:solidFill>
                        </a:rPr>
                        <a:t>120%</a:t>
                      </a:r>
                    </a:p>
                  </a:txBody>
                  <a:tcPr marL="45720" marR="45720" marT="18288" marB="18288">
                    <a:solidFill>
                      <a:srgbClr val="EEF3F8"/>
                    </a:solidFill>
                  </a:tcPr>
                </a:tc>
                <a:tc>
                  <a:txBody>
                    <a:bodyPr/>
                    <a:lstStyle/>
                    <a:p>
                      <a:r>
                        <a:rPr sz="1200" b="0">
                          <a:solidFill>
                            <a:srgbClr val="555F6B"/>
                          </a:solidFill>
                        </a:rPr>
                        <a:t>Chặn đến đầu tháng sau, trừ khi trưởng phòng duyệt</a:t>
                      </a:r>
                    </a:p>
                  </a:txBody>
                  <a:tcPr marL="45720" marR="45720" marT="18288" marB="18288">
                    <a:solidFill>
                      <a:srgbClr val="EEF3F8"/>
                    </a:solidFill>
                  </a:tcPr>
                </a:tc>
              </a:tr>
              <a:tr h="457200">
                <a:tc>
                  <a:txBody>
                    <a:bodyPr/>
                    <a:lstStyle/>
                    <a:p>
                      <a:r>
                        <a:rPr sz="1200" b="0">
                          <a:solidFill>
                            <a:srgbClr val="555F6B"/>
                          </a:solidFill>
                        </a:rPr>
                        <a:t>90% ngân sách hệ thống</a:t>
                      </a:r>
                    </a:p>
                  </a:txBody>
                  <a:tcPr marL="45720" marR="45720" marT="18288" marB="18288">
                    <a:solidFill>
                      <a:srgbClr val="FFFFFF"/>
                    </a:solidFill>
                  </a:tcPr>
                </a:tc>
                <a:tc>
                  <a:txBody>
                    <a:bodyPr/>
                    <a:lstStyle/>
                    <a:p>
                      <a:r>
                        <a:rPr sz="1200" b="0">
                          <a:solidFill>
                            <a:srgbClr val="555F6B"/>
                          </a:solidFill>
                        </a:rPr>
                        <a:t>Cảnh báo nhóm FinOps và ban IT</a:t>
                      </a:r>
                    </a:p>
                  </a:txBody>
                  <a:tcPr marL="45720" marR="45720" marT="18288" marB="18288">
                    <a:solidFill>
                      <a:srgbClr val="FFFFFF"/>
                    </a:solidFill>
                  </a:tcPr>
                </a:tc>
              </a:tr>
            </a:tbl>
          </a:graphicData>
        </a:graphic>
      </p:graphicFrame>
      <p:sp>
        <p:nvSpPr>
          <p:cNvPr id="9" name="TextBox 8"/>
          <p:cNvSpPr txBox="1"/>
          <p:nvPr/>
        </p:nvSpPr>
        <p:spPr>
          <a:xfrm>
            <a:off x="6309360" y="3931920"/>
            <a:ext cx="5486400" cy="2103120"/>
          </a:xfrm>
          <a:prstGeom prst="rect">
            <a:avLst/>
          </a:prstGeom>
          <a:noFill/>
        </p:spPr>
        <p:txBody>
          <a:bodyPr wrap="square">
            <a:spAutoFit/>
          </a:bodyPr>
          <a:lstStyle/>
          <a:p>
            <a:pPr algn="l">
              <a:spcAft>
                <a:spcPts val="400"/>
              </a:spcAft>
            </a:pPr>
            <a:r>
              <a:rPr sz="1200" b="1">
                <a:solidFill>
                  <a:srgbClr val="555F6B"/>
                </a:solidFill>
              </a:rPr>
              <a:t>Quota đặt bao nhiêu?</a:t>
            </a:r>
          </a:p>
          <a:p>
            <a:pPr algn="l">
              <a:spcAft>
                <a:spcPts val="400"/>
              </a:spcAft>
            </a:pPr>
            <a:r>
              <a:rPr sz="1200" b="0">
                <a:solidFill>
                  <a:srgbClr val="555F6B"/>
                </a:solidFill>
              </a:rPr>
              <a:t>Chi phí theo lượt dùng (LLM + guardrail + sandbox) ≈ 1,11 USD/user/tháng</a:t>
            </a:r>
          </a:p>
          <a:p>
            <a:pPr algn="l">
              <a:spcAft>
                <a:spcPts val="400"/>
              </a:spcAft>
            </a:pPr>
            <a:r>
              <a:rPr sz="1200" b="0">
                <a:solidFill>
                  <a:srgbClr val="555F6B"/>
                </a:solidFill>
              </a:rPr>
              <a:t>Quota mặc định: 3 USD/user/tháng, gần 3 lần mức trung bình, đủ cho người dùng nhiều</a:t>
            </a:r>
          </a:p>
          <a:p>
            <a:pPr algn="l">
              <a:spcAft>
                <a:spcPts val="400"/>
              </a:spcAft>
            </a:pPr>
            <a:r>
              <a:rPr sz="1200" b="0">
                <a:solidFill>
                  <a:srgbClr val="555F6B"/>
                </a:solidFill>
              </a:rPr>
              <a:t>Báo cáo hằng tháng theo phòng ban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Chi phí: một nửa là nhân sự, LLM chỉ 16%</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Tổng 6.821,44 USD/tháng, tức 3,41 USD/DAU. Bảng dưới giải thích vì sao mỗi khoản ra con số này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11247120" cy="4352544"/>
        </p:xfrm>
        <a:graphic>
          <a:graphicData uri="http://schemas.openxmlformats.org/drawingml/2006/table">
            <a:tbl>
              <a:tblPr firstRow="1" bandRow="1">
                <a:tableStyleId>{5C22544A-7EE6-4342-B048-85BDC9FD1C3A}</a:tableStyleId>
              </a:tblPr>
              <a:tblGrid>
                <a:gridCol w="1645920"/>
                <a:gridCol w="1005840"/>
                <a:gridCol w="640080"/>
                <a:gridCol w="4297680"/>
                <a:gridCol w="3657600"/>
              </a:tblGrid>
              <a:tr h="621792">
                <a:tc>
                  <a:txBody>
                    <a:bodyPr/>
                    <a:lstStyle/>
                    <a:p>
                      <a:r>
                        <a:rPr sz="1100" b="1">
                          <a:solidFill>
                            <a:srgbClr val="FFFFFF"/>
                          </a:solidFill>
                        </a:rPr>
                        <a:t>Khoản</a:t>
                      </a:r>
                    </a:p>
                  </a:txBody>
                  <a:tcPr marL="45720" marR="45720" marT="18288" marB="18288">
                    <a:solidFill>
                      <a:srgbClr val="2E6FB7"/>
                    </a:solidFill>
                  </a:tcPr>
                </a:tc>
                <a:tc>
                  <a:txBody>
                    <a:bodyPr/>
                    <a:lstStyle/>
                    <a:p>
                      <a:r>
                        <a:rPr sz="1100" b="1">
                          <a:solidFill>
                            <a:srgbClr val="FFFFFF"/>
                          </a:solidFill>
                        </a:rPr>
                        <a:t>USD/tháng</a:t>
                      </a:r>
                    </a:p>
                  </a:txBody>
                  <a:tcPr marL="45720" marR="45720" marT="18288" marB="18288">
                    <a:solidFill>
                      <a:srgbClr val="2E6FB7"/>
                    </a:solidFill>
                  </a:tcPr>
                </a:tc>
                <a:tc>
                  <a:txBody>
                    <a:bodyPr/>
                    <a:lstStyle/>
                    <a:p>
                      <a:r>
                        <a:rPr sz="1100" b="1">
                          <a:solidFill>
                            <a:srgbClr val="FFFFFF"/>
                          </a:solidFill>
                        </a:rPr>
                        <a:t>%</a:t>
                      </a:r>
                    </a:p>
                  </a:txBody>
                  <a:tcPr marL="45720" marR="45720" marT="18288" marB="18288">
                    <a:solidFill>
                      <a:srgbClr val="2E6FB7"/>
                    </a:solidFill>
                  </a:tcPr>
                </a:tc>
                <a:tc>
                  <a:txBody>
                    <a:bodyPr/>
                    <a:lstStyle/>
                    <a:p>
                      <a:r>
                        <a:rPr sz="1100" b="1">
                          <a:solidFill>
                            <a:srgbClr val="FFFFFF"/>
                          </a:solidFill>
                        </a:rPr>
                        <a:t>Cách tính</a:t>
                      </a:r>
                    </a:p>
                  </a:txBody>
                  <a:tcPr marL="45720" marR="45720" marT="18288" marB="18288">
                    <a:solidFill>
                      <a:srgbClr val="2E6FB7"/>
                    </a:solidFill>
                  </a:tcPr>
                </a:tc>
                <a:tc>
                  <a:txBody>
                    <a:bodyPr/>
                    <a:lstStyle/>
                    <a:p>
                      <a:r>
                        <a:rPr sz="1100" b="1">
                          <a:solidFill>
                            <a:srgbClr val="FFFFFF"/>
                          </a:solidFill>
                        </a:rPr>
                        <a:t>Vì sao lớn hay nhỏ</a:t>
                      </a:r>
                    </a:p>
                  </a:txBody>
                  <a:tcPr marL="45720" marR="45720" marT="18288" marB="18288">
                    <a:solidFill>
                      <a:srgbClr val="2E6FB7"/>
                    </a:solidFill>
                  </a:tcPr>
                </a:tc>
              </a:tr>
              <a:tr h="621792">
                <a:tc>
                  <a:txBody>
                    <a:bodyPr/>
                    <a:lstStyle/>
                    <a:p>
                      <a:r>
                        <a:rPr sz="1100" b="0">
                          <a:solidFill>
                            <a:srgbClr val="555F6B"/>
                          </a:solidFill>
                        </a:rPr>
                        <a:t>ops_labor (nhân sự)</a:t>
                      </a:r>
                    </a:p>
                  </a:txBody>
                  <a:tcPr marL="45720" marR="45720" marT="18288" marB="18288">
                    <a:solidFill>
                      <a:srgbClr val="EEF3F8"/>
                    </a:solidFill>
                  </a:tcPr>
                </a:tc>
                <a:tc>
                  <a:txBody>
                    <a:bodyPr/>
                    <a:lstStyle/>
                    <a:p>
                      <a:r>
                        <a:rPr sz="1100" b="0">
                          <a:solidFill>
                            <a:srgbClr val="555F6B"/>
                          </a:solidFill>
                        </a:rPr>
                        <a:t>3.400</a:t>
                      </a:r>
                    </a:p>
                  </a:txBody>
                  <a:tcPr marL="45720" marR="45720" marT="18288" marB="18288">
                    <a:solidFill>
                      <a:srgbClr val="EEF3F8"/>
                    </a:solidFill>
                  </a:tcPr>
                </a:tc>
                <a:tc>
                  <a:txBody>
                    <a:bodyPr/>
                    <a:lstStyle/>
                    <a:p>
                      <a:r>
                        <a:rPr sz="1100" b="0">
                          <a:solidFill>
                            <a:srgbClr val="555F6B"/>
                          </a:solidFill>
                        </a:rPr>
                        <a:t>50%</a:t>
                      </a:r>
                    </a:p>
                  </a:txBody>
                  <a:tcPr marL="45720" marR="45720" marT="18288" marB="18288">
                    <a:solidFill>
                      <a:srgbClr val="EEF3F8"/>
                    </a:solidFill>
                  </a:tcPr>
                </a:tc>
                <a:tc>
                  <a:txBody>
                    <a:bodyPr/>
                    <a:lstStyle/>
                    <a:p>
                      <a:r>
                        <a:rPr sz="1100" b="0">
                          <a:solidFill>
                            <a:srgbClr val="555F6B"/>
                          </a:solidFill>
                        </a:rPr>
                        <a:t>2 kỹ sư trực luân phiên: SRE 5–8 năm (53,85 triệu VND) + AI/MLOps 3–4 năm (34,1 triệu VND) = 87,95 triệu VND ÷ 25.870 VND/USD</a:t>
                      </a:r>
                    </a:p>
                  </a:txBody>
                  <a:tcPr marL="45720" marR="45720" marT="18288" marB="18288">
                    <a:solidFill>
                      <a:srgbClr val="EEF3F8"/>
                    </a:solidFill>
                  </a:tcPr>
                </a:tc>
                <a:tc>
                  <a:txBody>
                    <a:bodyPr/>
                    <a:lstStyle/>
                    <a:p>
                      <a:r>
                        <a:rPr sz="1100" b="0">
                          <a:solidFill>
                            <a:srgbClr val="555F6B"/>
                          </a:solidFill>
                        </a:rPr>
                        <a:t>Lớn nhất vì cố định: cần người trực để giữ 99,5% (H7), vận hành LiteLLM và eval. Không giảm khi ít người dùng</a:t>
                      </a:r>
                    </a:p>
                  </a:txBody>
                  <a:tcPr marL="45720" marR="45720" marT="18288" marB="18288">
                    <a:solidFill>
                      <a:srgbClr val="EEF3F8"/>
                    </a:solidFill>
                  </a:tcPr>
                </a:tc>
              </a:tr>
              <a:tr h="621792">
                <a:tc>
                  <a:txBody>
                    <a:bodyPr/>
                    <a:lstStyle/>
                    <a:p>
                      <a:r>
                        <a:rPr sz="1100" b="0">
                          <a:solidFill>
                            <a:srgbClr val="555F6B"/>
                          </a:solidFill>
                        </a:rPr>
                        <a:t>llm</a:t>
                      </a:r>
                    </a:p>
                  </a:txBody>
                  <a:tcPr marL="45720" marR="45720" marT="18288" marB="18288">
                    <a:solidFill>
                      <a:srgbClr val="FFFFFF"/>
                    </a:solidFill>
                  </a:tcPr>
                </a:tc>
                <a:tc>
                  <a:txBody>
                    <a:bodyPr/>
                    <a:lstStyle/>
                    <a:p>
                      <a:r>
                        <a:rPr sz="1100" b="0">
                          <a:solidFill>
                            <a:srgbClr val="555F6B"/>
                          </a:solidFill>
                        </a:rPr>
                        <a:t>1.093</a:t>
                      </a:r>
                    </a:p>
                  </a:txBody>
                  <a:tcPr marL="45720" marR="45720" marT="18288" marB="18288">
                    <a:solidFill>
                      <a:srgbClr val="FFFFFF"/>
                    </a:solidFill>
                  </a:tcPr>
                </a:tc>
                <a:tc>
                  <a:txBody>
                    <a:bodyPr/>
                    <a:lstStyle/>
                    <a:p>
                      <a:r>
                        <a:rPr sz="1100" b="0">
                          <a:solidFill>
                            <a:srgbClr val="555F6B"/>
                          </a:solidFill>
                        </a:rPr>
                        <a:t>16%</a:t>
                      </a:r>
                    </a:p>
                  </a:txBody>
                  <a:tcPr marL="45720" marR="45720" marT="18288" marB="18288">
                    <a:solidFill>
                      <a:srgbClr val="FFFFFF"/>
                    </a:solidFill>
                  </a:tcPr>
                </a:tc>
                <a:tc>
                  <a:txBody>
                    <a:bodyPr/>
                    <a:lstStyle/>
                    <a:p>
                      <a:r>
                        <a:rPr sz="1100" b="0">
                          <a:solidFill>
                            <a:srgbClr val="555F6B"/>
                          </a:solidFill>
                        </a:rPr>
                        <a:t>Lượt × số lần gọi model × token × giá. Cấp 1: 386 · cấp 2: 288 · cấp 3: 161 · cấp 4: 105 · cấp 5: 7 + ảnh 147 (4.312 ảnh × 0,034)</a:t>
                      </a:r>
                    </a:p>
                  </a:txBody>
                  <a:tcPr marL="45720" marR="45720" marT="18288" marB="18288">
                    <a:solidFill>
                      <a:srgbClr val="FFFFFF"/>
                    </a:solidFill>
                  </a:tcPr>
                </a:tc>
                <a:tc>
                  <a:txBody>
                    <a:bodyPr/>
                    <a:lstStyle/>
                    <a:p>
                      <a:r>
                        <a:rPr sz="1100" b="0">
                          <a:solidFill>
                            <a:srgbClr val="555F6B"/>
                          </a:solidFill>
                        </a:rPr>
                        <a:t>Nhỏ vì Haiku rẻ (0,10 USD/1M token vào) và 61% token vào đọc từ cache với giá 0,01</a:t>
                      </a:r>
                    </a:p>
                  </a:txBody>
                  <a:tcPr marL="45720" marR="45720" marT="18288" marB="18288">
                    <a:solidFill>
                      <a:srgbClr val="FFFFFF"/>
                    </a:solidFill>
                  </a:tcPr>
                </a:tc>
              </a:tr>
              <a:tr h="621792">
                <a:tc>
                  <a:txBody>
                    <a:bodyPr/>
                    <a:lstStyle/>
                    <a:p>
                      <a:r>
                        <a:rPr sz="1100" b="0">
                          <a:solidFill>
                            <a:srgbClr val="555F6B"/>
                          </a:solidFill>
                        </a:rPr>
                        <a:t>governance</a:t>
                      </a:r>
                    </a:p>
                  </a:txBody>
                  <a:tcPr marL="45720" marR="45720" marT="18288" marB="18288">
                    <a:solidFill>
                      <a:srgbClr val="EEF3F8"/>
                    </a:solidFill>
                  </a:tcPr>
                </a:tc>
                <a:tc>
                  <a:txBody>
                    <a:bodyPr/>
                    <a:lstStyle/>
                    <a:p>
                      <a:r>
                        <a:rPr sz="1100" b="0">
                          <a:solidFill>
                            <a:srgbClr val="555F6B"/>
                          </a:solidFill>
                        </a:rPr>
                        <a:t>806</a:t>
                      </a:r>
                    </a:p>
                  </a:txBody>
                  <a:tcPr marL="45720" marR="45720" marT="18288" marB="18288">
                    <a:solidFill>
                      <a:srgbClr val="EEF3F8"/>
                    </a:solidFill>
                  </a:tcPr>
                </a:tc>
                <a:tc>
                  <a:txBody>
                    <a:bodyPr/>
                    <a:lstStyle/>
                    <a:p>
                      <a:r>
                        <a:rPr sz="1100" b="0">
                          <a:solidFill>
                            <a:srgbClr val="555F6B"/>
                          </a:solidFill>
                        </a:rPr>
                        <a:t>12%</a:t>
                      </a:r>
                    </a:p>
                  </a:txBody>
                  <a:tcPr marL="45720" marR="45720" marT="18288" marB="18288">
                    <a:solidFill>
                      <a:srgbClr val="EEF3F8"/>
                    </a:solidFill>
                  </a:tcPr>
                </a:tc>
                <a:tc>
                  <a:txBody>
                    <a:bodyPr/>
                    <a:lstStyle/>
                    <a:p>
                      <a:r>
                        <a:rPr sz="1100" b="0">
                          <a:solidFill>
                            <a:srgbClr val="555F6B"/>
                          </a:solidFill>
                        </a:rPr>
                        <a:t>Guardrail: 2,81 tỉ token × 0,10 USD/1M = 281. Eval gate: 4 lần/tháng × 5 cấp × 100 nhiệm vụ = 525</a:t>
                      </a:r>
                    </a:p>
                  </a:txBody>
                  <a:tcPr marL="45720" marR="45720" marT="18288" marB="18288">
                    <a:solidFill>
                      <a:srgbClr val="EEF3F8"/>
                    </a:solidFill>
                  </a:tcPr>
                </a:tc>
                <a:tc>
                  <a:txBody>
                    <a:bodyPr/>
                    <a:lstStyle/>
                    <a:p>
                      <a:r>
                        <a:rPr sz="1100" b="0">
                          <a:solidFill>
                            <a:srgbClr val="555F6B"/>
                          </a:solidFill>
                        </a:rPr>
                        <a:t>Eval đắt hơn guardrail vì Opus 5.5 vừa làm bài mẫu vừa chấm điểm</a:t>
                      </a:r>
                    </a:p>
                  </a:txBody>
                  <a:tcPr marL="45720" marR="45720" marT="18288" marB="18288">
                    <a:solidFill>
                      <a:srgbClr val="EEF3F8"/>
                    </a:solidFill>
                  </a:tcPr>
                </a:tc>
              </a:tr>
              <a:tr h="621792">
                <a:tc>
                  <a:txBody>
                    <a:bodyPr/>
                    <a:lstStyle/>
                    <a:p>
                      <a:r>
                        <a:rPr sz="1100" b="0">
                          <a:solidFill>
                            <a:srgbClr val="555F6B"/>
                          </a:solidFill>
                        </a:rPr>
                        <a:t>database</a:t>
                      </a:r>
                    </a:p>
                  </a:txBody>
                  <a:tcPr marL="45720" marR="45720" marT="18288" marB="18288">
                    <a:solidFill>
                      <a:srgbClr val="FFFFFF"/>
                    </a:solidFill>
                  </a:tcPr>
                </a:tc>
                <a:tc>
                  <a:txBody>
                    <a:bodyPr/>
                    <a:lstStyle/>
                    <a:p>
                      <a:r>
                        <a:rPr sz="1100" b="0">
                          <a:solidFill>
                            <a:srgbClr val="555F6B"/>
                          </a:solidFill>
                        </a:rPr>
                        <a:t>467</a:t>
                      </a:r>
                    </a:p>
                  </a:txBody>
                  <a:tcPr marL="45720" marR="45720" marT="18288" marB="18288">
                    <a:solidFill>
                      <a:srgbClr val="FFFFFF"/>
                    </a:solidFill>
                  </a:tcPr>
                </a:tc>
                <a:tc>
                  <a:txBody>
                    <a:bodyPr/>
                    <a:lstStyle/>
                    <a:p>
                      <a:r>
                        <a:rPr sz="1100" b="0">
                          <a:solidFill>
                            <a:srgbClr val="555F6B"/>
                          </a:solidFill>
                        </a:rPr>
                        <a:t>7%</a:t>
                      </a:r>
                    </a:p>
                  </a:txBody>
                  <a:tcPr marL="45720" marR="45720" marT="18288" marB="18288">
                    <a:solidFill>
                      <a:srgbClr val="FFFFFF"/>
                    </a:solidFill>
                  </a:tcPr>
                </a:tc>
                <a:tc>
                  <a:txBody>
                    <a:bodyPr/>
                    <a:lstStyle/>
                    <a:p>
                      <a:r>
                        <a:rPr sz="1100" b="0">
                          <a:solidFill>
                            <a:srgbClr val="555F6B"/>
                          </a:solidFill>
                        </a:rPr>
                        <a:t>Postgres HA 2 vCPU, 13 GB × 730 giờ = 355 · SSD 150 GB = 71 · database staging = 41</a:t>
                      </a:r>
                    </a:p>
                  </a:txBody>
                  <a:tcPr marL="45720" marR="45720" marT="18288" marB="18288">
                    <a:solidFill>
                      <a:srgbClr val="FFFFFF"/>
                    </a:solidFill>
                  </a:tcPr>
                </a:tc>
                <a:tc>
                  <a:txBody>
                    <a:bodyPr/>
                    <a:lstStyle/>
                    <a:p>
                      <a:r>
                        <a:rPr sz="1100" b="0">
                          <a:solidFill>
                            <a:srgbClr val="555F6B"/>
                          </a:solidFill>
                        </a:rPr>
                        <a:t>Chạy 24/7, có bản dự phòng ở zone khác. Chứa luôn vector và token, nên không cần dịch vụ riêng</a:t>
                      </a:r>
                    </a:p>
                  </a:txBody>
                  <a:tcPr marL="45720" marR="45720" marT="18288" marB="18288">
                    <a:solidFill>
                      <a:srgbClr val="FFFFFF"/>
                    </a:solidFill>
                  </a:tcPr>
                </a:tc>
              </a:tr>
              <a:tr h="621792">
                <a:tc>
                  <a:txBody>
                    <a:bodyPr/>
                    <a:lstStyle/>
                    <a:p>
                      <a:r>
                        <a:rPr sz="1100" b="0">
                          <a:solidFill>
                            <a:srgbClr val="555F6B"/>
                          </a:solidFill>
                        </a:rPr>
                        <a:t>sandbox</a:t>
                      </a:r>
                    </a:p>
                  </a:txBody>
                  <a:tcPr marL="45720" marR="45720" marT="18288" marB="18288">
                    <a:solidFill>
                      <a:srgbClr val="EEF3F8"/>
                    </a:solidFill>
                  </a:tcPr>
                </a:tc>
                <a:tc>
                  <a:txBody>
                    <a:bodyPr/>
                    <a:lstStyle/>
                    <a:p>
                      <a:r>
                        <a:rPr sz="1100" b="0">
                          <a:solidFill>
                            <a:srgbClr val="555F6B"/>
                          </a:solidFill>
                        </a:rPr>
                        <a:t>315</a:t>
                      </a:r>
                    </a:p>
                  </a:txBody>
                  <a:tcPr marL="45720" marR="45720" marT="18288" marB="18288">
                    <a:solidFill>
                      <a:srgbClr val="EEF3F8"/>
                    </a:solidFill>
                  </a:tcPr>
                </a:tc>
                <a:tc>
                  <a:txBody>
                    <a:bodyPr/>
                    <a:lstStyle/>
                    <a:p>
                      <a:r>
                        <a:rPr sz="1100" b="0">
                          <a:solidFill>
                            <a:srgbClr val="555F6B"/>
                          </a:solidFill>
                        </a:rPr>
                        <a:t>5%</a:t>
                      </a:r>
                    </a:p>
                  </a:txBody>
                  <a:tcPr marL="45720" marR="45720" marT="18288" marB="18288">
                    <a:solidFill>
                      <a:srgbClr val="EEF3F8"/>
                    </a:solidFill>
                  </a:tcPr>
                </a:tc>
                <a:tc>
                  <a:txBody>
                    <a:bodyPr/>
                    <a:lstStyle/>
                    <a:p>
                      <a:r>
                        <a:rPr sz="1100" b="0">
                          <a:solidFill>
                            <a:srgbClr val="555F6B"/>
                          </a:solidFill>
                        </a:rPr>
                        <a:t>140.800 lượt × 2 phút = 4.693 vCPU-giờ × 0,0549 + 9.386 GB-giờ × 0,0061</a:t>
                      </a:r>
                    </a:p>
                  </a:txBody>
                  <a:tcPr marL="45720" marR="45720" marT="18288" marB="18288">
                    <a:solidFill>
                      <a:srgbClr val="EEF3F8"/>
                    </a:solidFill>
                  </a:tcPr>
                </a:tc>
                <a:tc>
                  <a:txBody>
                    <a:bodyPr/>
                    <a:lstStyle/>
                    <a:p>
                      <a:r>
                        <a:rPr sz="1100" b="0">
                          <a:solidFill>
                            <a:srgbClr val="555F6B"/>
                          </a:solidFill>
                        </a:rPr>
                        <a:t>Là cận trên: thời gian chạy thật chưa đo, nên mỗi lượt tính đủ 2 phút tối đa</a:t>
                      </a:r>
                    </a:p>
                  </a:txBody>
                  <a:tcPr marL="45720" marR="45720" marT="18288" marB="18288">
                    <a:solidFill>
                      <a:srgbClr val="EEF3F8"/>
                    </a:solidFill>
                  </a:tcPr>
                </a:tc>
              </a:tr>
              <a:tr h="621792">
                <a:tc>
                  <a:txBody>
                    <a:bodyPr/>
                    <a:lstStyle/>
                    <a:p>
                      <a:r>
                        <a:rPr sz="1100" b="0">
                          <a:solidFill>
                            <a:srgbClr val="555F6B"/>
                          </a:solidFill>
                        </a:rPr>
                        <a:t>10 khoản còn lại</a:t>
                      </a:r>
                    </a:p>
                  </a:txBody>
                  <a:tcPr marL="45720" marR="45720" marT="18288" marB="18288">
                    <a:solidFill>
                      <a:srgbClr val="FFFFFF"/>
                    </a:solidFill>
                  </a:tcPr>
                </a:tc>
                <a:tc>
                  <a:txBody>
                    <a:bodyPr/>
                    <a:lstStyle/>
                    <a:p>
                      <a:r>
                        <a:rPr sz="1100" b="0">
                          <a:solidFill>
                            <a:srgbClr val="555F6B"/>
                          </a:solidFill>
                        </a:rPr>
                        <a:t>741</a:t>
                      </a:r>
                    </a:p>
                  </a:txBody>
                  <a:tcPr marL="45720" marR="45720" marT="18288" marB="18288">
                    <a:solidFill>
                      <a:srgbClr val="FFFFFF"/>
                    </a:solidFill>
                  </a:tcPr>
                </a:tc>
                <a:tc>
                  <a:txBody>
                    <a:bodyPr/>
                    <a:lstStyle/>
                    <a:p>
                      <a:r>
                        <a:rPr sz="1100" b="0">
                          <a:solidFill>
                            <a:srgbClr val="555F6B"/>
                          </a:solidFill>
                        </a:rPr>
                        <a:t>11%</a:t>
                      </a:r>
                    </a:p>
                  </a:txBody>
                  <a:tcPr marL="45720" marR="45720" marT="18288" marB="18288">
                    <a:solidFill>
                      <a:srgbClr val="FFFFFF"/>
                    </a:solidFill>
                  </a:tcPr>
                </a:tc>
                <a:tc>
                  <a:txBody>
                    <a:bodyPr/>
                    <a:lstStyle/>
                    <a:p>
                      <a:r>
                        <a:rPr sz="1100" b="0">
                          <a:solidFill>
                            <a:srgbClr val="555F6B"/>
                          </a:solidFill>
                        </a:rPr>
                        <a:t>compute 284 · backup_dr 164 · object_storage 83 · network 64 · cache_queue 56 · …</a:t>
                      </a:r>
                    </a:p>
                  </a:txBody>
                  <a:tcPr marL="45720" marR="45720" marT="18288" marB="18288">
                    <a:solidFill>
                      <a:srgbClr val="FFFFFF"/>
                    </a:solidFill>
                  </a:tcPr>
                </a:tc>
                <a:tc>
                  <a:txBody>
                    <a:bodyPr/>
                    <a:lstStyle/>
                    <a:p>
                      <a:r>
                        <a:rPr sz="1100" b="0">
                          <a:solidFill>
                            <a:srgbClr val="555F6B"/>
                          </a:solidFill>
                        </a:rPr>
                        <a:t>Hạ tầng gọn: 1 cụm GKE, 1 region, phần lớn chỉ chạy đủ trong giờ hành chính</a:t>
                      </a:r>
                    </a:p>
                  </a:txBody>
                  <a:tcPr marL="45720" marR="45720" marT="18288" marB="18288">
                    <a:solidFill>
                      <a:srgbClr val="FFFFFF"/>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100" b="0">
                <a:solidFill>
                  <a:srgbClr val="555F6B"/>
                </a:solidFill>
              </a:rPr>
              <a:t>Đơn giá và bằng chứng từng dòng: Phụ lục A và G03_baogia.xlsx. Không dùng free tier, credit hay giá khuyến mãi.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Đòn bẩy: mỗi lựa chọn tiết kiệm bao nhiêu</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Tiết kiệm = chi phí của phương án thay thế − chi phí của phương án nhóm chọn. Đơn vị: USD/tháng</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11b</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3474720"/>
                <a:gridCol w="1188720"/>
                <a:gridCol w="6583680"/>
              </a:tblGrid>
              <a:tr h="457200">
                <a:tc>
                  <a:txBody>
                    <a:bodyPr/>
                    <a:lstStyle/>
                    <a:p>
                      <a:r>
                        <a:rPr sz="1200" b="1">
                          <a:solidFill>
                            <a:srgbClr val="FFFFFF"/>
                          </a:solidFill>
                        </a:rPr>
                        <a:t>Đòn bẩy</a:t>
                      </a:r>
                    </a:p>
                  </a:txBody>
                  <a:tcPr marL="45720" marR="45720" marT="18288" marB="18288">
                    <a:solidFill>
                      <a:srgbClr val="2E6FB7"/>
                    </a:solidFill>
                  </a:tcPr>
                </a:tc>
                <a:tc>
                  <a:txBody>
                    <a:bodyPr/>
                    <a:lstStyle/>
                    <a:p>
                      <a:r>
                        <a:rPr sz="1200" b="1">
                          <a:solidFill>
                            <a:srgbClr val="FFFFFF"/>
                          </a:solidFill>
                        </a:rPr>
                        <a:t>Tiết kiệm</a:t>
                      </a:r>
                    </a:p>
                  </a:txBody>
                  <a:tcPr marL="45720" marR="45720" marT="18288" marB="18288">
                    <a:solidFill>
                      <a:srgbClr val="2E6FB7"/>
                    </a:solidFill>
                  </a:tcPr>
                </a:tc>
                <a:tc>
                  <a:txBody>
                    <a:bodyPr/>
                    <a:lstStyle/>
                    <a:p>
                      <a:r>
                        <a:rPr sz="1200" b="1">
                          <a:solidFill>
                            <a:srgbClr val="FFFFFF"/>
                          </a:solidFill>
                        </a:rPr>
                        <a:t>Cách tính</a:t>
                      </a:r>
                    </a:p>
                  </a:txBody>
                  <a:tcPr marL="45720" marR="45720" marT="18288" marB="18288">
                    <a:solidFill>
                      <a:srgbClr val="2E6FB7"/>
                    </a:solidFill>
                  </a:tcPr>
                </a:tc>
              </a:tr>
              <a:tr h="457200">
                <a:tc>
                  <a:txBody>
                    <a:bodyPr/>
                    <a:lstStyle/>
                    <a:p>
                      <a:r>
                        <a:rPr sz="1200" b="0">
                          <a:solidFill>
                            <a:srgbClr val="555F6B"/>
                          </a:solidFill>
                        </a:rPr>
                        <a:t>Haiku cho cả 5 cấp, thay Sonnet ở cấp 3–4</a:t>
                      </a:r>
                    </a:p>
                  </a:txBody>
                  <a:tcPr marL="45720" marR="45720" marT="18288" marB="18288">
                    <a:solidFill>
                      <a:srgbClr val="EEF3F8"/>
                    </a:solidFill>
                  </a:tcPr>
                </a:tc>
                <a:tc>
                  <a:txBody>
                    <a:bodyPr/>
                    <a:lstStyle/>
                    <a:p>
                      <a:r>
                        <a:rPr sz="1200" b="0">
                          <a:solidFill>
                            <a:srgbClr val="555F6B"/>
                          </a:solidFill>
                        </a:rPr>
                        <a:t>4.705</a:t>
                      </a:r>
                    </a:p>
                  </a:txBody>
                  <a:tcPr marL="45720" marR="45720" marT="18288" marB="18288">
                    <a:solidFill>
                      <a:srgbClr val="EEF3F8"/>
                    </a:solidFill>
                  </a:tcPr>
                </a:tc>
                <a:tc>
                  <a:txBody>
                    <a:bodyPr/>
                    <a:lstStyle/>
                    <a:p>
                      <a:r>
                        <a:rPr sz="1200" b="0">
                          <a:solidFill>
                            <a:srgbClr val="555F6B"/>
                          </a:solidFill>
                        </a:rPr>
                        <a:t>Sonnet cho cấp 3 tốn thêm 2.939, cấp 4 tốn thêm 1.766. Eval gate kiểm tra Haiku vẫn đạt ≥ 95% điểm Opus</a:t>
                      </a:r>
                    </a:p>
                  </a:txBody>
                  <a:tcPr marL="45720" marR="45720" marT="18288" marB="18288">
                    <a:solidFill>
                      <a:srgbClr val="EEF3F8"/>
                    </a:solidFill>
                  </a:tcPr>
                </a:tc>
              </a:tr>
              <a:tr h="457200">
                <a:tc>
                  <a:txBody>
                    <a:bodyPr/>
                    <a:lstStyle/>
                    <a:p>
                      <a:r>
                        <a:rPr sz="1200" b="0">
                          <a:solidFill>
                            <a:srgbClr val="555F6B"/>
                          </a:solidFill>
                        </a:rPr>
                        <a:t>LiteLLM thay Apigee</a:t>
                      </a:r>
                    </a:p>
                  </a:txBody>
                  <a:tcPr marL="45720" marR="45720" marT="18288" marB="18288">
                    <a:solidFill>
                      <a:srgbClr val="FFFFFF"/>
                    </a:solidFill>
                  </a:tcPr>
                </a:tc>
                <a:tc>
                  <a:txBody>
                    <a:bodyPr/>
                    <a:lstStyle/>
                    <a:p>
                      <a:r>
                        <a:rPr sz="1200" b="0">
                          <a:solidFill>
                            <a:srgbClr val="555F6B"/>
                          </a:solidFill>
                        </a:rPr>
                        <a:t>~1.595</a:t>
                      </a:r>
                    </a:p>
                  </a:txBody>
                  <a:tcPr marL="45720" marR="45720" marT="18288" marB="18288">
                    <a:solidFill>
                      <a:srgbClr val="FFFFFF"/>
                    </a:solidFill>
                  </a:tcPr>
                </a:tc>
                <a:tc>
                  <a:txBody>
                    <a:bodyPr/>
                    <a:lstStyle/>
                    <a:p>
                      <a:r>
                        <a:rPr sz="1200" b="0">
                          <a:solidFill>
                            <a:srgbClr val="555F6B"/>
                          </a:solidFill>
                        </a:rPr>
                        <a:t>Apigee: môi trường Intermediate 1.460 + phí theo lượt gọi. LiteLLM miễn phí, chạy trong compute</a:t>
                      </a:r>
                    </a:p>
                  </a:txBody>
                  <a:tcPr marL="45720" marR="45720" marT="18288" marB="18288">
                    <a:solidFill>
                      <a:srgbClr val="FFFFFF"/>
                    </a:solidFill>
                  </a:tcPr>
                </a:tc>
              </a:tr>
              <a:tr h="457200">
                <a:tc>
                  <a:txBody>
                    <a:bodyPr/>
                    <a:lstStyle/>
                    <a:p>
                      <a:r>
                        <a:rPr sz="1200" b="0">
                          <a:solidFill>
                            <a:srgbClr val="555F6B"/>
                          </a:solidFill>
                        </a:rPr>
                        <a:t>Guardrail chỉ quét text mới</a:t>
                      </a:r>
                    </a:p>
                  </a:txBody>
                  <a:tcPr marL="45720" marR="45720" marT="18288" marB="18288">
                    <a:solidFill>
                      <a:srgbClr val="EEF3F8"/>
                    </a:solidFill>
                  </a:tcPr>
                </a:tc>
                <a:tc>
                  <a:txBody>
                    <a:bodyPr/>
                    <a:lstStyle/>
                    <a:p>
                      <a:r>
                        <a:rPr sz="1200" b="0">
                          <a:solidFill>
                            <a:srgbClr val="555F6B"/>
                          </a:solidFill>
                        </a:rPr>
                        <a:t>1.018</a:t>
                      </a:r>
                    </a:p>
                  </a:txBody>
                  <a:tcPr marL="45720" marR="45720" marT="18288" marB="18288">
                    <a:solidFill>
                      <a:srgbClr val="EEF3F8"/>
                    </a:solidFill>
                  </a:tcPr>
                </a:tc>
                <a:tc>
                  <a:txBody>
                    <a:bodyPr/>
                    <a:lstStyle/>
                    <a:p>
                      <a:r>
                        <a:rPr sz="1200" b="0">
                          <a:solidFill>
                            <a:srgbClr val="555F6B"/>
                          </a:solidFill>
                        </a:rPr>
                        <a:t>Quét toàn bộ 12,98 tỉ token = 1.298 − quét 2,81 tỉ token mới = 281</a:t>
                      </a:r>
                    </a:p>
                  </a:txBody>
                  <a:tcPr marL="45720" marR="45720" marT="18288" marB="18288">
                    <a:solidFill>
                      <a:srgbClr val="EEF3F8"/>
                    </a:solidFill>
                  </a:tcPr>
                </a:tc>
              </a:tr>
              <a:tr h="457200">
                <a:tc>
                  <a:txBody>
                    <a:bodyPr/>
                    <a:lstStyle/>
                    <a:p>
                      <a:r>
                        <a:rPr sz="1200" b="0">
                          <a:solidFill>
                            <a:srgbClr val="555F6B"/>
                          </a:solidFill>
                        </a:rPr>
                        <a:t>Cất token bằng KMS trong Postgres</a:t>
                      </a:r>
                    </a:p>
                  </a:txBody>
                  <a:tcPr marL="45720" marR="45720" marT="18288" marB="18288">
                    <a:solidFill>
                      <a:srgbClr val="FFFFFF"/>
                    </a:solidFill>
                  </a:tcPr>
                </a:tc>
                <a:tc>
                  <a:txBody>
                    <a:bodyPr/>
                    <a:lstStyle/>
                    <a:p>
                      <a:r>
                        <a:rPr sz="1200" b="0">
                          <a:solidFill>
                            <a:srgbClr val="555F6B"/>
                          </a:solidFill>
                        </a:rPr>
                        <a:t>~716</a:t>
                      </a:r>
                    </a:p>
                  </a:txBody>
                  <a:tcPr marL="45720" marR="45720" marT="18288" marB="18288">
                    <a:solidFill>
                      <a:srgbClr val="FFFFFF"/>
                    </a:solidFill>
                  </a:tcPr>
                </a:tc>
                <a:tc>
                  <a:txBody>
                    <a:bodyPr/>
                    <a:lstStyle/>
                    <a:p>
                      <a:r>
                        <a:rPr sz="1200" b="0">
                          <a:solidFill>
                            <a:srgbClr val="555F6B"/>
                          </a:solidFill>
                        </a:rPr>
                        <a:t>12.000 secret × 0,06 = 720 − KMS ≈ 4</a:t>
                      </a:r>
                    </a:p>
                  </a:txBody>
                  <a:tcPr marL="45720" marR="45720" marT="18288" marB="18288">
                    <a:solidFill>
                      <a:srgbClr val="FFFFFF"/>
                    </a:solidFill>
                  </a:tcPr>
                </a:tc>
              </a:tr>
              <a:tr h="457200">
                <a:tc>
                  <a:txBody>
                    <a:bodyPr/>
                    <a:lstStyle/>
                    <a:p>
                      <a:r>
                        <a:rPr sz="1200" b="0">
                          <a:solidFill>
                            <a:srgbClr val="555F6B"/>
                          </a:solidFill>
                        </a:rPr>
                        <a:t>Prompt caching</a:t>
                      </a:r>
                    </a:p>
                  </a:txBody>
                  <a:tcPr marL="45720" marR="45720" marT="18288" marB="18288">
                    <a:solidFill>
                      <a:srgbClr val="EEF3F8"/>
                    </a:solidFill>
                  </a:tcPr>
                </a:tc>
                <a:tc>
                  <a:txBody>
                    <a:bodyPr/>
                    <a:lstStyle/>
                    <a:p>
                      <a:r>
                        <a:rPr sz="1200" b="0">
                          <a:solidFill>
                            <a:srgbClr val="555F6B"/>
                          </a:solidFill>
                        </a:rPr>
                        <a:t>670</a:t>
                      </a:r>
                    </a:p>
                  </a:txBody>
                  <a:tcPr marL="45720" marR="45720" marT="18288" marB="18288">
                    <a:solidFill>
                      <a:srgbClr val="EEF3F8"/>
                    </a:solidFill>
                  </a:tcPr>
                </a:tc>
                <a:tc>
                  <a:txBody>
                    <a:bodyPr/>
                    <a:lstStyle/>
                    <a:p>
                      <a:r>
                        <a:rPr sz="1200" b="0">
                          <a:solidFill>
                            <a:srgbClr val="555F6B"/>
                          </a:solidFill>
                        </a:rPr>
                        <a:t>7,44 tỉ token vào đọc từ cache × (0,10 − 0,01) USD/1M token</a:t>
                      </a:r>
                    </a:p>
                  </a:txBody>
                  <a:tcPr marL="45720" marR="45720" marT="18288" marB="18288">
                    <a:solidFill>
                      <a:srgbClr val="EEF3F8"/>
                    </a:solidFill>
                  </a:tcPr>
                </a:tc>
              </a:tr>
              <a:tr h="457200">
                <a:tc>
                  <a:txBody>
                    <a:bodyPr/>
                    <a:lstStyle/>
                    <a:p>
                      <a:r>
                        <a:rPr sz="1200" b="0">
                          <a:solidFill>
                            <a:srgbClr val="555F6B"/>
                          </a:solidFill>
                        </a:rPr>
                        <a:t>Ngoài giờ chỉ chạy 1 pod mỗi loại</a:t>
                      </a:r>
                    </a:p>
                  </a:txBody>
                  <a:tcPr marL="45720" marR="45720" marT="18288" marB="18288">
                    <a:solidFill>
                      <a:srgbClr val="FFFFFF"/>
                    </a:solidFill>
                  </a:tcPr>
                </a:tc>
                <a:tc>
                  <a:txBody>
                    <a:bodyPr/>
                    <a:lstStyle/>
                    <a:p>
                      <a:r>
                        <a:rPr sz="1200" b="0">
                          <a:solidFill>
                            <a:srgbClr val="555F6B"/>
                          </a:solidFill>
                        </a:rPr>
                        <a:t>109</a:t>
                      </a:r>
                    </a:p>
                  </a:txBody>
                  <a:tcPr marL="45720" marR="45720" marT="18288" marB="18288">
                    <a:solidFill>
                      <a:srgbClr val="FFFFFF"/>
                    </a:solidFill>
                  </a:tcPr>
                </a:tc>
                <a:tc>
                  <a:txBody>
                    <a:bodyPr/>
                    <a:lstStyle/>
                    <a:p>
                      <a:r>
                        <a:rPr sz="1200" b="0">
                          <a:solidFill>
                            <a:srgbClr val="555F6B"/>
                          </a:solidFill>
                        </a:rPr>
                        <a:t>510 giờ ngoài giờ × 3 loại pod: 1.530 vCPU-giờ × 0,0549 + 4.080 GB-giờ × 0,0061</a:t>
                      </a:r>
                    </a:p>
                  </a:txBody>
                  <a:tcPr marL="45720" marR="45720" marT="18288" marB="18288">
                    <a:solidFill>
                      <a:srgbClr val="FFFFFF"/>
                    </a:solidFill>
                  </a:tcPr>
                </a:tc>
              </a:tr>
              <a:tr h="457200">
                <a:tc>
                  <a:txBody>
                    <a:bodyPr/>
                    <a:lstStyle/>
                    <a:p>
                      <a:r>
                        <a:rPr sz="1200" b="0">
                          <a:solidFill>
                            <a:srgbClr val="555F6B"/>
                          </a:solidFill>
                        </a:rPr>
                        <a:t>pgvector trong Postgres</a:t>
                      </a:r>
                    </a:p>
                  </a:txBody>
                  <a:tcPr marL="45720" marR="45720" marT="18288" marB="18288">
                    <a:solidFill>
                      <a:srgbClr val="EEF3F8"/>
                    </a:solidFill>
                  </a:tcPr>
                </a:tc>
                <a:tc>
                  <a:txBody>
                    <a:bodyPr/>
                    <a:lstStyle/>
                    <a:p>
                      <a:r>
                        <a:rPr sz="1200" b="0">
                          <a:solidFill>
                            <a:srgbClr val="555F6B"/>
                          </a:solidFill>
                        </a:rPr>
                        <a:t>~84</a:t>
                      </a:r>
                    </a:p>
                  </a:txBody>
                  <a:tcPr marL="45720" marR="45720" marT="18288" marB="18288">
                    <a:solidFill>
                      <a:srgbClr val="EEF3F8"/>
                    </a:solidFill>
                  </a:tcPr>
                </a:tc>
                <a:tc>
                  <a:txBody>
                    <a:bodyPr/>
                    <a:lstStyle/>
                    <a:p>
                      <a:r>
                        <a:rPr sz="1200" b="0">
                          <a:solidFill>
                            <a:srgbClr val="555F6B"/>
                          </a:solidFill>
                        </a:rPr>
                        <a:t>Vertex Vector Search cần tối thiểu 1 máy chạy 24/7</a:t>
                      </a:r>
                    </a:p>
                  </a:txBody>
                  <a:tcPr marL="45720" marR="45720" marT="18288" marB="18288">
                    <a:solidFill>
                      <a:srgbClr val="EEF3F8"/>
                    </a:solidFill>
                  </a:tcPr>
                </a:tc>
              </a:tr>
              <a:tr h="457200">
                <a:tc>
                  <a:txBody>
                    <a:bodyPr/>
                    <a:lstStyle/>
                    <a:p>
                      <a:r>
                        <a:rPr sz="1200" b="0">
                          <a:solidFill>
                            <a:srgbClr val="555F6B"/>
                          </a:solidFill>
                        </a:rPr>
                        <a:t>Staging dùng chung cụm GKE</a:t>
                      </a:r>
                    </a:p>
                  </a:txBody>
                  <a:tcPr marL="45720" marR="45720" marT="18288" marB="18288">
                    <a:solidFill>
                      <a:srgbClr val="FFFFFF"/>
                    </a:solidFill>
                  </a:tcPr>
                </a:tc>
                <a:tc>
                  <a:txBody>
                    <a:bodyPr/>
                    <a:lstStyle/>
                    <a:p>
                      <a:r>
                        <a:rPr sz="1200" b="0">
                          <a:solidFill>
                            <a:srgbClr val="555F6B"/>
                          </a:solidFill>
                        </a:rPr>
                        <a:t>73</a:t>
                      </a:r>
                    </a:p>
                  </a:txBody>
                  <a:tcPr marL="45720" marR="45720" marT="18288" marB="18288">
                    <a:solidFill>
                      <a:srgbClr val="FFFFFF"/>
                    </a:solidFill>
                  </a:tcPr>
                </a:tc>
                <a:tc>
                  <a:txBody>
                    <a:bodyPr/>
                    <a:lstStyle/>
                    <a:p>
                      <a:r>
                        <a:rPr sz="1200" b="0">
                          <a:solidFill>
                            <a:srgbClr val="555F6B"/>
                          </a:solidFill>
                        </a:rPr>
                        <a:t>Cụm riêng mất thêm phí quản lý: 0,10 USD/giờ × 730 giờ</a:t>
                      </a:r>
                    </a:p>
                  </a:txBody>
                  <a:tcPr marL="45720" marR="45720" marT="18288" marB="18288">
                    <a:solidFill>
                      <a:srgbClr val="FFFFFF"/>
                    </a:solidFill>
                  </a:tcPr>
                </a:tc>
              </a:tr>
            </a:tbl>
          </a:graphicData>
        </a:graphic>
      </p:graphicFrame>
      <p:sp>
        <p:nvSpPr>
          <p:cNvPr id="8" name="TextBox 7"/>
          <p:cNvSpPr txBox="1"/>
          <p:nvPr/>
        </p:nvSpPr>
        <p:spPr>
          <a:xfrm>
            <a:off x="457200" y="5577840"/>
            <a:ext cx="11247120" cy="731520"/>
          </a:xfrm>
          <a:prstGeom prst="rect">
            <a:avLst/>
          </a:prstGeom>
          <a:noFill/>
        </p:spPr>
        <p:txBody>
          <a:bodyPr wrap="square">
            <a:spAutoFit/>
          </a:bodyPr>
          <a:lstStyle/>
          <a:p>
            <a:pPr algn="l">
              <a:spcAft>
                <a:spcPts val="400"/>
              </a:spcAft>
            </a:pPr>
            <a:r>
              <a:rPr sz="1100" b="0">
                <a:solidFill>
                  <a:srgbClr val="555F6B"/>
                </a:solidFill>
              </a:rPr>
              <a:t>Mỗi dòng so với một phương án thay thế riêng, nên không cộng dồn các dòng.</a:t>
            </a:r>
          </a:p>
          <a:p>
            <a:pPr algn="l">
              <a:spcAft>
                <a:spcPts val="400"/>
              </a:spcAft>
            </a:pPr>
            <a:r>
              <a:rPr sz="1100" b="0">
                <a:solidFill>
                  <a:srgbClr val="555F6B"/>
                </a:solidFill>
              </a:rPr>
              <a:t>Chưa tính phí ghi cache của Claude (ước tính vài %). Không mua gói support. Không có dòng dự phòng.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12. Rủi ro lớn nhất: Haiku không đạt eval ở cấp 3–4</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Khi đó chi phí lên 11.526 USD/tháng. Nhóm đã tính sẵn; LiteLLM đổi model bằng 1 dòng cấu hình</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12</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5760720" cy="2688336"/>
        </p:xfrm>
        <a:graphic>
          <a:graphicData uri="http://schemas.openxmlformats.org/drawingml/2006/table">
            <a:tbl>
              <a:tblPr firstRow="1" bandRow="1">
                <a:tableStyleId>{5C22544A-7EE6-4342-B048-85BDC9FD1C3A}</a:tableStyleId>
              </a:tblPr>
              <a:tblGrid>
                <a:gridCol w="3017520"/>
                <a:gridCol w="1371600"/>
                <a:gridCol w="1371600"/>
              </a:tblGrid>
              <a:tr h="384048">
                <a:tc>
                  <a:txBody>
                    <a:bodyPr/>
                    <a:lstStyle/>
                    <a:p>
                      <a:r>
                        <a:rPr sz="1200" b="1">
                          <a:solidFill>
                            <a:srgbClr val="FFFFFF"/>
                          </a:solidFill>
                        </a:rPr>
                        <a:t>Kịch bản</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USD/DAU</a:t>
                      </a:r>
                    </a:p>
                  </a:txBody>
                  <a:tcPr marL="45720" marR="45720" marT="18288" marB="18288">
                    <a:solidFill>
                      <a:srgbClr val="2E6FB7"/>
                    </a:solidFill>
                  </a:tcPr>
                </a:tc>
              </a:tr>
              <a:tr h="384048">
                <a:tc>
                  <a:txBody>
                    <a:bodyPr/>
                    <a:lstStyle/>
                    <a:p>
                      <a:r>
                        <a:rPr sz="1200" b="0">
                          <a:solidFill>
                            <a:srgbClr val="555F6B"/>
                          </a:solidFill>
                        </a:rPr>
                        <a:t>Cơ sở (2.000 DAU)</a:t>
                      </a:r>
                    </a:p>
                  </a:txBody>
                  <a:tcPr marL="45720" marR="45720" marT="18288" marB="18288">
                    <a:solidFill>
                      <a:srgbClr val="EEF3F8"/>
                    </a:solidFill>
                  </a:tcPr>
                </a:tc>
                <a:tc>
                  <a:txBody>
                    <a:bodyPr/>
                    <a:lstStyle/>
                    <a:p>
                      <a:r>
                        <a:rPr sz="1200" b="0">
                          <a:solidFill>
                            <a:srgbClr val="555F6B"/>
                          </a:solidFill>
                        </a:rPr>
                        <a:t>6.821</a:t>
                      </a:r>
                    </a:p>
                  </a:txBody>
                  <a:tcPr marL="45720" marR="45720" marT="18288" marB="18288">
                    <a:solidFill>
                      <a:srgbClr val="EEF3F8"/>
                    </a:solidFill>
                  </a:tcPr>
                </a:tc>
                <a:tc>
                  <a:txBody>
                    <a:bodyPr/>
                    <a:lstStyle/>
                    <a:p>
                      <a:r>
                        <a:rPr sz="1200" b="0">
                          <a:solidFill>
                            <a:srgbClr val="555F6B"/>
                          </a:solidFill>
                        </a:rPr>
                        <a:t>3,41</a:t>
                      </a:r>
                    </a:p>
                  </a:txBody>
                  <a:tcPr marL="45720" marR="45720" marT="18288" marB="18288">
                    <a:solidFill>
                      <a:srgbClr val="EEF3F8"/>
                    </a:solidFill>
                  </a:tcPr>
                </a:tc>
              </a:tr>
              <a:tr h="384048">
                <a:tc>
                  <a:txBody>
                    <a:bodyPr/>
                    <a:lstStyle/>
                    <a:p>
                      <a:r>
                        <a:rPr sz="1200" b="0">
                          <a:solidFill>
                            <a:srgbClr val="555F6B"/>
                          </a:solidFill>
                        </a:rPr>
                        <a:t>DAU gấp đôi = 4.000</a:t>
                      </a:r>
                    </a:p>
                  </a:txBody>
                  <a:tcPr marL="45720" marR="45720" marT="18288" marB="18288">
                    <a:solidFill>
                      <a:srgbClr val="FFFFFF"/>
                    </a:solidFill>
                  </a:tcPr>
                </a:tc>
                <a:tc>
                  <a:txBody>
                    <a:bodyPr/>
                    <a:lstStyle/>
                    <a:p>
                      <a:r>
                        <a:rPr sz="1200" b="0">
                          <a:solidFill>
                            <a:srgbClr val="555F6B"/>
                          </a:solidFill>
                        </a:rPr>
                        <a:t>8.826</a:t>
                      </a:r>
                    </a:p>
                  </a:txBody>
                  <a:tcPr marL="45720" marR="45720" marT="18288" marB="18288">
                    <a:solidFill>
                      <a:srgbClr val="FFFFFF"/>
                    </a:solidFill>
                  </a:tcPr>
                </a:tc>
                <a:tc>
                  <a:txBody>
                    <a:bodyPr/>
                    <a:lstStyle/>
                    <a:p>
                      <a:r>
                        <a:rPr sz="1200" b="0">
                          <a:solidFill>
                            <a:srgbClr val="555F6B"/>
                          </a:solidFill>
                        </a:rPr>
                        <a:t>2,21</a:t>
                      </a:r>
                    </a:p>
                  </a:txBody>
                  <a:tcPr marL="45720" marR="45720" marT="18288" marB="18288">
                    <a:solidFill>
                      <a:srgbClr val="FFFFFF"/>
                    </a:solidFill>
                  </a:tcPr>
                </a:tc>
              </a:tr>
              <a:tr h="384048">
                <a:tc>
                  <a:txBody>
                    <a:bodyPr/>
                    <a:lstStyle/>
                    <a:p>
                      <a:r>
                        <a:rPr sz="1200" b="0">
                          <a:solidFill>
                            <a:srgbClr val="555F6B"/>
                          </a:solidFill>
                        </a:rPr>
                        <a:t>Giá token +30%</a:t>
                      </a:r>
                    </a:p>
                  </a:txBody>
                  <a:tcPr marL="45720" marR="45720" marT="18288" marB="18288">
                    <a:solidFill>
                      <a:srgbClr val="EEF3F8"/>
                    </a:solidFill>
                  </a:tcPr>
                </a:tc>
                <a:tc>
                  <a:txBody>
                    <a:bodyPr/>
                    <a:lstStyle/>
                    <a:p>
                      <a:r>
                        <a:rPr sz="1200" b="0">
                          <a:solidFill>
                            <a:srgbClr val="555F6B"/>
                          </a:solidFill>
                        </a:rPr>
                        <a:t>7.263</a:t>
                      </a:r>
                    </a:p>
                  </a:txBody>
                  <a:tcPr marL="45720" marR="45720" marT="18288" marB="18288">
                    <a:solidFill>
                      <a:srgbClr val="EEF3F8"/>
                    </a:solidFill>
                  </a:tcPr>
                </a:tc>
                <a:tc>
                  <a:txBody>
                    <a:bodyPr/>
                    <a:lstStyle/>
                    <a:p>
                      <a:r>
                        <a:rPr sz="1200" b="0">
                          <a:solidFill>
                            <a:srgbClr val="555F6B"/>
                          </a:solidFill>
                        </a:rPr>
                        <a:t>3,63</a:t>
                      </a:r>
                    </a:p>
                  </a:txBody>
                  <a:tcPr marL="45720" marR="45720" marT="18288" marB="18288">
                    <a:solidFill>
                      <a:srgbClr val="EEF3F8"/>
                    </a:solidFill>
                  </a:tcPr>
                </a:tc>
              </a:tr>
              <a:tr h="384048">
                <a:tc>
                  <a:txBody>
                    <a:bodyPr/>
                    <a:lstStyle/>
                    <a:p>
                      <a:r>
                        <a:rPr sz="1200" b="0">
                          <a:solidFill>
                            <a:srgbClr val="555F6B"/>
                          </a:solidFill>
                        </a:rPr>
                        <a:t>Giá token −50%</a:t>
                      </a:r>
                    </a:p>
                  </a:txBody>
                  <a:tcPr marL="45720" marR="45720" marT="18288" marB="18288">
                    <a:solidFill>
                      <a:srgbClr val="FFFFFF"/>
                    </a:solidFill>
                  </a:tcPr>
                </a:tc>
                <a:tc>
                  <a:txBody>
                    <a:bodyPr/>
                    <a:lstStyle/>
                    <a:p>
                      <a:r>
                        <a:rPr sz="1200" b="0">
                          <a:solidFill>
                            <a:srgbClr val="555F6B"/>
                          </a:solidFill>
                        </a:rPr>
                        <a:t>6.085</a:t>
                      </a:r>
                    </a:p>
                  </a:txBody>
                  <a:tcPr marL="45720" marR="45720" marT="18288" marB="18288">
                    <a:solidFill>
                      <a:srgbClr val="FFFFFF"/>
                    </a:solidFill>
                  </a:tcPr>
                </a:tc>
                <a:tc>
                  <a:txBody>
                    <a:bodyPr/>
                    <a:lstStyle/>
                    <a:p>
                      <a:r>
                        <a:rPr sz="1200" b="0">
                          <a:solidFill>
                            <a:srgbClr val="555F6B"/>
                          </a:solidFill>
                        </a:rPr>
                        <a:t>3,04</a:t>
                      </a:r>
                    </a:p>
                  </a:txBody>
                  <a:tcPr marL="45720" marR="45720" marT="18288" marB="18288">
                    <a:solidFill>
                      <a:srgbClr val="FFFFFF"/>
                    </a:solidFill>
                  </a:tcPr>
                </a:tc>
              </a:tr>
              <a:tr h="384048">
                <a:tc>
                  <a:txBody>
                    <a:bodyPr/>
                    <a:lstStyle/>
                    <a:p>
                      <a:r>
                        <a:rPr sz="1200" b="0">
                          <a:solidFill>
                            <a:srgbClr val="555F6B"/>
                          </a:solidFill>
                        </a:rPr>
                        <a:t>Cấp 3–4 phải nâng lên Sonnet 5.5</a:t>
                      </a:r>
                    </a:p>
                  </a:txBody>
                  <a:tcPr marL="45720" marR="45720" marT="18288" marB="18288">
                    <a:solidFill>
                      <a:srgbClr val="EEF3F8"/>
                    </a:solidFill>
                  </a:tcPr>
                </a:tc>
                <a:tc>
                  <a:txBody>
                    <a:bodyPr/>
                    <a:lstStyle/>
                    <a:p>
                      <a:r>
                        <a:rPr sz="1200" b="0">
                          <a:solidFill>
                            <a:srgbClr val="555F6B"/>
                          </a:solidFill>
                        </a:rPr>
                        <a:t>11.526</a:t>
                      </a:r>
                    </a:p>
                  </a:txBody>
                  <a:tcPr marL="45720" marR="45720" marT="18288" marB="18288">
                    <a:solidFill>
                      <a:srgbClr val="EEF3F8"/>
                    </a:solidFill>
                  </a:tcPr>
                </a:tc>
                <a:tc>
                  <a:txBody>
                    <a:bodyPr/>
                    <a:lstStyle/>
                    <a:p>
                      <a:r>
                        <a:rPr sz="1200" b="0">
                          <a:solidFill>
                            <a:srgbClr val="555F6B"/>
                          </a:solidFill>
                        </a:rPr>
                        <a:t>5,76</a:t>
                      </a:r>
                    </a:p>
                  </a:txBody>
                  <a:tcPr marL="45720" marR="45720" marT="18288" marB="18288">
                    <a:solidFill>
                      <a:srgbClr val="EEF3F8"/>
                    </a:solidFill>
                  </a:tcPr>
                </a:tc>
              </a:tr>
              <a:tr h="384048">
                <a:tc>
                  <a:txBody>
                    <a:bodyPr/>
                    <a:lstStyle/>
                    <a:p>
                      <a:r>
                        <a:rPr sz="1200" b="0">
                          <a:solidFill>
                            <a:srgbClr val="555F6B"/>
                          </a:solidFill>
                        </a:rPr>
                        <a:t>Workspace đầy 20 TB</a:t>
                      </a:r>
                    </a:p>
                  </a:txBody>
                  <a:tcPr marL="45720" marR="45720" marT="18288" marB="18288">
                    <a:solidFill>
                      <a:srgbClr val="FFFFFF"/>
                    </a:solidFill>
                  </a:tcPr>
                </a:tc>
                <a:tc>
                  <a:txBody>
                    <a:bodyPr/>
                    <a:lstStyle/>
                    <a:p>
                      <a:r>
                        <a:rPr sz="1200" b="0">
                          <a:solidFill>
                            <a:srgbClr val="555F6B"/>
                          </a:solidFill>
                        </a:rPr>
                        <a:t>+ ~704</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4297680"/>
            <a:ext cx="5760720" cy="1828800"/>
          </a:xfrm>
          <a:prstGeom prst="rect">
            <a:avLst/>
          </a:prstGeom>
          <a:noFill/>
        </p:spPr>
        <p:txBody>
          <a:bodyPr wrap="square">
            <a:spAutoFit/>
          </a:bodyPr>
          <a:lstStyle/>
          <a:p>
            <a:pPr algn="l">
              <a:spcAft>
                <a:spcPts val="400"/>
              </a:spcAft>
            </a:pPr>
            <a:r>
              <a:rPr sz="1200" b="1">
                <a:solidFill>
                  <a:srgbClr val="555F6B"/>
                </a:solidFill>
              </a:rPr>
              <a:t>Khi DAU gấp đôi, USD/DAU giảm</a:t>
            </a:r>
          </a:p>
          <a:p>
            <a:pPr algn="l">
              <a:spcAft>
                <a:spcPts val="400"/>
              </a:spcAft>
            </a:pPr>
            <a:r>
              <a:rPr sz="1200" b="0">
                <a:solidFill>
                  <a:srgbClr val="555F6B"/>
                </a:solidFill>
              </a:rPr>
              <a:t>Tăng theo lượt dùng: LLM, guardrail, sandbox, lưu trữ, log</a:t>
            </a:r>
          </a:p>
          <a:p>
            <a:pPr algn="l">
              <a:spcAft>
                <a:spcPts val="400"/>
              </a:spcAft>
            </a:pPr>
            <a:r>
              <a:rPr sz="1200" b="0">
                <a:solidFill>
                  <a:srgbClr val="555F6B"/>
                </a:solidFill>
              </a:rPr>
              <a:t>Gần như cố định: 2 kỹ sư, cụm GKE, database, cache, cân bằng tải</a:t>
            </a:r>
          </a:p>
          <a:p>
            <a:pPr algn="l">
              <a:spcAft>
                <a:spcPts val="400"/>
              </a:spcAft>
            </a:pPr>
            <a:r>
              <a:rPr sz="1200" b="0">
                <a:solidFill>
                  <a:srgbClr val="555F6B"/>
                </a:solidFill>
              </a:rPr>
              <a:t>Chỉ xét tự host GPU khi tiền token vượt chi phí chạy ≥ 2 GPU 24/7 cộng vận hành</a:t>
            </a:r>
          </a:p>
        </p:txBody>
      </p:sp>
      <p:sp>
        <p:nvSpPr>
          <p:cNvPr id="9" name="TextBox 8"/>
          <p:cNvSpPr txBox="1"/>
          <p:nvPr/>
        </p:nvSpPr>
        <p:spPr>
          <a:xfrm>
            <a:off x="6492240" y="1371600"/>
            <a:ext cx="5303520" cy="4754880"/>
          </a:xfrm>
          <a:prstGeom prst="rect">
            <a:avLst/>
          </a:prstGeom>
          <a:noFill/>
        </p:spPr>
        <p:txBody>
          <a:bodyPr wrap="square">
            <a:spAutoFit/>
          </a:bodyPr>
          <a:lstStyle/>
          <a:p>
            <a:pPr algn="l">
              <a:spcAft>
                <a:spcPts val="400"/>
              </a:spcAft>
            </a:pPr>
            <a:r>
              <a:rPr sz="1200" b="1">
                <a:solidFill>
                  <a:srgbClr val="555F6B"/>
                </a:solidFill>
              </a:rPr>
              <a:t>Các rủi ro khác và cách xử lý</a:t>
            </a:r>
          </a:p>
          <a:p>
            <a:pPr algn="l">
              <a:spcAft>
                <a:spcPts val="400"/>
              </a:spcAft>
            </a:pPr>
            <a:r>
              <a:rPr sz="1200" b="0">
                <a:solidFill>
                  <a:srgbClr val="555F6B"/>
                </a:solidFill>
              </a:rPr>
              <a:t>Token thực tế khác giả định: nhóm dùng 13 tỉ token/tháng, khoảng có thể là 4,6–42,8 tỉ → đo trong pilot 2–4 tuần</a:t>
            </a:r>
          </a:p>
          <a:p>
            <a:pPr algn="l">
              <a:spcAft>
                <a:spcPts val="400"/>
              </a:spcAft>
            </a:pPr>
            <a:r>
              <a:rPr sz="1200" b="0">
                <a:solidFill>
                  <a:srgbClr val="555F6B"/>
                </a:solidFill>
              </a:rPr>
              <a:t>Luật bảo vệ dữ liệu cá nhân (Nghị định 13/2023): Vertex AI dùng endpoint global → dữ liệu nhạy cảm dùng model chạy tại Singapore</a:t>
            </a:r>
          </a:p>
          <a:p>
            <a:pPr algn="l">
              <a:spcAft>
                <a:spcPts val="400"/>
              </a:spcAft>
            </a:pPr>
            <a:r>
              <a:rPr sz="1200" b="0">
                <a:solidFill>
                  <a:srgbClr val="555F6B"/>
                </a:solidFill>
              </a:rPr>
              <a:t>LiteLLM là open source, không có SLA → 2 kỹ sư trực, cố định phiên bản, test trên staging</a:t>
            </a:r>
          </a:p>
          <a:p>
            <a:pPr algn="l">
              <a:spcAft>
                <a:spcPts val="400"/>
              </a:spcAft>
            </a:pPr>
            <a:r>
              <a:rPr sz="1200" b="0">
                <a:solidFill>
                  <a:srgbClr val="555F6B"/>
                </a:solidFill>
              </a:rPr>
              <a:t>Rate limit Jira/Confluence dùng chung cho cả app (65.000 điểm/giờ) → hàng đợi và thử lại</a:t>
            </a:r>
          </a:p>
          <a:p>
            <a:pPr algn="l">
              <a:spcAft>
                <a:spcPts val="400"/>
              </a:spcAft>
            </a:pPr>
            <a:r>
              <a:rPr sz="1200" b="0">
                <a:solidFill>
                  <a:srgbClr val="555F6B"/>
                </a:solidFill>
              </a:rPr>
              <a:t>Google dự kiến tính phí API Workspace từ cuối 2026 (chưa công bố giá)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A. Báo giá theo component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Chi tiết từng dòng (đơn giá × số lượng, kèm bằng chứng) nằm trong G03_baogia.xlsx</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A</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5486400" cy="4224528"/>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compute</a:t>
                      </a:r>
                    </a:p>
                  </a:txBody>
                  <a:tcPr marL="45720" marR="45720" marT="18288" marB="18288">
                    <a:solidFill>
                      <a:srgbClr val="EEF3F8"/>
                    </a:solidFill>
                  </a:tcPr>
                </a:tc>
                <a:tc>
                  <a:txBody>
                    <a:bodyPr/>
                    <a:lstStyle/>
                    <a:p>
                      <a:r>
                        <a:rPr sz="1200" b="0">
                          <a:solidFill>
                            <a:srgbClr val="555F6B"/>
                          </a:solidFill>
                        </a:rPr>
                        <a:t>284,15</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1.093,34</a:t>
                      </a:r>
                    </a:p>
                  </a:txBody>
                  <a:tcPr marL="45720" marR="45720" marT="18288" marB="18288">
                    <a:solidFill>
                      <a:srgbClr val="FFFFFF"/>
                    </a:solidFill>
                  </a:tcPr>
                </a:tc>
              </a:tr>
              <a:tr h="384048">
                <a:tc>
                  <a:txBody>
                    <a:bodyPr/>
                    <a:lstStyle/>
                    <a:p>
                      <a:r>
                        <a:rPr sz="1200" b="0">
                          <a:solidFill>
                            <a:srgbClr val="555F6B"/>
                          </a:solidFill>
                        </a:rPr>
                        <a:t>embedding</a:t>
                      </a:r>
                    </a:p>
                  </a:txBody>
                  <a:tcPr marL="45720" marR="45720" marT="18288" marB="18288">
                    <a:solidFill>
                      <a:srgbClr val="EEF3F8"/>
                    </a:solidFill>
                  </a:tcPr>
                </a:tc>
                <a:tc>
                  <a:txBody>
                    <a:bodyPr/>
                    <a:lstStyle/>
                    <a:p>
                      <a:r>
                        <a:rPr sz="1200" b="0">
                          <a:solidFill>
                            <a:srgbClr val="555F6B"/>
                          </a:solidFill>
                        </a:rPr>
                        <a:t>19,50</a:t>
                      </a:r>
                    </a:p>
                  </a:txBody>
                  <a:tcPr marL="45720" marR="45720" marT="18288" marB="18288">
                    <a:solidFill>
                      <a:srgbClr val="EEF3F8"/>
                    </a:solidFill>
                  </a:tcPr>
                </a:tc>
              </a:tr>
              <a:tr h="384048">
                <a:tc>
                  <a:txBody>
                    <a:bodyPr/>
                    <a:lstStyle/>
                    <a:p>
                      <a:r>
                        <a:rPr sz="1200" b="0">
                          <a:solidFill>
                            <a:srgbClr val="555F6B"/>
                          </a:solidFill>
                        </a:rPr>
                        <a:t>gateway</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load_balancer</a:t>
                      </a:r>
                    </a:p>
                  </a:txBody>
                  <a:tcPr marL="45720" marR="45720" marT="18288" marB="18288">
                    <a:solidFill>
                      <a:srgbClr val="EEF3F8"/>
                    </a:solidFill>
                  </a:tcPr>
                </a:tc>
                <a:tc>
                  <a:txBody>
                    <a:bodyPr/>
                    <a:lstStyle/>
                    <a:p>
                      <a:r>
                        <a:rPr sz="1200" b="0">
                          <a:solidFill>
                            <a:srgbClr val="555F6B"/>
                          </a:solidFill>
                        </a:rPr>
                        <a:t>29,44</a:t>
                      </a:r>
                    </a:p>
                  </a:txBody>
                  <a:tcPr marL="45720" marR="45720" marT="18288" marB="18288">
                    <a:solidFill>
                      <a:srgbClr val="EEF3F8"/>
                    </a:solidFill>
                  </a:tcPr>
                </a:tc>
              </a:tr>
              <a:tr h="384048">
                <a:tc>
                  <a:txBody>
                    <a:bodyPr/>
                    <a:lstStyle/>
                    <a:p>
                      <a:r>
                        <a:rPr sz="1200" b="0">
                          <a:solidFill>
                            <a:srgbClr val="555F6B"/>
                          </a:solidFill>
                        </a:rPr>
                        <a:t>authn</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authz</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466,71</a:t>
                      </a:r>
                    </a:p>
                  </a:txBody>
                  <a:tcPr marL="45720" marR="45720" marT="18288" marB="18288">
                    <a:solidFill>
                      <a:srgbClr val="FFFFFF"/>
                    </a:solidFill>
                  </a:tcPr>
                </a:tc>
              </a:tr>
              <a:tr h="384048">
                <a:tc>
                  <a:txBody>
                    <a:bodyPr/>
                    <a:lstStyle/>
                    <a:p>
                      <a:r>
                        <a:rPr sz="1200" b="0">
                          <a:solidFill>
                            <a:srgbClr val="555F6B"/>
                          </a:solidFill>
                        </a:rPr>
                        <a:t>vector_db</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object_storage</a:t>
                      </a:r>
                    </a:p>
                  </a:txBody>
                  <a:tcPr marL="45720" marR="45720" marT="18288" marB="18288">
                    <a:solidFill>
                      <a:srgbClr val="FFFFFF"/>
                    </a:solidFill>
                  </a:tcPr>
                </a:tc>
                <a:tc>
                  <a:txBody>
                    <a:bodyPr/>
                    <a:lstStyle/>
                    <a:p>
                      <a:r>
                        <a:rPr sz="1200" b="0">
                          <a:solidFill>
                            <a:srgbClr val="555F6B"/>
                          </a:solidFill>
                        </a:rPr>
                        <a:t>82,80</a:t>
                      </a:r>
                    </a:p>
                  </a:txBody>
                  <a:tcPr marL="45720" marR="45720" marT="18288" marB="18288">
                    <a:solidFill>
                      <a:srgbClr val="FFFFFF"/>
                    </a:solidFill>
                  </a:tcPr>
                </a:tc>
              </a:tr>
            </a:tbl>
          </a:graphicData>
        </a:graphic>
      </p:graphicFrame>
      <p:graphicFrame>
        <p:nvGraphicFramePr>
          <p:cNvPr id="8" name="Table 7"/>
          <p:cNvGraphicFramePr>
            <a:graphicFrameLocks noGrp="1"/>
          </p:cNvGraphicFramePr>
          <p:nvPr/>
        </p:nvGraphicFramePr>
        <p:xfrm>
          <a:off x="6309360" y="1371600"/>
          <a:ext cx="5486400" cy="4608576"/>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cache_queue</a:t>
                      </a:r>
                    </a:p>
                  </a:txBody>
                  <a:tcPr marL="45720" marR="45720" marT="18288" marB="18288">
                    <a:solidFill>
                      <a:srgbClr val="EEF3F8"/>
                    </a:solidFill>
                  </a:tcPr>
                </a:tc>
                <a:tc>
                  <a:txBody>
                    <a:bodyPr/>
                    <a:lstStyle/>
                    <a:p>
                      <a:r>
                        <a:rPr sz="1200" b="0">
                          <a:solidFill>
                            <a:srgbClr val="555F6B"/>
                          </a:solidFill>
                        </a:rPr>
                        <a:t>55,75</a:t>
                      </a:r>
                    </a:p>
                  </a:txBody>
                  <a:tcPr marL="45720" marR="45720" marT="18288" marB="18288">
                    <a:solidFill>
                      <a:srgbClr val="EEF3F8"/>
                    </a:solidFill>
                  </a:tcPr>
                </a:tc>
              </a:tr>
              <a:tr h="384048">
                <a:tc>
                  <a:txBody>
                    <a:bodyPr/>
                    <a:lstStyle/>
                    <a:p>
                      <a:r>
                        <a:rPr sz="1200" b="0">
                          <a:solidFill>
                            <a:srgbClr val="555F6B"/>
                          </a:solidFill>
                        </a:rPr>
                        <a:t>sandbox</a:t>
                      </a:r>
                    </a:p>
                  </a:txBody>
                  <a:tcPr marL="45720" marR="45720" marT="18288" marB="18288">
                    <a:solidFill>
                      <a:srgbClr val="FFFFFF"/>
                    </a:solidFill>
                  </a:tcPr>
                </a:tc>
                <a:tc>
                  <a:txBody>
                    <a:bodyPr/>
                    <a:lstStyle/>
                    <a:p>
                      <a:r>
                        <a:rPr sz="1200" b="0">
                          <a:solidFill>
                            <a:srgbClr val="555F6B"/>
                          </a:solidFill>
                        </a:rPr>
                        <a:t>314,64</a:t>
                      </a:r>
                    </a:p>
                  </a:txBody>
                  <a:tcPr marL="45720" marR="45720" marT="18288" marB="18288">
                    <a:solidFill>
                      <a:srgbClr val="FFFFFF"/>
                    </a:solidFill>
                  </a:tcPr>
                </a:tc>
              </a:tr>
              <a:tr h="384048">
                <a:tc>
                  <a:txBody>
                    <a:bodyPr/>
                    <a:lstStyle/>
                    <a:p>
                      <a:r>
                        <a:rPr sz="1200" b="0">
                          <a:solidFill>
                            <a:srgbClr val="555F6B"/>
                          </a:solidFill>
                        </a:rPr>
                        <a:t>connectors</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secrets_kms</a:t>
                      </a:r>
                    </a:p>
                  </a:txBody>
                  <a:tcPr marL="45720" marR="45720" marT="18288" marB="18288">
                    <a:solidFill>
                      <a:srgbClr val="FFFFFF"/>
                    </a:solidFill>
                  </a:tcPr>
                </a:tc>
                <a:tc>
                  <a:txBody>
                    <a:bodyPr/>
                    <a:lstStyle/>
                    <a:p>
                      <a:r>
                        <a:rPr sz="1200" b="0">
                          <a:solidFill>
                            <a:srgbClr val="555F6B"/>
                          </a:solidFill>
                        </a:rPr>
                        <a:t>3,96</a:t>
                      </a:r>
                    </a:p>
                  </a:txBody>
                  <a:tcPr marL="45720" marR="45720" marT="18288" marB="18288">
                    <a:solidFill>
                      <a:srgbClr val="FFFFFF"/>
                    </a:solidFill>
                  </a:tcPr>
                </a:tc>
              </a:tr>
              <a:tr h="384048">
                <a:tc>
                  <a:txBody>
                    <a:bodyPr/>
                    <a:lstStyle/>
                    <a:p>
                      <a:r>
                        <a:rPr sz="1200" b="0">
                          <a:solidFill>
                            <a:srgbClr val="555F6B"/>
                          </a:solidFill>
                        </a:rPr>
                        <a:t>backup_dr</a:t>
                      </a:r>
                    </a:p>
                  </a:txBody>
                  <a:tcPr marL="45720" marR="45720" marT="18288" marB="18288">
                    <a:solidFill>
                      <a:srgbClr val="EEF3F8"/>
                    </a:solidFill>
                  </a:tcPr>
                </a:tc>
                <a:tc>
                  <a:txBody>
                    <a:bodyPr/>
                    <a:lstStyle/>
                    <a:p>
                      <a:r>
                        <a:rPr sz="1200" b="0">
                          <a:solidFill>
                            <a:srgbClr val="555F6B"/>
                          </a:solidFill>
                        </a:rPr>
                        <a:t>164,40</a:t>
                      </a:r>
                    </a:p>
                  </a:txBody>
                  <a:tcPr marL="45720" marR="45720" marT="18288" marB="18288">
                    <a:solidFill>
                      <a:srgbClr val="EEF3F8"/>
                    </a:solidFill>
                  </a:tcPr>
                </a:tc>
              </a:tr>
              <a:tr h="384048">
                <a:tc>
                  <a:txBody>
                    <a:bodyPr/>
                    <a:lstStyle/>
                    <a:p>
                      <a:r>
                        <a:rPr sz="1200" b="0">
                          <a:solidFill>
                            <a:srgbClr val="555F6B"/>
                          </a:solidFill>
                        </a:rPr>
                        <a:t>monitoring</a:t>
                      </a:r>
                    </a:p>
                  </a:txBody>
                  <a:tcPr marL="45720" marR="45720" marT="18288" marB="18288">
                    <a:solidFill>
                      <a:srgbClr val="FFFFFF"/>
                    </a:solidFill>
                  </a:tcPr>
                </a:tc>
                <a:tc>
                  <a:txBody>
                    <a:bodyPr/>
                    <a:lstStyle/>
                    <a:p>
                      <a:r>
                        <a:rPr sz="1200" b="0">
                          <a:solidFill>
                            <a:srgbClr val="555F6B"/>
                          </a:solidFill>
                        </a:rPr>
                        <a:t>22,51</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805,98</a:t>
                      </a:r>
                    </a:p>
                  </a:txBody>
                  <a:tcPr marL="45720" marR="45720" marT="18288" marB="18288">
                    <a:solidFill>
                      <a:srgbClr val="EEF3F8"/>
                    </a:solidFill>
                  </a:tcPr>
                </a:tc>
              </a:tr>
              <a:tr h="384048">
                <a:tc>
                  <a:txBody>
                    <a:bodyPr/>
                    <a:lstStyle/>
                    <a:p>
                      <a:r>
                        <a:rPr sz="1200" b="0">
                          <a:solidFill>
                            <a:srgbClr val="555F6B"/>
                          </a:solidFill>
                        </a:rPr>
                        <a:t>network</a:t>
                      </a:r>
                    </a:p>
                  </a:txBody>
                  <a:tcPr marL="45720" marR="45720" marT="18288" marB="18288">
                    <a:solidFill>
                      <a:srgbClr val="FFFFFF"/>
                    </a:solidFill>
                  </a:tcPr>
                </a:tc>
                <a:tc>
                  <a:txBody>
                    <a:bodyPr/>
                    <a:lstStyle/>
                    <a:p>
                      <a:r>
                        <a:rPr sz="1200" b="0">
                          <a:solidFill>
                            <a:srgbClr val="555F6B"/>
                          </a:solidFill>
                        </a:rPr>
                        <a:t>64,26</a:t>
                      </a:r>
                    </a:p>
                  </a:txBody>
                  <a:tcPr marL="45720" marR="45720" marT="18288" marB="18288">
                    <a:solidFill>
                      <a:srgbClr val="FFFFFF"/>
                    </a:solidFill>
                  </a:tcPr>
                </a:tc>
              </a:tr>
              <a:tr h="384048">
                <a:tc>
                  <a:txBody>
                    <a:bodyPr/>
                    <a:lstStyle/>
                    <a:p>
                      <a:r>
                        <a:rPr sz="1200" b="0">
                          <a:solidFill>
                            <a:srgbClr val="555F6B"/>
                          </a:solidFill>
                        </a:rPr>
                        <a:t>cicd</a:t>
                      </a:r>
                    </a:p>
                  </a:txBody>
                  <a:tcPr marL="45720" marR="45720" marT="18288" marB="18288">
                    <a:solidFill>
                      <a:srgbClr val="EEF3F8"/>
                    </a:solidFill>
                  </a:tcPr>
                </a:tc>
                <a:tc>
                  <a:txBody>
                    <a:bodyPr/>
                    <a:lstStyle/>
                    <a:p>
                      <a:r>
                        <a:rPr sz="1200" b="0">
                          <a:solidFill>
                            <a:srgbClr val="555F6B"/>
                          </a:solidFill>
                        </a:rPr>
                        <a:t>14,00</a:t>
                      </a:r>
                    </a:p>
                  </a:txBody>
                  <a:tcPr marL="45720" marR="45720" marT="18288" marB="18288">
                    <a:solidFill>
                      <a:srgbClr val="EEF3F8"/>
                    </a:solidFill>
                  </a:tcPr>
                </a:tc>
              </a:tr>
              <a:tr h="384048">
                <a:tc>
                  <a:txBody>
                    <a:bodyPr/>
                    <a:lstStyle/>
                    <a:p>
                      <a:r>
                        <a:rPr sz="1200" b="0">
                          <a:solidFill>
                            <a:srgbClr val="555F6B"/>
                          </a:solidFill>
                        </a:rPr>
                        <a:t>ops_labor</a:t>
                      </a:r>
                    </a:p>
                  </a:txBody>
                  <a:tcPr marL="45720" marR="45720" marT="18288" marB="18288">
                    <a:solidFill>
                      <a:srgbClr val="FFFFFF"/>
                    </a:solidFill>
                  </a:tcPr>
                </a:tc>
                <a:tc>
                  <a:txBody>
                    <a:bodyPr/>
                    <a:lstStyle/>
                    <a:p>
                      <a:r>
                        <a:rPr sz="1200" b="0">
                          <a:solidFill>
                            <a:srgbClr val="555F6B"/>
                          </a:solidFill>
                        </a:rPr>
                        <a:t>3.400,00</a:t>
                      </a:r>
                    </a:p>
                  </a:txBody>
                  <a:tcPr marL="45720" marR="45720" marT="18288" marB="18288">
                    <a:solidFill>
                      <a:srgbClr val="FFFFFF"/>
                    </a:solidFill>
                  </a:tcPr>
                </a:tc>
              </a:tr>
              <a:tr h="384048">
                <a:tc>
                  <a:txBody>
                    <a:bodyPr/>
                    <a:lstStyle/>
                    <a:p>
                      <a:r>
                        <a:rPr sz="1200" b="0">
                          <a:solidFill>
                            <a:srgbClr val="555F6B"/>
                          </a:solidFill>
                        </a:rPr>
                        <a:t>TOTAL</a:t>
                      </a:r>
                    </a:p>
                  </a:txBody>
                  <a:tcPr marL="45720" marR="45720" marT="18288" marB="18288">
                    <a:solidFill>
                      <a:srgbClr val="EEF3F8"/>
                    </a:solidFill>
                  </a:tcPr>
                </a:tc>
                <a:tc>
                  <a:txBody>
                    <a:bodyPr/>
                    <a:lstStyle/>
                    <a:p>
                      <a:r>
                        <a:rPr sz="1200" b="0">
                          <a:solidFill>
                            <a:srgbClr val="555F6B"/>
                          </a:solidFill>
                        </a:rPr>
                        <a:t>6.821,44</a:t>
                      </a:r>
                    </a:p>
                  </a:txBody>
                  <a:tcPr marL="45720" marR="45720" marT="18288" marB="18288">
                    <a:solidFill>
                      <a:srgbClr val="EEF3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B. Nguồn số liệu</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B</a:t>
            </a:r>
          </a:p>
        </p:txBody>
      </p:sp>
      <p:sp>
        <p:nvSpPr>
          <p:cNvPr id="5" name="TextBox 4"/>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sp>
        <p:nvSpPr>
          <p:cNvPr id="6" name="TextBox 5"/>
          <p:cNvSpPr txBox="1"/>
          <p:nvPr/>
        </p:nvSpPr>
        <p:spPr>
          <a:xfrm>
            <a:off x="457200" y="1188720"/>
            <a:ext cx="11247120" cy="5120640"/>
          </a:xfrm>
          <a:prstGeom prst="rect">
            <a:avLst/>
          </a:prstGeom>
          <a:noFill/>
        </p:spPr>
        <p:txBody>
          <a:bodyPr wrap="square">
            <a:spAutoFit/>
          </a:bodyPr>
          <a:lstStyle/>
          <a:p>
            <a:pPr algn="l">
              <a:spcAft>
                <a:spcPts val="400"/>
              </a:spcAft>
            </a:pPr>
            <a:r>
              <a:rPr sz="1300" b="0">
                <a:solidFill>
                  <a:srgbClr val="555F6B"/>
                </a:solidFill>
              </a:rPr>
              <a:t>Giá: trang giá chính thức của Google Cloud (GKE, Vertex AI, Cloud SQL, Cloud Storage, Memorystore, Cloud Tasks, KMS, Secret Manager, Observability, Security Command Center, Cloud Armor, VPC network, Cloud Build, Artifact Registry, IAP), đọc ngày 16/10/2026</a:t>
            </a:r>
          </a:p>
          <a:p>
            <a:pPr algn="l">
              <a:spcAft>
                <a:spcPts val="400"/>
              </a:spcAft>
            </a:pPr>
            <a:r>
              <a:rPr sz="1300" b="0">
                <a:solidFill>
                  <a:srgbClr val="555F6B"/>
                </a:solidFill>
              </a:rPr>
              <a:t>So sánh với AWS và Azure: AWS Price List API, Azure Retail Prices API (region ap-southeast-1, southeastasia)</a:t>
            </a:r>
          </a:p>
          <a:p>
            <a:pPr algn="l">
              <a:spcAft>
                <a:spcPts val="400"/>
              </a:spcAft>
            </a:pPr>
            <a:r>
              <a:rPr sz="1300" b="0">
                <a:solidFill>
                  <a:srgbClr val="555F6B"/>
                </a:solidFill>
              </a:rPr>
              <a:t>Tải: Microsoft WorkLab 2025; Dillon et al., Shifting Work Patterns with Generative AI (2025); Radicati 2015; APQC; Brynjolfsson et al. NBER 31161; Graphite Research; Liang et al. 2025; UK DBT Copilot evaluation 2025</a:t>
            </a:r>
          </a:p>
          <a:p>
            <a:pPr algn="l">
              <a:spcAft>
                <a:spcPts val="400"/>
              </a:spcAft>
            </a:pPr>
            <a:r>
              <a:rPr sz="1300" b="0">
                <a:solidFill>
                  <a:srgbClr val="555F6B"/>
                </a:solidFill>
              </a:rPr>
              <a:t>Token mỗi lượt chat (số lần gọi model × token vào / token ra): cấp 1: 2 × 5,5k / 250 · cấp 2: 2 × 18k / 2,5k · cấp 3: 3,5 × 12k / 1k · cấp 4: 8 × 15k / 300 · cấp 5: 1,5 × 4k / 600 + 1 ảnh</a:t>
            </a:r>
          </a:p>
          <a:p>
            <a:pPr algn="l">
              <a:spcAft>
                <a:spcPts val="400"/>
              </a:spcAft>
            </a:pPr>
            <a:r>
              <a:rPr sz="1300" b="0">
                <a:solidFill>
                  <a:srgbClr val="555F6B"/>
                </a:solidFill>
              </a:rPr>
              <a:t>Nguồn token: Azure OpenAI On your data defaults; Vertex RAG Engine; DA-Code; DABstep; MCP-Universe; MCPMark; OpenRouter State of AI 2025; Azure LLM inference trace 2024</a:t>
            </a:r>
          </a:p>
          <a:p>
            <a:pPr algn="l">
              <a:spcAft>
                <a:spcPts val="400"/>
              </a:spcAft>
            </a:pPr>
            <a:r>
              <a:rPr sz="1300" b="0">
                <a:solidFill>
                  <a:srgbClr val="555F6B"/>
                </a:solidFill>
              </a:rPr>
              <a:t>Chất lượng và tốc độ model: Artificial Analysis Intelligence Index v4.3.2</a:t>
            </a:r>
          </a:p>
          <a:p>
            <a:pPr algn="l">
              <a:spcAft>
                <a:spcPts val="400"/>
              </a:spcAft>
            </a:pPr>
            <a:r>
              <a:rPr sz="1300" b="0">
                <a:solidFill>
                  <a:srgbClr val="555F6B"/>
                </a:solidFill>
              </a:rPr>
              <a:t>Lương: ITviec Vietnam IT Salary &amp; Recruitment Market 2024–2025; tỉ giá Vietcombank ngày 16/10/2026</a:t>
            </a:r>
          </a:p>
          <a:p>
            <a:pPr algn="l">
              <a:spcAft>
                <a:spcPts val="400"/>
              </a:spcAft>
            </a:pPr>
            <a:r>
              <a:rPr sz="1300" b="0">
                <a:solidFill>
                  <a:srgbClr val="555F6B"/>
                </a:solidFill>
              </a:rPr>
              <a:t>Connector: Microsoft Graph throttling, Atlassian rate limiting, Notion request limits, Google Workspace API limits</a:t>
            </a:r>
          </a:p>
          <a:p>
            <a:pPr algn="l">
              <a:spcAft>
                <a:spcPts val="400"/>
              </a:spcAft>
            </a:pPr>
            <a:r>
              <a:rPr sz="1300" b="0">
                <a:solidFill>
                  <a:srgbClr val="555F6B"/>
                </a:solidFill>
              </a:rPr>
              <a:t>Chi tiết nghiên cứu: thư mục research/ (usage-benchmarks, task-volume-by-role, token-per-task, r1, r2, r3, r5-r9, r8-r6) và cost_model.py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C. Việc chung của mọi nhân viên: 6,26 nhiệm vụ/ngày</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Ai cũng làm 5 việc này. Số nhiệm vụ = khối lượng việc thật mỗi ngày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C</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71600"/>
          <a:ext cx="11247120" cy="3520440"/>
        </p:xfrm>
        <a:graphic>
          <a:graphicData uri="http://schemas.openxmlformats.org/drawingml/2006/table">
            <a:tbl>
              <a:tblPr firstRow="1" bandRow="1">
                <a:tableStyleId>{5C22544A-7EE6-4342-B048-85BDC9FD1C3A}</a:tableStyleId>
              </a:tblPr>
              <a:tblGrid>
                <a:gridCol w="2286000"/>
                <a:gridCol w="548640"/>
                <a:gridCol w="1828800"/>
                <a:gridCol w="1005840"/>
                <a:gridCol w="1280160"/>
                <a:gridCol w="4297680"/>
              </a:tblGrid>
              <a:tr h="502920">
                <a:tc>
                  <a:txBody>
                    <a:bodyPr/>
                    <a:lstStyle/>
                    <a:p>
                      <a:r>
                        <a:rPr sz="1100" b="1">
                          <a:solidFill>
                            <a:srgbClr val="FFFFFF"/>
                          </a:solidFill>
                        </a:rPr>
                        <a:t>Việc</a:t>
                      </a:r>
                    </a:p>
                  </a:txBody>
                  <a:tcPr marL="45720" marR="45720" marT="18288" marB="18288">
                    <a:solidFill>
                      <a:srgbClr val="2E6FB7"/>
                    </a:solidFill>
                  </a:tcPr>
                </a:tc>
                <a:tc>
                  <a:txBody>
                    <a:bodyPr/>
                    <a:lstStyle/>
                    <a:p>
                      <a:r>
                        <a:rPr sz="1100" b="1">
                          <a:solidFill>
                            <a:srgbClr val="FFFFFF"/>
                          </a:solidFill>
                        </a:rPr>
                        <a:t>Cấp</a:t>
                      </a:r>
                    </a:p>
                  </a:txBody>
                  <a:tcPr marL="45720" marR="45720" marT="18288" marB="18288">
                    <a:solidFill>
                      <a:srgbClr val="2E6FB7"/>
                    </a:solidFill>
                  </a:tcPr>
                </a:tc>
                <a:tc>
                  <a:txBody>
                    <a:bodyPr/>
                    <a:lstStyle/>
                    <a:p>
                      <a:r>
                        <a:rPr sz="1100" b="1">
                          <a:solidFill>
                            <a:srgbClr val="FFFFFF"/>
                          </a:solidFill>
                        </a:rPr>
                        <a:t>Khối lượng thật/người/ngày</a:t>
                      </a:r>
                    </a:p>
                  </a:txBody>
                  <a:tcPr marL="45720" marR="45720" marT="18288" marB="18288">
                    <a:solidFill>
                      <a:srgbClr val="2E6FB7"/>
                    </a:solidFill>
                  </a:tcPr>
                </a:tc>
                <a:tc>
                  <a:txBody>
                    <a:bodyPr/>
                    <a:lstStyle/>
                    <a:p>
                      <a:r>
                        <a:rPr sz="1100" b="1">
                          <a:solidFill>
                            <a:srgbClr val="FFFFFF"/>
                          </a:solidFill>
                        </a:rPr>
                        <a:t>Tỉ lệ giao AI</a:t>
                      </a:r>
                    </a:p>
                  </a:txBody>
                  <a:tcPr marL="45720" marR="45720" marT="18288" marB="18288">
                    <a:solidFill>
                      <a:srgbClr val="2E6FB7"/>
                    </a:solidFill>
                  </a:tcPr>
                </a:tc>
                <a:tc>
                  <a:txBody>
                    <a:bodyPr/>
                    <a:lstStyle/>
                    <a:p>
                      <a:r>
                        <a:rPr sz="1100" b="1">
                          <a:solidFill>
                            <a:srgbClr val="FFFFFF"/>
                          </a:solidFill>
                        </a:rPr>
                        <a:t>Nhiệm vụ/người/ngày</a:t>
                      </a:r>
                    </a:p>
                  </a:txBody>
                  <a:tcPr marL="45720" marR="45720" marT="18288" marB="18288">
                    <a:solidFill>
                      <a:srgbClr val="2E6FB7"/>
                    </a:solidFill>
                  </a:tcPr>
                </a:tc>
                <a:tc>
                  <a:txBody>
                    <a:bodyPr/>
                    <a:lstStyle/>
                    <a:p>
                      <a:r>
                        <a:rPr sz="1100" b="1">
                          <a:solidFill>
                            <a:srgbClr val="FFFFFF"/>
                          </a:solidFill>
                        </a:rPr>
                        <a:t>Căn cứ</a:t>
                      </a:r>
                    </a:p>
                  </a:txBody>
                  <a:tcPr marL="45720" marR="45720" marT="18288" marB="18288">
                    <a:solidFill>
                      <a:srgbClr val="2E6FB7"/>
                    </a:solidFill>
                  </a:tcPr>
                </a:tc>
              </a:tr>
              <a:tr h="502920">
                <a:tc>
                  <a:txBody>
                    <a:bodyPr/>
                    <a:lstStyle/>
                    <a:p>
                      <a:r>
                        <a:rPr sz="1100" b="0">
                          <a:solidFill>
                            <a:srgbClr val="555F6B"/>
                          </a:solidFill>
                        </a:rPr>
                        <a:t>Soạn, trả lời email</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9,9 email gửi</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2,97</a:t>
                      </a:r>
                    </a:p>
                  </a:txBody>
                  <a:tcPr marL="45720" marR="45720" marT="18288" marB="18288">
                    <a:solidFill>
                      <a:srgbClr val="EEF3F8"/>
                    </a:solidFill>
                  </a:tcPr>
                </a:tc>
                <a:tc>
                  <a:txBody>
                    <a:bodyPr/>
                    <a:lstStyle/>
                    <a:p>
                      <a:r>
                        <a:rPr sz="1100" b="0">
                          <a:solidFill>
                            <a:srgbClr val="555F6B"/>
                          </a:solidFill>
                        </a:rPr>
                        <a:t>Trung bình nhân của 2,9 (Microsoft RCT 2025) và 34 (Radicati). 30% cao hơn mức 10–24% của Liang 2025 vì công ty triển khai chính thức</a:t>
                      </a:r>
                    </a:p>
                  </a:txBody>
                  <a:tcPr marL="45720" marR="45720" marT="18288" marB="18288">
                    <a:solidFill>
                      <a:srgbClr val="EEF3F8"/>
                    </a:solidFill>
                  </a:tcPr>
                </a:tc>
              </a:tr>
              <a:tr h="502920">
                <a:tc>
                  <a:txBody>
                    <a:bodyPr/>
                    <a:lstStyle/>
                    <a:p>
                      <a:r>
                        <a:rPr sz="1100" b="0">
                          <a:solidFill>
                            <a:srgbClr val="555F6B"/>
                          </a:solidFill>
                        </a:rPr>
                        <a:t>Tóm tắt, phân loại email</a:t>
                      </a:r>
                    </a:p>
                  </a:txBody>
                  <a:tcPr marL="45720" marR="45720" marT="18288" marB="18288">
                    <a:solidFill>
                      <a:srgbClr val="FFFFFF"/>
                    </a:solidFill>
                  </a:tcPr>
                </a:tc>
                <a:tc>
                  <a:txBody>
                    <a:bodyPr/>
                    <a:lstStyle/>
                    <a:p>
                      <a:r>
                        <a:rPr sz="1100" b="0">
                          <a:solidFill>
                            <a:srgbClr val="555F6B"/>
                          </a:solidFill>
                        </a:rPr>
                        <a:t>1</a:t>
                      </a:r>
                    </a:p>
                  </a:txBody>
                  <a:tcPr marL="45720" marR="45720" marT="18288" marB="18288">
                    <a:solidFill>
                      <a:srgbClr val="FFFFFF"/>
                    </a:solidFill>
                  </a:tcPr>
                </a:tc>
                <a:tc>
                  <a:txBody>
                    <a:bodyPr/>
                    <a:lstStyle/>
                    <a:p>
                      <a:r>
                        <a:rPr sz="1100" b="0">
                          <a:solidFill>
                            <a:srgbClr val="555F6B"/>
                          </a:solidFill>
                        </a:rPr>
                        <a:t>32,2 email đọc</a:t>
                      </a:r>
                    </a:p>
                  </a:txBody>
                  <a:tcPr marL="45720" marR="45720" marT="18288" marB="18288">
                    <a:solidFill>
                      <a:srgbClr val="FFFFFF"/>
                    </a:solidFill>
                  </a:tcPr>
                </a:tc>
                <a:tc>
                  <a:txBody>
                    <a:bodyPr/>
                    <a:lstStyle/>
                    <a:p>
                      <a:r>
                        <a:rPr sz="1100" b="0">
                          <a:solidFill>
                            <a:srgbClr val="555F6B"/>
                          </a:solidFill>
                        </a:rPr>
                        <a:t>5%</a:t>
                      </a:r>
                    </a:p>
                  </a:txBody>
                  <a:tcPr marL="45720" marR="45720" marT="18288" marB="18288">
                    <a:solidFill>
                      <a:srgbClr val="FFFFFF"/>
                    </a:solidFill>
                  </a:tcPr>
                </a:tc>
                <a:tc>
                  <a:txBody>
                    <a:bodyPr/>
                    <a:lstStyle/>
                    <a:p>
                      <a:r>
                        <a:rPr sz="1100" b="0">
                          <a:solidFill>
                            <a:srgbClr val="555F6B"/>
                          </a:solidFill>
                        </a:rPr>
                        <a:t>1,61</a:t>
                      </a:r>
                    </a:p>
                  </a:txBody>
                  <a:tcPr marL="45720" marR="45720" marT="18288" marB="18288">
                    <a:solidFill>
                      <a:srgbClr val="FFFFFF"/>
                    </a:solidFill>
                  </a:tcPr>
                </a:tc>
                <a:tc>
                  <a:txBody>
                    <a:bodyPr/>
                    <a:lstStyle/>
                    <a:p>
                      <a:r>
                        <a:rPr sz="1100" b="0">
                          <a:solidFill>
                            <a:srgbClr val="555F6B"/>
                          </a:solidFill>
                        </a:rPr>
                        <a:t>Microsoft RCT 2025: 160,8 email đọc/tuần. Tỉ lệ 5%: giả định của nhóm</a:t>
                      </a:r>
                    </a:p>
                  </a:txBody>
                  <a:tcPr marL="45720" marR="45720" marT="18288" marB="18288">
                    <a:solidFill>
                      <a:srgbClr val="FFFFFF"/>
                    </a:solidFill>
                  </a:tcPr>
                </a:tc>
              </a:tr>
              <a:tr h="502920">
                <a:tc>
                  <a:txBody>
                    <a:bodyPr/>
                    <a:lstStyle/>
                    <a:p>
                      <a:r>
                        <a:rPr sz="1100" b="0">
                          <a:solidFill>
                            <a:srgbClr val="555F6B"/>
                          </a:solidFill>
                        </a:rPr>
                        <a:t>Hỏi đáp tài liệu nội bộ</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4,0 lần tra cứu</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1,20</a:t>
                      </a:r>
                    </a:p>
                  </a:txBody>
                  <a:tcPr marL="45720" marR="45720" marT="18288" marB="18288">
                    <a:solidFill>
                      <a:srgbClr val="EEF3F8"/>
                    </a:solidFill>
                  </a:tcPr>
                </a:tc>
                <a:tc>
                  <a:txBody>
                    <a:bodyPr/>
                    <a:lstStyle/>
                    <a:p>
                      <a:r>
                        <a:rPr sz="1100" b="0">
                          <a:solidFill>
                            <a:srgbClr val="555F6B"/>
                          </a:solidFill>
                        </a:rPr>
                        <a:t>Mỗi người mất 1,6–2 giờ/ngày tìm thông tin (McKinsey, Atlassian). 4 lần và 30%: giả định của nhóm</a:t>
                      </a:r>
                    </a:p>
                  </a:txBody>
                  <a:tcPr marL="45720" marR="45720" marT="18288" marB="18288">
                    <a:solidFill>
                      <a:srgbClr val="EEF3F8"/>
                    </a:solidFill>
                  </a:tcPr>
                </a:tc>
              </a:tr>
              <a:tr h="502920">
                <a:tc>
                  <a:txBody>
                    <a:bodyPr/>
                    <a:lstStyle/>
                    <a:p>
                      <a:r>
                        <a:rPr sz="1100" b="0">
                          <a:solidFill>
                            <a:srgbClr val="555F6B"/>
                          </a:solidFill>
                        </a:rPr>
                        <a:t>Biên bản họp → DOCX</a:t>
                      </a:r>
                    </a:p>
                  </a:txBody>
                  <a:tcPr marL="45720" marR="45720" marT="18288" marB="18288">
                    <a:solidFill>
                      <a:srgbClr val="FFFFFF"/>
                    </a:solidFill>
                  </a:tcPr>
                </a:tc>
                <a:tc>
                  <a:txBody>
                    <a:bodyPr/>
                    <a:lstStyle/>
                    <a:p>
                      <a:r>
                        <a:rPr sz="1100" b="0">
                          <a:solidFill>
                            <a:srgbClr val="555F6B"/>
                          </a:solidFill>
                        </a:rPr>
                        <a:t>2</a:t>
                      </a:r>
                    </a:p>
                  </a:txBody>
                  <a:tcPr marL="45720" marR="45720" marT="18288" marB="18288">
                    <a:solidFill>
                      <a:srgbClr val="FFFFFF"/>
                    </a:solidFill>
                  </a:tcPr>
                </a:tc>
                <a:tc>
                  <a:txBody>
                    <a:bodyPr/>
                    <a:lstStyle/>
                    <a:p>
                      <a:r>
                        <a:rPr sz="1100" b="0">
                          <a:solidFill>
                            <a:srgbClr val="555F6B"/>
                          </a:solidFill>
                        </a:rPr>
                        <a:t>2,0 cuộc họp</a:t>
                      </a:r>
                    </a:p>
                  </a:txBody>
                  <a:tcPr marL="45720" marR="45720" marT="18288" marB="18288">
                    <a:solidFill>
                      <a:srgbClr val="FFFFFF"/>
                    </a:solidFill>
                  </a:tcPr>
                </a:tc>
                <a:tc>
                  <a:txBody>
                    <a:bodyPr/>
                    <a:lstStyle/>
                    <a:p>
                      <a:r>
                        <a:rPr sz="1100" b="0">
                          <a:solidFill>
                            <a:srgbClr val="555F6B"/>
                          </a:solidFill>
                        </a:rPr>
                        <a:t>20%</a:t>
                      </a:r>
                    </a:p>
                  </a:txBody>
                  <a:tcPr marL="45720" marR="45720" marT="18288" marB="18288">
                    <a:solidFill>
                      <a:srgbClr val="FFFFFF"/>
                    </a:solidFill>
                  </a:tcPr>
                </a:tc>
                <a:tc>
                  <a:txBody>
                    <a:bodyPr/>
                    <a:lstStyle/>
                    <a:p>
                      <a:r>
                        <a:rPr sz="1100" b="0">
                          <a:solidFill>
                            <a:srgbClr val="555F6B"/>
                          </a:solidFill>
                        </a:rPr>
                        <a:t>0,40</a:t>
                      </a:r>
                    </a:p>
                  </a:txBody>
                  <a:tcPr marL="45720" marR="45720" marT="18288" marB="18288">
                    <a:solidFill>
                      <a:srgbClr val="FFFFFF"/>
                    </a:solidFill>
                  </a:tcPr>
                </a:tc>
                <a:tc>
                  <a:txBody>
                    <a:bodyPr/>
                    <a:lstStyle/>
                    <a:p>
                      <a:r>
                        <a:rPr sz="1100" b="0">
                          <a:solidFill>
                            <a:srgbClr val="555F6B"/>
                          </a:solidFill>
                        </a:rPr>
                        <a:t>Microsoft RCT 2025: 9,9 cuộc họp/tuần. Tỉ lệ 20%: giả định của nhóm</a:t>
                      </a:r>
                    </a:p>
                  </a:txBody>
                  <a:tcPr marL="45720" marR="45720" marT="18288" marB="18288">
                    <a:solidFill>
                      <a:srgbClr val="FFFFFF"/>
                    </a:solidFill>
                  </a:tcPr>
                </a:tc>
              </a:tr>
              <a:tr h="502920">
                <a:tc>
                  <a:txBody>
                    <a:bodyPr/>
                    <a:lstStyle/>
                    <a:p>
                      <a:r>
                        <a:rPr sz="1100" b="0">
                          <a:solidFill>
                            <a:srgbClr val="555F6B"/>
                          </a:solidFill>
                        </a:rPr>
                        <a:t>Báo cáo, đề xuất → DOCX/PPTX</a:t>
                      </a:r>
                    </a:p>
                  </a:txBody>
                  <a:tcPr marL="45720" marR="45720" marT="18288" marB="18288">
                    <a:solidFill>
                      <a:srgbClr val="EEF3F8"/>
                    </a:solidFill>
                  </a:tcPr>
                </a:tc>
                <a:tc>
                  <a:txBody>
                    <a:bodyPr/>
                    <a:lstStyle/>
                    <a:p>
                      <a:r>
                        <a:rPr sz="1100" b="0">
                          <a:solidFill>
                            <a:srgbClr val="555F6B"/>
                          </a:solidFill>
                        </a:rPr>
                        <a:t>2</a:t>
                      </a:r>
                    </a:p>
                  </a:txBody>
                  <a:tcPr marL="45720" marR="45720" marT="18288" marB="18288">
                    <a:solidFill>
                      <a:srgbClr val="EEF3F8"/>
                    </a:solidFill>
                  </a:tcPr>
                </a:tc>
                <a:tc>
                  <a:txBody>
                    <a:bodyPr/>
                    <a:lstStyle/>
                    <a:p>
                      <a:r>
                        <a:rPr sz="1100" b="0">
                          <a:solidFill>
                            <a:srgbClr val="555F6B"/>
                          </a:solidFill>
                        </a:rPr>
                        <a:t>0,15 tài liệu</a:t>
                      </a:r>
                    </a:p>
                  </a:txBody>
                  <a:tcPr marL="45720" marR="45720" marT="18288" marB="18288">
                    <a:solidFill>
                      <a:srgbClr val="EEF3F8"/>
                    </a:solidFill>
                  </a:tcPr>
                </a:tc>
                <a:tc>
                  <a:txBody>
                    <a:bodyPr/>
                    <a:lstStyle/>
                    <a:p>
                      <a:r>
                        <a:rPr sz="1100" b="0">
                          <a:solidFill>
                            <a:srgbClr val="555F6B"/>
                          </a:solidFill>
                        </a:rPr>
                        <a:t>50%</a:t>
                      </a:r>
                    </a:p>
                  </a:txBody>
                  <a:tcPr marL="45720" marR="45720" marT="18288" marB="18288">
                    <a:solidFill>
                      <a:srgbClr val="EEF3F8"/>
                    </a:solidFill>
                  </a:tcPr>
                </a:tc>
                <a:tc>
                  <a:txBody>
                    <a:bodyPr/>
                    <a:lstStyle/>
                    <a:p>
                      <a:r>
                        <a:rPr sz="1100" b="0">
                          <a:solidFill>
                            <a:srgbClr val="555F6B"/>
                          </a:solidFill>
                        </a:rPr>
                        <a:t>0,08</a:t>
                      </a:r>
                    </a:p>
                  </a:txBody>
                  <a:tcPr marL="45720" marR="45720" marT="18288" marB="18288">
                    <a:solidFill>
                      <a:srgbClr val="EEF3F8"/>
                    </a:solidFill>
                  </a:tcPr>
                </a:tc>
                <a:tc>
                  <a:txBody>
                    <a:bodyPr/>
                    <a:lstStyle/>
                    <a:p>
                      <a:r>
                        <a:rPr sz="1100" b="0">
                          <a:solidFill>
                            <a:srgbClr val="555F6B"/>
                          </a:solidFill>
                        </a:rPr>
                        <a:t>Microsoft RCT 2025: 0,76 tài liệu Word hoàn thành/tuần. Tỉ lệ 50%: giả định của nhóm</a:t>
                      </a:r>
                    </a:p>
                  </a:txBody>
                  <a:tcPr marL="45720" marR="45720" marT="18288" marB="18288">
                    <a:solidFill>
                      <a:srgbClr val="EEF3F8"/>
                    </a:solidFill>
                  </a:tcPr>
                </a:tc>
              </a:tr>
              <a:tr h="502920">
                <a:tc>
                  <a:txBody>
                    <a:bodyPr/>
                    <a:lstStyle/>
                    <a:p>
                      <a:r>
                        <a:rPr sz="1100" b="0">
                          <a:solidFill>
                            <a:srgbClr val="555F6B"/>
                          </a:solidFill>
                        </a:rPr>
                        <a:t>Cộng</a:t>
                      </a:r>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r>
                        <a:rPr sz="1100" b="0">
                          <a:solidFill>
                            <a:srgbClr val="555F6B"/>
                          </a:solidFill>
                        </a:rPr>
                        <a:t>6,26</a:t>
                      </a:r>
                    </a:p>
                  </a:txBody>
                  <a:tcPr marL="45720" marR="45720" marT="18288" marB="18288">
                    <a:solidFill>
                      <a:srgbClr val="FFFFFF"/>
                    </a:solidFill>
                  </a:tcPr>
                </a:tc>
                <a:tc>
                  <a:txBody>
                    <a:bodyPr/>
                    <a:lstStyle/>
                    <a:p/>
                  </a:txBody>
                  <a:tcPr marL="45720" marR="45720" marT="18288" marB="18288">
                    <a:solidFill>
                      <a:srgbClr val="FFFFFF"/>
                    </a:solidFill>
                  </a:tcPr>
                </a:tc>
              </a:tr>
            </a:tbl>
          </a:graphicData>
        </a:graphic>
      </p:graphicFrame>
      <p:sp>
        <p:nvSpPr>
          <p:cNvPr id="8" name="TextBox 7"/>
          <p:cNvSpPr txBox="1"/>
          <p:nvPr/>
        </p:nvSpPr>
        <p:spPr>
          <a:xfrm>
            <a:off x="457200" y="5120640"/>
            <a:ext cx="11247120" cy="1188720"/>
          </a:xfrm>
          <a:prstGeom prst="rect">
            <a:avLst/>
          </a:prstGeom>
          <a:noFill/>
        </p:spPr>
        <p:txBody>
          <a:bodyPr wrap="square">
            <a:spAutoFit/>
          </a:bodyPr>
          <a:lstStyle/>
          <a:p>
            <a:pPr algn="l">
              <a:spcAft>
                <a:spcPts val="400"/>
              </a:spcAft>
            </a:pPr>
            <a:r>
              <a:rPr sz="1200" b="1">
                <a:solidFill>
                  <a:srgbClr val="555F6B"/>
                </a:solidFill>
              </a:rPr>
              <a:t>Đọc bảng thế nào</a:t>
            </a:r>
          </a:p>
          <a:p>
            <a:pPr algn="l">
              <a:spcAft>
                <a:spcPts val="400"/>
              </a:spcAft>
            </a:pPr>
            <a:r>
              <a:rPr sz="1200" b="0">
                <a:solidFill>
                  <a:srgbClr val="555F6B"/>
                </a:solidFill>
              </a:rPr>
              <a:t>Ví dụ dòng đầu: mỗi người gửi khoảng 9,9 email/ngày. Nhóm giả định 30% số email đó nhờ AI soạn, nên 9,9 × 30% = 2,97 nhiệm vụ.</a:t>
            </a:r>
          </a:p>
          <a:p>
            <a:pPr algn="l">
              <a:spcAft>
                <a:spcPts val="400"/>
              </a:spcAft>
            </a:pPr>
            <a:r>
              <a:rPr sz="1200" b="0">
                <a:solidFill>
                  <a:srgbClr val="555F6B"/>
                </a:solidFill>
              </a:rPr>
              <a:t>Khối lượng việc lấy từ số đo thật (telemetry, khảo sát). Tỉ lệ giao AI phần lớn là giả định của nhóm; nhóm sẽ đo lại trong pilot 2–4 tuần.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D. Việc riêng của từng phòng ban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người = 6,26 nhiệm vụ việc chung + việc riêng của phòng. Cả phòng = số người × nhiệm vụ mỗi người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D</a:t>
            </a:r>
          </a:p>
        </p:txBody>
      </p:sp>
      <p:sp>
        <p:nvSpPr>
          <p:cNvPr id="6" name="TextBox 5"/>
          <p:cNvSpPr txBox="1"/>
          <p:nvPr/>
        </p:nvSpPr>
        <p:spPr>
          <a:xfrm>
            <a:off x="457200" y="6400800"/>
            <a:ext cx="7315200" cy="365760"/>
          </a:xfrm>
          <a:prstGeom prst="rect">
            <a:avLst/>
          </a:prstGeom>
          <a:noFill/>
        </p:spPr>
        <p:txBody>
          <a:bodyPr wrap="square">
            <a:spAutoFit/>
          </a:bodyPr>
          <a:lstStyle/>
          <a:p>
            <a:pPr algn="l">
              <a:spcAft>
                <a:spcPts val="400"/>
              </a:spcAft>
            </a:pPr>
            <a:r>
              <a:rPr sz="1000" b="0">
                <a:solidFill>
                  <a:srgbClr val="555F6B"/>
                </a:solidFill>
              </a:rPr>
              <a:t>G03 · VBot Workplace · Lê Tuấn Anh · MSSV 2A202602952</a:t>
            </a:r>
          </a:p>
        </p:txBody>
      </p:sp>
      <p:graphicFrame>
        <p:nvGraphicFramePr>
          <p:cNvPr id="7" name="Table 6"/>
          <p:cNvGraphicFramePr>
            <a:graphicFrameLocks noGrp="1"/>
          </p:cNvGraphicFramePr>
          <p:nvPr/>
        </p:nvGraphicFramePr>
        <p:xfrm>
          <a:off x="457200" y="1325880"/>
          <a:ext cx="11247120" cy="4297679"/>
        </p:xfrm>
        <a:graphic>
          <a:graphicData uri="http://schemas.openxmlformats.org/drawingml/2006/table">
            <a:tbl>
              <a:tblPr firstRow="1" bandRow="1">
                <a:tableStyleId>{5C22544A-7EE6-4342-B048-85BDC9FD1C3A}</a:tableStyleId>
              </a:tblPr>
              <a:tblGrid>
                <a:gridCol w="1828800"/>
                <a:gridCol w="1920240"/>
                <a:gridCol w="4206240"/>
                <a:gridCol w="1554480"/>
                <a:gridCol w="1737360"/>
              </a:tblGrid>
              <a:tr h="429767">
                <a:tc>
                  <a:txBody>
                    <a:bodyPr/>
                    <a:lstStyle/>
                    <a:p>
                      <a:r>
                        <a:rPr sz="1000" b="1">
                          <a:solidFill>
                            <a:srgbClr val="FFFFFF"/>
                          </a:solidFill>
                        </a:rPr>
                        <a:t>Phòng ban (số người)</a:t>
                      </a:r>
                    </a:p>
                  </a:txBody>
                  <a:tcPr marL="45720" marR="45720" marT="18288" marB="18288">
                    <a:solidFill>
                      <a:srgbClr val="2E6FB7"/>
                    </a:solidFill>
                  </a:tcPr>
                </a:tc>
                <a:tc>
                  <a:txBody>
                    <a:bodyPr/>
                    <a:lstStyle/>
                    <a:p>
                      <a:r>
                        <a:rPr sz="1000" b="1">
                          <a:solidFill>
                            <a:srgbClr val="FFFFFF"/>
                          </a:solidFill>
                        </a:rPr>
                        <a:t>Phòng làm gì</a:t>
                      </a:r>
                    </a:p>
                  </a:txBody>
                  <a:tcPr marL="45720" marR="45720" marT="18288" marB="18288">
                    <a:solidFill>
                      <a:srgbClr val="2E6FB7"/>
                    </a:solidFill>
                  </a:tcPr>
                </a:tc>
                <a:tc>
                  <a:txBody>
                    <a:bodyPr/>
                    <a:lstStyle/>
                    <a:p>
                      <a:r>
                        <a:rPr sz="1000" b="1">
                          <a:solidFill>
                            <a:srgbClr val="FFFFFF"/>
                          </a:solidFill>
                        </a:rPr>
                        <a:t>Việc riêng giao AI (nhiệm vụ/người/ngày)</a:t>
                      </a:r>
                    </a:p>
                  </a:txBody>
                  <a:tcPr marL="45720" marR="45720" marT="18288" marB="18288">
                    <a:solidFill>
                      <a:srgbClr val="2E6FB7"/>
                    </a:solidFill>
                  </a:tcPr>
                </a:tc>
                <a:tc>
                  <a:txBody>
                    <a:bodyPr/>
                    <a:lstStyle/>
                    <a:p>
                      <a:r>
                        <a:rPr sz="1000" b="1">
                          <a:solidFill>
                            <a:srgbClr val="FFFFFF"/>
                          </a:solidFill>
                        </a:rPr>
                        <a:t>Mỗi người/ngày</a:t>
                      </a:r>
                    </a:p>
                  </a:txBody>
                  <a:tcPr marL="45720" marR="45720" marT="18288" marB="18288">
                    <a:solidFill>
                      <a:srgbClr val="2E6FB7"/>
                    </a:solidFill>
                  </a:tcPr>
                </a:tc>
                <a:tc>
                  <a:txBody>
                    <a:bodyPr/>
                    <a:lstStyle/>
                    <a:p>
                      <a:r>
                        <a:rPr sz="1000" b="1">
                          <a:solidFill>
                            <a:srgbClr val="FFFFFF"/>
                          </a:solidFill>
                        </a:rPr>
                        <a:t>Cả phòng/ngày</a:t>
                      </a:r>
                    </a:p>
                  </a:txBody>
                  <a:tcPr marL="45720" marR="45720" marT="18288" marB="18288">
                    <a:solidFill>
                      <a:srgbClr val="2E6FB7"/>
                    </a:solidFill>
                  </a:tcPr>
                </a:tc>
              </a:tr>
              <a:tr h="429767">
                <a:tc>
                  <a:txBody>
                    <a:bodyPr/>
                    <a:lstStyle/>
                    <a:p>
                      <a:r>
                        <a:rPr sz="1000" b="0">
                          <a:solidFill>
                            <a:srgbClr val="555F6B"/>
                          </a:solidFill>
                        </a:rPr>
                        <a:t>Kinh doanh, CSKH (500)</a:t>
                      </a:r>
                    </a:p>
                  </a:txBody>
                  <a:tcPr marL="45720" marR="45720" marT="18288" marB="18288">
                    <a:solidFill>
                      <a:srgbClr val="EEF3F8"/>
                    </a:solidFill>
                  </a:tcPr>
                </a:tc>
                <a:tc>
                  <a:txBody>
                    <a:bodyPr/>
                    <a:lstStyle/>
                    <a:p>
                      <a:r>
                        <a:rPr sz="1000" b="0">
                          <a:solidFill>
                            <a:srgbClr val="555F6B"/>
                          </a:solidFill>
                        </a:rPr>
                        <a:t>Bán hàng, chăm sóc khách hàng</a:t>
                      </a:r>
                    </a:p>
                  </a:txBody>
                  <a:tcPr marL="45720" marR="45720" marT="18288" marB="18288">
                    <a:solidFill>
                      <a:srgbClr val="EEF3F8"/>
                    </a:solidFill>
                  </a:tcPr>
                </a:tc>
                <a:tc>
                  <a:txBody>
                    <a:bodyPr/>
                    <a:lstStyle/>
                    <a:p>
                      <a:r>
                        <a:rPr sz="1000" b="0">
                          <a:solidFill>
                            <a:srgbClr val="555F6B"/>
                          </a:solidFill>
                        </a:rPr>
                        <a:t>Phân tích doanh số trên Excel 0,10 · agent chuẩn bị gặp khách 0,10 · ảnh cho báo giá 0,03</a:t>
                      </a:r>
                    </a:p>
                  </a:txBody>
                  <a:tcPr marL="45720" marR="45720" marT="18288" marB="18288">
                    <a:solidFill>
                      <a:srgbClr val="EEF3F8"/>
                    </a:solidFill>
                  </a:tcPr>
                </a:tc>
                <a:tc>
                  <a:txBody>
                    <a:bodyPr/>
                    <a:lstStyle/>
                    <a:p>
                      <a:r>
                        <a:rPr sz="1000" b="0">
                          <a:solidFill>
                            <a:srgbClr val="555F6B"/>
                          </a:solidFill>
                        </a:rPr>
                        <a:t>6,26 + 0,23 = 6,49</a:t>
                      </a:r>
                    </a:p>
                  </a:txBody>
                  <a:tcPr marL="45720" marR="45720" marT="18288" marB="18288">
                    <a:solidFill>
                      <a:srgbClr val="EEF3F8"/>
                    </a:solidFill>
                  </a:tcPr>
                </a:tc>
                <a:tc>
                  <a:txBody>
                    <a:bodyPr/>
                    <a:lstStyle/>
                    <a:p>
                      <a:r>
                        <a:rPr sz="1000" b="0">
                          <a:solidFill>
                            <a:srgbClr val="555F6B"/>
                          </a:solidFill>
                        </a:rPr>
                        <a:t>500 × 6,49 = 3.242</a:t>
                      </a:r>
                    </a:p>
                  </a:txBody>
                  <a:tcPr marL="45720" marR="45720" marT="18288" marB="18288">
                    <a:solidFill>
                      <a:srgbClr val="EEF3F8"/>
                    </a:solidFill>
                  </a:tcPr>
                </a:tc>
              </a:tr>
              <a:tr h="429767">
                <a:tc>
                  <a:txBody>
                    <a:bodyPr/>
                    <a:lstStyle/>
                    <a:p>
                      <a:r>
                        <a:rPr sz="1000" b="0">
                          <a:solidFill>
                            <a:srgbClr val="555F6B"/>
                          </a:solidFill>
                        </a:rPr>
                        <a:t>Quản lý dự án, vận hành (300)</a:t>
                      </a:r>
                    </a:p>
                  </a:txBody>
                  <a:tcPr marL="45720" marR="45720" marT="18288" marB="18288">
                    <a:solidFill>
                      <a:srgbClr val="FFFFFF"/>
                    </a:solidFill>
                  </a:tcPr>
                </a:tc>
                <a:tc>
                  <a:txBody>
                    <a:bodyPr/>
                    <a:lstStyle/>
                    <a:p>
                      <a:r>
                        <a:rPr sz="1000" b="0">
                          <a:solidFill>
                            <a:srgbClr val="555F6B"/>
                          </a:solidFill>
                        </a:rPr>
                        <a:t>Điều phối dự án, vận hành hằng ngày</a:t>
                      </a:r>
                    </a:p>
                  </a:txBody>
                  <a:tcPr marL="45720" marR="45720" marT="18288" marB="18288">
                    <a:solidFill>
                      <a:srgbClr val="FFFFFF"/>
                    </a:solidFill>
                  </a:tcPr>
                </a:tc>
                <a:tc>
                  <a:txBody>
                    <a:bodyPr/>
                    <a:lstStyle/>
                    <a:p>
                      <a:r>
                        <a:rPr sz="1000" b="0">
                          <a:solidFill>
                            <a:srgbClr val="555F6B"/>
                          </a:solidFill>
                        </a:rPr>
                        <a:t>Agent tạo ticket Jira, trang Confluence 0,90 · phân tích dữ liệu vận hành 0,12 · báo cáo tuần 0,10 · sơ đồ quy trình 0,08</a:t>
                      </a:r>
                    </a:p>
                  </a:txBody>
                  <a:tcPr marL="45720" marR="45720" marT="18288" marB="18288">
                    <a:solidFill>
                      <a:srgbClr val="FFFFFF"/>
                    </a:solidFill>
                  </a:tcPr>
                </a:tc>
                <a:tc>
                  <a:txBody>
                    <a:bodyPr/>
                    <a:lstStyle/>
                    <a:p>
                      <a:r>
                        <a:rPr sz="1000" b="0">
                          <a:solidFill>
                            <a:srgbClr val="555F6B"/>
                          </a:solidFill>
                        </a:rPr>
                        <a:t>6,26 + 1,20 = 7,46</a:t>
                      </a:r>
                    </a:p>
                  </a:txBody>
                  <a:tcPr marL="45720" marR="45720" marT="18288" marB="18288">
                    <a:solidFill>
                      <a:srgbClr val="FFFFFF"/>
                    </a:solidFill>
                  </a:tcPr>
                </a:tc>
                <a:tc>
                  <a:txBody>
                    <a:bodyPr/>
                    <a:lstStyle/>
                    <a:p>
                      <a:r>
                        <a:rPr sz="1000" b="0">
                          <a:solidFill>
                            <a:srgbClr val="555F6B"/>
                          </a:solidFill>
                        </a:rPr>
                        <a:t>300 × 7,46 = 2.237</a:t>
                      </a:r>
                    </a:p>
                  </a:txBody>
                  <a:tcPr marL="45720" marR="45720" marT="18288" marB="18288">
                    <a:solidFill>
                      <a:srgbClr val="FFFFFF"/>
                    </a:solidFill>
                  </a:tcPr>
                </a:tc>
              </a:tr>
              <a:tr h="429767">
                <a:tc>
                  <a:txBody>
                    <a:bodyPr/>
                    <a:lstStyle/>
                    <a:p>
                      <a:r>
                        <a:rPr sz="1000" b="0">
                          <a:solidFill>
                            <a:srgbClr val="555F6B"/>
                          </a:solidFill>
                        </a:rPr>
                        <a:t>Kế toán (240)</a:t>
                      </a:r>
                    </a:p>
                  </a:txBody>
                  <a:tcPr marL="45720" marR="45720" marT="18288" marB="18288">
                    <a:solidFill>
                      <a:srgbClr val="EEF3F8"/>
                    </a:solidFill>
                  </a:tcPr>
                </a:tc>
                <a:tc>
                  <a:txBody>
                    <a:bodyPr/>
                    <a:lstStyle/>
                    <a:p>
                      <a:r>
                        <a:rPr sz="1000" b="0">
                          <a:solidFill>
                            <a:srgbClr val="555F6B"/>
                          </a:solidFill>
                        </a:rPr>
                        <a:t>Sổ sách, thanh toán, báo cáo tài chính</a:t>
                      </a:r>
                    </a:p>
                  </a:txBody>
                  <a:tcPr marL="45720" marR="45720" marT="18288" marB="18288">
                    <a:solidFill>
                      <a:srgbClr val="EEF3F8"/>
                    </a:solidFill>
                  </a:tcPr>
                </a:tc>
                <a:tc>
                  <a:txBody>
                    <a:bodyPr/>
                    <a:lstStyle/>
                    <a:p>
                      <a:r>
                        <a:rPr sz="1000" b="0">
                          <a:solidFill>
                            <a:srgbClr val="555F6B"/>
                          </a:solidFill>
                        </a:rPr>
                        <a:t>Phân tích bảng tính tài chính, đối soát 0,80 · tìm hóa đơn bất thường 0,30 · checklist khóa sổ 0,05</a:t>
                      </a:r>
                    </a:p>
                  </a:txBody>
                  <a:tcPr marL="45720" marR="45720" marT="18288" marB="18288">
                    <a:solidFill>
                      <a:srgbClr val="EEF3F8"/>
                    </a:solidFill>
                  </a:tcPr>
                </a:tc>
                <a:tc>
                  <a:txBody>
                    <a:bodyPr/>
                    <a:lstStyle/>
                    <a:p>
                      <a:r>
                        <a:rPr sz="1000" b="0">
                          <a:solidFill>
                            <a:srgbClr val="555F6B"/>
                          </a:solidFill>
                        </a:rPr>
                        <a:t>6,26 + 1,15 = 7,41</a:t>
                      </a:r>
                    </a:p>
                  </a:txBody>
                  <a:tcPr marL="45720" marR="45720" marT="18288" marB="18288">
                    <a:solidFill>
                      <a:srgbClr val="EEF3F8"/>
                    </a:solidFill>
                  </a:tcPr>
                </a:tc>
                <a:tc>
                  <a:txBody>
                    <a:bodyPr/>
                    <a:lstStyle/>
                    <a:p>
                      <a:r>
                        <a:rPr sz="1000" b="0">
                          <a:solidFill>
                            <a:srgbClr val="555F6B"/>
                          </a:solidFill>
                        </a:rPr>
                        <a:t>240 × 7,41 = 1.777</a:t>
                      </a:r>
                    </a:p>
                  </a:txBody>
                  <a:tcPr marL="45720" marR="45720" marT="18288" marB="18288">
                    <a:solidFill>
                      <a:srgbClr val="EEF3F8"/>
                    </a:solidFill>
                  </a:tcPr>
                </a:tc>
              </a:tr>
              <a:tr h="429767">
                <a:tc>
                  <a:txBody>
                    <a:bodyPr/>
                    <a:lstStyle/>
                    <a:p>
                      <a:r>
                        <a:rPr sz="1000" b="0">
                          <a:solidFill>
                            <a:srgbClr val="555F6B"/>
                          </a:solidFill>
                        </a:rPr>
                        <a:t>Nhân sự, HC, pháp chế (260)</a:t>
                      </a:r>
                    </a:p>
                  </a:txBody>
                  <a:tcPr marL="45720" marR="45720" marT="18288" marB="18288">
                    <a:solidFill>
                      <a:srgbClr val="FFFFFF"/>
                    </a:solidFill>
                  </a:tcPr>
                </a:tc>
                <a:tc>
                  <a:txBody>
                    <a:bodyPr/>
                    <a:lstStyle/>
                    <a:p>
                      <a:r>
                        <a:rPr sz="1000" b="0">
                          <a:solidFill>
                            <a:srgbClr val="555F6B"/>
                          </a:solidFill>
                        </a:rPr>
                        <a:t>Tuyển dụng, chính sách, hợp đồng</a:t>
                      </a:r>
                    </a:p>
                  </a:txBody>
                  <a:tcPr marL="45720" marR="45720" marT="18288" marB="18288">
                    <a:solidFill>
                      <a:srgbClr val="FFFFFF"/>
                    </a:solidFill>
                  </a:tcPr>
                </a:tc>
                <a:tc>
                  <a:txBody>
                    <a:bodyPr/>
                    <a:lstStyle/>
                    <a:p>
                      <a:r>
                        <a:rPr sz="1000" b="0">
                          <a:solidFill>
                            <a:srgbClr val="555F6B"/>
                          </a:solidFill>
                        </a:rPr>
                        <a:t>Rà soát hợp đồng 0,15 · soạn mô tả công việc, chính sách 0,09 · tổng hợp chấm công 0,08 · đặt lịch phỏng vấn 0,05</a:t>
                      </a:r>
                    </a:p>
                  </a:txBody>
                  <a:tcPr marL="45720" marR="45720" marT="18288" marB="18288">
                    <a:solidFill>
                      <a:srgbClr val="FFFFFF"/>
                    </a:solidFill>
                  </a:tcPr>
                </a:tc>
                <a:tc>
                  <a:txBody>
                    <a:bodyPr/>
                    <a:lstStyle/>
                    <a:p>
                      <a:r>
                        <a:rPr sz="1000" b="0">
                          <a:solidFill>
                            <a:srgbClr val="555F6B"/>
                          </a:solidFill>
                        </a:rPr>
                        <a:t>6,26 + 0,37 = 6,63</a:t>
                      </a:r>
                    </a:p>
                  </a:txBody>
                  <a:tcPr marL="45720" marR="45720" marT="18288" marB="18288">
                    <a:solidFill>
                      <a:srgbClr val="FFFFFF"/>
                    </a:solidFill>
                  </a:tcPr>
                </a:tc>
                <a:tc>
                  <a:txBody>
                    <a:bodyPr/>
                    <a:lstStyle/>
                    <a:p>
                      <a:r>
                        <a:rPr sz="1000" b="0">
                          <a:solidFill>
                            <a:srgbClr val="555F6B"/>
                          </a:solidFill>
                        </a:rPr>
                        <a:t>260 × 6,63 = 1.723</a:t>
                      </a:r>
                    </a:p>
                  </a:txBody>
                  <a:tcPr marL="45720" marR="45720" marT="18288" marB="18288">
                    <a:solidFill>
                      <a:srgbClr val="FFFFFF"/>
                    </a:solidFill>
                  </a:tcPr>
                </a:tc>
              </a:tr>
              <a:tr h="429767">
                <a:tc>
                  <a:txBody>
                    <a:bodyPr/>
                    <a:lstStyle/>
                    <a:p>
                      <a:r>
                        <a:rPr sz="1000" b="0">
                          <a:solidFill>
                            <a:srgbClr val="555F6B"/>
                          </a:solidFill>
                        </a:rPr>
                        <a:t>Marketing (200)</a:t>
                      </a:r>
                    </a:p>
                  </a:txBody>
                  <a:tcPr marL="45720" marR="45720" marT="18288" marB="18288">
                    <a:solidFill>
                      <a:srgbClr val="EEF3F8"/>
                    </a:solidFill>
                  </a:tcPr>
                </a:tc>
                <a:tc>
                  <a:txBody>
                    <a:bodyPr/>
                    <a:lstStyle/>
                    <a:p>
                      <a:r>
                        <a:rPr sz="1000" b="0">
                          <a:solidFill>
                            <a:srgbClr val="555F6B"/>
                          </a:solidFill>
                        </a:rPr>
                        <a:t>Nội dung, chiến dịch, hình ảnh</a:t>
                      </a:r>
                    </a:p>
                  </a:txBody>
                  <a:tcPr marL="45720" marR="45720" marT="18288" marB="18288">
                    <a:solidFill>
                      <a:srgbClr val="EEF3F8"/>
                    </a:solidFill>
                  </a:tcPr>
                </a:tc>
                <a:tc>
                  <a:txBody>
                    <a:bodyPr/>
                    <a:lstStyle/>
                    <a:p>
                      <a:r>
                        <a:rPr sz="1000" b="0">
                          <a:solidFill>
                            <a:srgbClr val="555F6B"/>
                          </a:solidFill>
                        </a:rPr>
                        <a:t>Viết bài đăng, thông cáo 0,80 · ảnh, banner 0,25 · số liệu chiến dịch 0,12 · cập nhật kế hoạch 0,08</a:t>
                      </a:r>
                    </a:p>
                  </a:txBody>
                  <a:tcPr marL="45720" marR="45720" marT="18288" marB="18288">
                    <a:solidFill>
                      <a:srgbClr val="EEF3F8"/>
                    </a:solidFill>
                  </a:tcPr>
                </a:tc>
                <a:tc>
                  <a:txBody>
                    <a:bodyPr/>
                    <a:lstStyle/>
                    <a:p>
                      <a:r>
                        <a:rPr sz="1000" b="0">
                          <a:solidFill>
                            <a:srgbClr val="555F6B"/>
                          </a:solidFill>
                        </a:rPr>
                        <a:t>6,26 + 1,24 = 7,50</a:t>
                      </a:r>
                    </a:p>
                  </a:txBody>
                  <a:tcPr marL="45720" marR="45720" marT="18288" marB="18288">
                    <a:solidFill>
                      <a:srgbClr val="EEF3F8"/>
                    </a:solidFill>
                  </a:tcPr>
                </a:tc>
                <a:tc>
                  <a:txBody>
                    <a:bodyPr/>
                    <a:lstStyle/>
                    <a:p>
                      <a:r>
                        <a:rPr sz="1000" b="0">
                          <a:solidFill>
                            <a:srgbClr val="555F6B"/>
                          </a:solidFill>
                        </a:rPr>
                        <a:t>200 × 7,50 = 1.500</a:t>
                      </a:r>
                    </a:p>
                  </a:txBody>
                  <a:tcPr marL="45720" marR="45720" marT="18288" marB="18288">
                    <a:solidFill>
                      <a:srgbClr val="EEF3F8"/>
                    </a:solidFill>
                  </a:tcPr>
                </a:tc>
              </a:tr>
              <a:tr h="429767">
                <a:tc>
                  <a:txBody>
                    <a:bodyPr/>
                    <a:lstStyle/>
                    <a:p>
                      <a:r>
                        <a:rPr sz="1000" b="0">
                          <a:solidFill>
                            <a:srgbClr val="555F6B"/>
                          </a:solidFill>
                        </a:rPr>
                        <a:t>IT (200)</a:t>
                      </a:r>
                    </a:p>
                  </a:txBody>
                  <a:tcPr marL="45720" marR="45720" marT="18288" marB="18288">
                    <a:solidFill>
                      <a:srgbClr val="FFFFFF"/>
                    </a:solidFill>
                  </a:tcPr>
                </a:tc>
                <a:tc>
                  <a:txBody>
                    <a:bodyPr/>
                    <a:lstStyle/>
                    <a:p>
                      <a:r>
                        <a:rPr sz="1000" b="0">
                          <a:solidFill>
                            <a:srgbClr val="555F6B"/>
                          </a:solidFill>
                        </a:rPr>
                        <a:t>Phát triển phần mềm, hạ tầng, hỗ trợ</a:t>
                      </a:r>
                    </a:p>
                  </a:txBody>
                  <a:tcPr marL="45720" marR="45720" marT="18288" marB="18288">
                    <a:solidFill>
                      <a:srgbClr val="FFFFFF"/>
                    </a:solidFill>
                  </a:tcPr>
                </a:tc>
                <a:tc>
                  <a:txBody>
                    <a:bodyPr/>
                    <a:lstStyle/>
                    <a:p>
                      <a:r>
                        <a:rPr sz="1000" b="0">
                          <a:solidFill>
                            <a:srgbClr val="555F6B"/>
                          </a:solidFill>
                        </a:rPr>
                        <a:t>Tra cứu, phân loại ticket hỗ trợ 0,60 · agent cập nhật Jira, runbook 0,20 · viết code 0,16 · review code 0,08 · sơ đồ 0,05</a:t>
                      </a:r>
                    </a:p>
                  </a:txBody>
                  <a:tcPr marL="45720" marR="45720" marT="18288" marB="18288">
                    <a:solidFill>
                      <a:srgbClr val="FFFFFF"/>
                    </a:solidFill>
                  </a:tcPr>
                </a:tc>
                <a:tc>
                  <a:txBody>
                    <a:bodyPr/>
                    <a:lstStyle/>
                    <a:p>
                      <a:r>
                        <a:rPr sz="1000" b="0">
                          <a:solidFill>
                            <a:srgbClr val="555F6B"/>
                          </a:solidFill>
                        </a:rPr>
                        <a:t>6,26 + 1,09 = 7,35</a:t>
                      </a:r>
                    </a:p>
                  </a:txBody>
                  <a:tcPr marL="45720" marR="45720" marT="18288" marB="18288">
                    <a:solidFill>
                      <a:srgbClr val="FFFFFF"/>
                    </a:solidFill>
                  </a:tcPr>
                </a:tc>
                <a:tc>
                  <a:txBody>
                    <a:bodyPr/>
                    <a:lstStyle/>
                    <a:p>
                      <a:r>
                        <a:rPr sz="1000" b="0">
                          <a:solidFill>
                            <a:srgbClr val="555F6B"/>
                          </a:solidFill>
                        </a:rPr>
                        <a:t>200 × 7,35 = 1.469</a:t>
                      </a:r>
                    </a:p>
                  </a:txBody>
                  <a:tcPr marL="45720" marR="45720" marT="18288" marB="18288">
                    <a:solidFill>
                      <a:srgbClr val="FFFFFF"/>
                    </a:solidFill>
                  </a:tcPr>
                </a:tc>
              </a:tr>
              <a:tr h="429767">
                <a:tc>
                  <a:txBody>
                    <a:bodyPr/>
                    <a:lstStyle/>
                    <a:p>
                      <a:r>
                        <a:rPr sz="1000" b="0">
                          <a:solidFill>
                            <a:srgbClr val="555F6B"/>
                          </a:solidFill>
                        </a:rPr>
                        <a:t>Mua hàng, SCM (200)</a:t>
                      </a:r>
                    </a:p>
                  </a:txBody>
                  <a:tcPr marL="45720" marR="45720" marT="18288" marB="18288">
                    <a:solidFill>
                      <a:srgbClr val="EEF3F8"/>
                    </a:solidFill>
                  </a:tcPr>
                </a:tc>
                <a:tc>
                  <a:txBody>
                    <a:bodyPr/>
                    <a:lstStyle/>
                    <a:p>
                      <a:r>
                        <a:rPr sz="1000" b="0">
                          <a:solidFill>
                            <a:srgbClr val="555F6B"/>
                          </a:solidFill>
                        </a:rPr>
                        <a:t>Nhà cung cấp, đặt hàng, giao hàng</a:t>
                      </a:r>
                    </a:p>
                  </a:txBody>
                  <a:tcPr marL="45720" marR="45720" marT="18288" marB="18288">
                    <a:solidFill>
                      <a:srgbClr val="EEF3F8"/>
                    </a:solidFill>
                  </a:tcPr>
                </a:tc>
                <a:tc>
                  <a:txBody>
                    <a:bodyPr/>
                    <a:lstStyle/>
                    <a:p>
                      <a:r>
                        <a:rPr sz="1000" b="0">
                          <a:solidFill>
                            <a:srgbClr val="555F6B"/>
                          </a:solidFill>
                        </a:rPr>
                        <a:t>So sánh báo giá nhà cung cấp 0,56 · agent cập nhật lịch giao hàng 0,05</a:t>
                      </a:r>
                    </a:p>
                  </a:txBody>
                  <a:tcPr marL="45720" marR="45720" marT="18288" marB="18288">
                    <a:solidFill>
                      <a:srgbClr val="EEF3F8"/>
                    </a:solidFill>
                  </a:tcPr>
                </a:tc>
                <a:tc>
                  <a:txBody>
                    <a:bodyPr/>
                    <a:lstStyle/>
                    <a:p>
                      <a:r>
                        <a:rPr sz="1000" b="0">
                          <a:solidFill>
                            <a:srgbClr val="555F6B"/>
                          </a:solidFill>
                        </a:rPr>
                        <a:t>6,26 + 0,61 = 6,87</a:t>
                      </a:r>
                    </a:p>
                  </a:txBody>
                  <a:tcPr marL="45720" marR="45720" marT="18288" marB="18288">
                    <a:solidFill>
                      <a:srgbClr val="EEF3F8"/>
                    </a:solidFill>
                  </a:tcPr>
                </a:tc>
                <a:tc>
                  <a:txBody>
                    <a:bodyPr/>
                    <a:lstStyle/>
                    <a:p>
                      <a:r>
                        <a:rPr sz="1000" b="0">
                          <a:solidFill>
                            <a:srgbClr val="555F6B"/>
                          </a:solidFill>
                        </a:rPr>
                        <a:t>200 × 6,87 = 1.373</a:t>
                      </a:r>
                    </a:p>
                  </a:txBody>
                  <a:tcPr marL="45720" marR="45720" marT="18288" marB="18288">
                    <a:solidFill>
                      <a:srgbClr val="EEF3F8"/>
                    </a:solidFill>
                  </a:tcPr>
                </a:tc>
              </a:tr>
              <a:tr h="429767">
                <a:tc>
                  <a:txBody>
                    <a:bodyPr/>
                    <a:lstStyle/>
                    <a:p>
                      <a:r>
                        <a:rPr sz="1000" b="0">
                          <a:solidFill>
                            <a:srgbClr val="555F6B"/>
                          </a:solidFill>
                        </a:rPr>
                        <a:t>Lãnh đạo, trợ lý (100)</a:t>
                      </a:r>
                    </a:p>
                  </a:txBody>
                  <a:tcPr marL="45720" marR="45720" marT="18288" marB="18288">
                    <a:solidFill>
                      <a:srgbClr val="FFFFFF"/>
                    </a:solidFill>
                  </a:tcPr>
                </a:tc>
                <a:tc>
                  <a:txBody>
                    <a:bodyPr/>
                    <a:lstStyle/>
                    <a:p>
                      <a:r>
                        <a:rPr sz="1000" b="0">
                          <a:solidFill>
                            <a:srgbClr val="555F6B"/>
                          </a:solidFill>
                        </a:rPr>
                        <a:t>Ra quyết định, họp nhiều</a:t>
                      </a:r>
                    </a:p>
                  </a:txBody>
                  <a:tcPr marL="45720" marR="45720" marT="18288" marB="18288">
                    <a:solidFill>
                      <a:srgbClr val="FFFFFF"/>
                    </a:solidFill>
                  </a:tcPr>
                </a:tc>
                <a:tc>
                  <a:txBody>
                    <a:bodyPr/>
                    <a:lstStyle/>
                    <a:p>
                      <a:r>
                        <a:rPr sz="1000" b="0">
                          <a:solidFill>
                            <a:srgbClr val="555F6B"/>
                          </a:solidFill>
                        </a:rPr>
                        <a:t>Họp 4,6 cuộc/ngày nên biên bản họp là 0,92 thay vì 0,40 · agent chuẩn bị briefing 0,92 · sắp lịch 0,20 · slide 0,10</a:t>
                      </a:r>
                    </a:p>
                  </a:txBody>
                  <a:tcPr marL="45720" marR="45720" marT="18288" marB="18288">
                    <a:solidFill>
                      <a:srgbClr val="FFFFFF"/>
                    </a:solidFill>
                  </a:tcPr>
                </a:tc>
                <a:tc>
                  <a:txBody>
                    <a:bodyPr/>
                    <a:lstStyle/>
                    <a:p>
                      <a:r>
                        <a:rPr sz="1000" b="0">
                          <a:solidFill>
                            <a:srgbClr val="555F6B"/>
                          </a:solidFill>
                        </a:rPr>
                        <a:t>6,26 + 1,74 = 8,00</a:t>
                      </a:r>
                    </a:p>
                  </a:txBody>
                  <a:tcPr marL="45720" marR="45720" marT="18288" marB="18288">
                    <a:solidFill>
                      <a:srgbClr val="FFFFFF"/>
                    </a:solidFill>
                  </a:tcPr>
                </a:tc>
                <a:tc>
                  <a:txBody>
                    <a:bodyPr/>
                    <a:lstStyle/>
                    <a:p>
                      <a:r>
                        <a:rPr sz="1000" b="0">
                          <a:solidFill>
                            <a:srgbClr val="555F6B"/>
                          </a:solidFill>
                        </a:rPr>
                        <a:t>100 × 8,00 = 800</a:t>
                      </a:r>
                    </a:p>
                  </a:txBody>
                  <a:tcPr marL="45720" marR="45720" marT="18288" marB="18288">
                    <a:solidFill>
                      <a:srgbClr val="FFFFFF"/>
                    </a:solidFill>
                  </a:tcPr>
                </a:tc>
              </a:tr>
              <a:tr h="429776">
                <a:tc>
                  <a:txBody>
                    <a:bodyPr/>
                    <a:lstStyle/>
                    <a:p>
                      <a:r>
                        <a:rPr sz="1000" b="0">
                          <a:solidFill>
                            <a:srgbClr val="555F6B"/>
                          </a:solidFill>
                        </a:rPr>
                        <a:t>Toàn công ty (2.000)</a:t>
                      </a:r>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r>
                        <a:rPr sz="1000" b="0">
                          <a:solidFill>
                            <a:srgbClr val="555F6B"/>
                          </a:solidFill>
                        </a:rPr>
                        <a:t>7,06 (trung bình)</a:t>
                      </a:r>
                    </a:p>
                  </a:txBody>
                  <a:tcPr marL="45720" marR="45720" marT="18288" marB="18288">
                    <a:solidFill>
                      <a:srgbClr val="EEF3F8"/>
                    </a:solidFill>
                  </a:tcPr>
                </a:tc>
                <a:tc>
                  <a:txBody>
                    <a:bodyPr/>
                    <a:lstStyle/>
                    <a:p>
                      <a:r>
                        <a:rPr sz="1000" b="0">
                          <a:solidFill>
                            <a:srgbClr val="555F6B"/>
                          </a:solidFill>
                        </a:rPr>
                        <a:t>14.120</a:t>
                      </a:r>
                    </a:p>
                  </a:txBody>
                  <a:tcPr marL="45720" marR="45720" marT="18288" marB="18288">
                    <a:solidFill>
                      <a:srgbClr val="EEF3F8"/>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000" b="0">
                <a:solidFill>
                  <a:srgbClr val="555F6B"/>
                </a:solidFill>
              </a:rPr>
              <a:t>Số đã làm tròn 2 chữ số. Nguồn khối lượng việc riêng: APQC (hóa đơn, đơn mua hàng), Graphite (code), MetricNet (ticket IT), HBR 2017 (giờ họp của lãnh đạo); còn lại là giả định của nhóm.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