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c:v>
                </c:pt>
              </c:strCache>
            </c:strRef>
          </c:tx>
          <c:dPt>
            <c:idx val="0"/>
            <c:spPr>
              <a:solidFill>
                <a:srgbClr val="2A78D6"/>
              </a:solidFill>
              <a:ln w="19050">
                <a:solidFill>
                  <a:srgbClr val="FFFFFF"/>
                </a:solidFill>
              </a:ln>
            </c:spPr>
          </c:dPt>
          <c:dPt>
            <c:idx val="1"/>
            <c:spPr>
              <a:solidFill>
                <a:srgbClr val="EB6834"/>
              </a:solidFill>
              <a:ln w="19050">
                <a:solidFill>
                  <a:srgbClr val="FFFFFF"/>
                </a:solidFill>
              </a:ln>
            </c:spPr>
          </c:dPt>
          <c:dPt>
            <c:idx val="2"/>
            <c:spPr>
              <a:solidFill>
                <a:srgbClr val="1BAF7A"/>
              </a:solidFill>
              <a:ln w="19050">
                <a:solidFill>
                  <a:srgbClr val="FFFFFF"/>
                </a:solidFill>
              </a:ln>
            </c:spPr>
          </c:dPt>
          <c:dPt>
            <c:idx val="3"/>
            <c:spPr>
              <a:solidFill>
                <a:srgbClr val="EDA100"/>
              </a:solidFill>
              <a:ln w="19050">
                <a:solidFill>
                  <a:srgbClr val="FFFFFF"/>
                </a:solidFill>
              </a:ln>
            </c:spPr>
          </c:dPt>
          <c:dPt>
            <c:idx val="4"/>
            <c:spPr>
              <a:solidFill>
                <a:srgbClr val="E87BA4"/>
              </a:solidFill>
              <a:ln w="19050">
                <a:solidFill>
                  <a:srgbClr val="FFFFFF"/>
                </a:solidFill>
              </a:ln>
            </c:spPr>
          </c:dPt>
          <c:dPt>
            <c:idx val="5"/>
            <c:spPr>
              <a:solidFill>
                <a:srgbClr val="008300"/>
              </a:solidFill>
              <a:ln w="19050">
                <a:solidFill>
                  <a:srgbClr val="FFFFFF"/>
                </a:solidFill>
              </a:ln>
            </c:spPr>
          </c:dPt>
          <c:dPt>
            <c:idx val="6"/>
            <c:spPr>
              <a:solidFill>
                <a:srgbClr val="4A3AA7"/>
              </a:solidFill>
              <a:ln w="19050">
                <a:solidFill>
                  <a:srgbClr val="FFFFFF"/>
                </a:solidFill>
              </a:ln>
            </c:spPr>
          </c:dPt>
          <c:dPt>
            <c:idx val="7"/>
            <c:spPr>
              <a:solidFill>
                <a:srgbClr val="E34948"/>
              </a:solidFill>
              <a:ln w="19050">
                <a:solidFill>
                  <a:srgbClr val="FFFFFF"/>
                </a:solidFill>
              </a:ln>
            </c:spPr>
          </c:dPt>
          <c:cat>
            <c:strRef>
              <c:f>Sheet1!$A$2:$A$9</c:f>
              <c:strCache>
                <c:ptCount val="8"/>
                <c:pt idx="0">
                  <c:v>Kinh doanh, CSKH</c:v>
                </c:pt>
                <c:pt idx="1">
                  <c:v>Quản lý dự án, vận hành</c:v>
                </c:pt>
                <c:pt idx="2">
                  <c:v>Kế toán</c:v>
                </c:pt>
                <c:pt idx="3">
                  <c:v>Nhân sự, HC, pháp chế</c:v>
                </c:pt>
                <c:pt idx="4">
                  <c:v>Marketing</c:v>
                </c:pt>
                <c:pt idx="5">
                  <c:v>IT</c:v>
                </c:pt>
                <c:pt idx="6">
                  <c:v>Mua hàng, SCM</c:v>
                </c:pt>
                <c:pt idx="7">
                  <c:v>Lãnh đạo, trợ lý</c:v>
                </c:pt>
              </c:strCache>
            </c:strRef>
          </c:cat>
          <c:val>
            <c:numRef>
              <c:f>Sheet1!$B$2:$B$9</c:f>
              <c:numCache>
                <c:formatCode>General</c:formatCode>
                <c:ptCount val="8"/>
                <c:pt idx="0">
                  <c:v>3242.5</c:v>
                </c:pt>
                <c:pt idx="1">
                  <c:v>2236.5000000000005</c:v>
                </c:pt>
                <c:pt idx="2">
                  <c:v>1777.2</c:v>
                </c:pt>
                <c:pt idx="3">
                  <c:v>1722.5000000000002</c:v>
                </c:pt>
                <c:pt idx="4">
                  <c:v>1500.0000000000002</c:v>
                </c:pt>
                <c:pt idx="5">
                  <c:v>1469.0000000000002</c:v>
                </c:pt>
                <c:pt idx="6">
                  <c:v>1373.0000000000002</c:v>
                </c:pt>
                <c:pt idx="7">
                  <c:v>799.5</c:v>
                </c:pt>
              </c:numCache>
            </c:numRef>
          </c:val>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c:v>
                </c:pt>
              </c:strCache>
            </c:strRef>
          </c:tx>
          <c:dPt>
            <c:idx val="0"/>
            <c:spPr>
              <a:solidFill>
                <a:srgbClr val="104281"/>
              </a:solidFill>
              <a:ln w="19050">
                <a:solidFill>
                  <a:srgbClr val="FFFFFF"/>
                </a:solidFill>
              </a:ln>
            </c:spPr>
          </c:dPt>
          <c:dPt>
            <c:idx val="1"/>
            <c:spPr>
              <a:solidFill>
                <a:srgbClr val="1C5CAB"/>
              </a:solidFill>
              <a:ln w="19050">
                <a:solidFill>
                  <a:srgbClr val="FFFFFF"/>
                </a:solidFill>
              </a:ln>
            </c:spPr>
          </c:dPt>
          <c:dPt>
            <c:idx val="2"/>
            <c:spPr>
              <a:solidFill>
                <a:srgbClr val="2A78D6"/>
              </a:solidFill>
              <a:ln w="19050">
                <a:solidFill>
                  <a:srgbClr val="FFFFFF"/>
                </a:solidFill>
              </a:ln>
            </c:spPr>
          </c:dPt>
          <c:dPt>
            <c:idx val="3"/>
            <c:spPr>
              <a:solidFill>
                <a:srgbClr val="5598E7"/>
              </a:solidFill>
              <a:ln w="19050">
                <a:solidFill>
                  <a:srgbClr val="FFFFFF"/>
                </a:solidFill>
              </a:ln>
            </c:spPr>
          </c:dPt>
          <c:dPt>
            <c:idx val="4"/>
            <c:spPr>
              <a:solidFill>
                <a:srgbClr val="86B6EF"/>
              </a:solidFill>
              <a:ln w="19050">
                <a:solidFill>
                  <a:srgbClr val="FFFFFF"/>
                </a:solidFill>
              </a:ln>
            </c:spPr>
          </c:dPt>
          <c:cat>
            <c:strRef>
              <c:f>Sheet1!$A$2:$A$6</c:f>
              <c:strCache>
                <c:ptCount val="5"/>
                <c:pt idx="0">
                  <c:v>Cấp 1</c:v>
                </c:pt>
                <c:pt idx="1">
                  <c:v>Cấp 2</c:v>
                </c:pt>
                <c:pt idx="2">
                  <c:v>Cấp 3</c:v>
                </c:pt>
                <c:pt idx="3">
                  <c:v>Cấp 4</c:v>
                </c:pt>
                <c:pt idx="4">
                  <c:v>Cấp 5</c:v>
                </c:pt>
              </c:strCache>
            </c:strRef>
          </c:cat>
          <c:val>
            <c:numRef>
              <c:f>Sheet1!$B$2:$B$6</c:f>
              <c:numCache>
                <c:formatCode>General</c:formatCode>
                <c:ptCount val="5"/>
                <c:pt idx="0">
                  <c:v>11863.400000000001</c:v>
                </c:pt>
                <c:pt idx="1">
                  <c:v>1051.0</c:v>
                </c:pt>
                <c:pt idx="2">
                  <c:v>554.8</c:v>
                </c:pt>
                <c:pt idx="3">
                  <c:v>552.0</c:v>
                </c:pt>
                <c:pt idx="4">
                  <c:v>99.0</c:v>
                </c:pt>
              </c:numCache>
            </c:numRef>
          </c:val>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515600" cy="1097280"/>
          </a:xfrm>
          <a:prstGeom prst="rect">
            <a:avLst/>
          </a:prstGeom>
          <a:noFill/>
        </p:spPr>
        <p:txBody>
          <a:bodyPr wrap="square">
            <a:spAutoFit/>
          </a:bodyPr>
          <a:lstStyle/>
          <a:p>
            <a:pPr algn="l">
              <a:spcAft>
                <a:spcPts val="400"/>
              </a:spcAft>
            </a:pPr>
            <a:r>
              <a:rPr sz="4800" b="1">
                <a:solidFill>
                  <a:srgbClr val="FFFFFF"/>
                </a:solidFill>
              </a:rPr>
              <a:t>VBot Workplace</a:t>
            </a:r>
          </a:p>
        </p:txBody>
      </p:sp>
      <p:sp>
        <p:nvSpPr>
          <p:cNvPr id="4" name="TextBox 3"/>
          <p:cNvSpPr txBox="1"/>
          <p:nvPr/>
        </p:nvSpPr>
        <p:spPr>
          <a:xfrm>
            <a:off x="731520" y="2834640"/>
            <a:ext cx="10515600" cy="731520"/>
          </a:xfrm>
          <a:prstGeom prst="rect">
            <a:avLst/>
          </a:prstGeom>
          <a:noFill/>
        </p:spPr>
        <p:txBody>
          <a:bodyPr wrap="square">
            <a:spAutoFit/>
          </a:bodyPr>
          <a:lstStyle/>
          <a:p>
            <a:pPr algn="l">
              <a:spcAft>
                <a:spcPts val="400"/>
              </a:spcAft>
            </a:pPr>
            <a:r>
              <a:rPr sz="2400" b="0">
                <a:solidFill>
                  <a:srgbClr val="FFFFFF"/>
                </a:solidFill>
              </a:rPr>
              <a:t>Trợ lý AI văn phòng trên Google Cloud cho 2.000 người dùng mỗi ngày</a:t>
            </a:r>
          </a:p>
        </p:txBody>
      </p:sp>
      <p:sp>
        <p:nvSpPr>
          <p:cNvPr id="5" name="TextBox 4"/>
          <p:cNvSpPr txBox="1"/>
          <p:nvPr/>
        </p:nvSpPr>
        <p:spPr>
          <a:xfrm>
            <a:off x="731520" y="3931920"/>
            <a:ext cx="10515600" cy="1097280"/>
          </a:xfrm>
          <a:prstGeom prst="rect">
            <a:avLst/>
          </a:prstGeom>
          <a:noFill/>
        </p:spPr>
        <p:txBody>
          <a:bodyPr wrap="square">
            <a:spAutoFit/>
          </a:bodyPr>
          <a:lstStyle/>
          <a:p>
            <a:pPr algn="l">
              <a:spcAft>
                <a:spcPts val="400"/>
              </a:spcAft>
            </a:pPr>
            <a:r>
              <a:rPr sz="1800" b="0">
                <a:solidFill>
                  <a:srgbClr val="BFD7EA"/>
                </a:solidFill>
              </a:rPr>
              <a:t>Tổng chi phí: 6.821,44 USD/tháng, tức 3,41 USD cho mỗi người dùng hoạt động (DAU)</a:t>
            </a:r>
          </a:p>
          <a:p>
            <a:pPr algn="l">
              <a:spcAft>
                <a:spcPts val="400"/>
              </a:spcAft>
            </a:pPr>
            <a:r>
              <a:rPr sz="1800" b="0">
                <a:solidFill>
                  <a:srgbClr val="BFD7EA"/>
                </a:solidFill>
              </a:rPr>
              <a:t>Track 2 · Production Capstone · Nhóm G03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1. Tải: 14.120 việc/ngày, 91% là việc nhẹ</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Đề cho 2.000 người dùng mỗi ngày (DAU). Nhóm ước lượng từng việc của 8 phòng ban: số việc = khối lượng thật × tỉ lệ giao cho AI</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1a</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sp>
        <p:nvSpPr>
          <p:cNvPr id="7" name="TextBox 6"/>
          <p:cNvSpPr txBox="1"/>
          <p:nvPr/>
        </p:nvSpPr>
        <p:spPr>
          <a:xfrm>
            <a:off x="457200" y="1371600"/>
            <a:ext cx="5486400" cy="365760"/>
          </a:xfrm>
          <a:prstGeom prst="rect">
            <a:avLst/>
          </a:prstGeom>
          <a:noFill/>
        </p:spPr>
        <p:txBody>
          <a:bodyPr wrap="square">
            <a:spAutoFit/>
          </a:bodyPr>
          <a:lstStyle/>
          <a:p>
            <a:pPr algn="l">
              <a:spcAft>
                <a:spcPts val="400"/>
              </a:spcAft>
            </a:pPr>
            <a:r>
              <a:rPr sz="1400" b="1">
                <a:solidFill>
                  <a:srgbClr val="1F3A5F"/>
                </a:solidFill>
              </a:rPr>
              <a:t>Ai tạo ra việc? Nhiệm vụ mỗi ngày theo phòng ban</a:t>
            </a:r>
          </a:p>
        </p:txBody>
      </p:sp>
      <p:graphicFrame>
        <p:nvGraphicFramePr>
          <p:cNvPr id="8" name="Chart 7"/>
          <p:cNvGraphicFramePr>
            <a:graphicFrameLocks noGrp="1"/>
          </p:cNvGraphicFramePr>
          <p:nvPr/>
        </p:nvGraphicFramePr>
        <p:xfrm>
          <a:off x="320040" y="1828800"/>
          <a:ext cx="2468880" cy="2468880"/>
        </p:xfrm>
        <a:graphic>
          <a:graphicData uri="http://schemas.openxmlformats.org/drawingml/2006/chart">
            <c:chart xmlns:c="http://schemas.openxmlformats.org/drawingml/2006/chart" r:id="rId2"/>
          </a:graphicData>
        </a:graphic>
      </p:graphicFrame>
      <p:sp>
        <p:nvSpPr>
          <p:cNvPr id="9" name="TextBox 8"/>
          <p:cNvSpPr txBox="1"/>
          <p:nvPr/>
        </p:nvSpPr>
        <p:spPr>
          <a:xfrm>
            <a:off x="813816" y="2679192"/>
            <a:ext cx="1481328" cy="731520"/>
          </a:xfrm>
          <a:prstGeom prst="rect">
            <a:avLst/>
          </a:prstGeom>
          <a:noFill/>
        </p:spPr>
        <p:txBody>
          <a:bodyPr wrap="square">
            <a:spAutoFit/>
          </a:bodyPr>
          <a:lstStyle/>
          <a:p>
            <a:pPr algn="ctr">
              <a:spcAft>
                <a:spcPts val="400"/>
              </a:spcAft>
            </a:pPr>
            <a:r>
              <a:rPr sz="1300" b="1">
                <a:solidFill>
                  <a:srgbClr val="1F3A5F"/>
                </a:solidFill>
              </a:rPr>
              <a:t>14.120</a:t>
            </a:r>
          </a:p>
          <a:p>
            <a:pPr algn="ctr">
              <a:spcAft>
                <a:spcPts val="400"/>
              </a:spcAft>
            </a:pPr>
            <a:r>
              <a:rPr sz="1300" b="0">
                <a:solidFill>
                  <a:srgbClr val="1F3A5F"/>
                </a:solidFill>
              </a:rPr>
              <a:t>nhiệm vụ/ngày</a:t>
            </a:r>
          </a:p>
        </p:txBody>
      </p:sp>
      <p:sp>
        <p:nvSpPr>
          <p:cNvPr id="10" name="Rounded Rectangle 9"/>
          <p:cNvSpPr/>
          <p:nvPr/>
        </p:nvSpPr>
        <p:spPr>
          <a:xfrm>
            <a:off x="2880360" y="1901952"/>
            <a:ext cx="146304" cy="146304"/>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63240" y="1828800"/>
            <a:ext cx="2103120" cy="283464"/>
          </a:xfrm>
          <a:prstGeom prst="rect">
            <a:avLst/>
          </a:prstGeom>
          <a:noFill/>
        </p:spPr>
        <p:txBody>
          <a:bodyPr wrap="square">
            <a:spAutoFit/>
          </a:bodyPr>
          <a:lstStyle/>
          <a:p>
            <a:pPr algn="l">
              <a:spcAft>
                <a:spcPts val="400"/>
              </a:spcAft>
            </a:pPr>
            <a:r>
              <a:rPr sz="1100" b="0">
                <a:solidFill>
                  <a:srgbClr val="555F6B"/>
                </a:solidFill>
              </a:rPr>
              <a:t>Kinh doanh, CSKH (500)</a:t>
            </a:r>
          </a:p>
        </p:txBody>
      </p:sp>
      <p:sp>
        <p:nvSpPr>
          <p:cNvPr id="12" name="TextBox 11"/>
          <p:cNvSpPr txBox="1"/>
          <p:nvPr/>
        </p:nvSpPr>
        <p:spPr>
          <a:xfrm>
            <a:off x="5166360" y="1828800"/>
            <a:ext cx="1097280" cy="283464"/>
          </a:xfrm>
          <a:prstGeom prst="rect">
            <a:avLst/>
          </a:prstGeom>
          <a:noFill/>
        </p:spPr>
        <p:txBody>
          <a:bodyPr wrap="square">
            <a:spAutoFit/>
          </a:bodyPr>
          <a:lstStyle/>
          <a:p>
            <a:pPr algn="r">
              <a:spcAft>
                <a:spcPts val="400"/>
              </a:spcAft>
            </a:pPr>
            <a:r>
              <a:rPr sz="1100" b="0">
                <a:solidFill>
                  <a:srgbClr val="555F6B"/>
                </a:solidFill>
              </a:rPr>
              <a:t>3.242 · 23%</a:t>
            </a:r>
          </a:p>
        </p:txBody>
      </p:sp>
      <p:sp>
        <p:nvSpPr>
          <p:cNvPr id="13" name="Rounded Rectangle 12"/>
          <p:cNvSpPr/>
          <p:nvPr/>
        </p:nvSpPr>
        <p:spPr>
          <a:xfrm>
            <a:off x="2880360" y="2185416"/>
            <a:ext cx="146304" cy="146304"/>
          </a:xfrm>
          <a:prstGeom prst="round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63240" y="2112264"/>
            <a:ext cx="2103120" cy="283464"/>
          </a:xfrm>
          <a:prstGeom prst="rect">
            <a:avLst/>
          </a:prstGeom>
          <a:noFill/>
        </p:spPr>
        <p:txBody>
          <a:bodyPr wrap="square">
            <a:spAutoFit/>
          </a:bodyPr>
          <a:lstStyle/>
          <a:p>
            <a:pPr algn="l">
              <a:spcAft>
                <a:spcPts val="400"/>
              </a:spcAft>
            </a:pPr>
            <a:r>
              <a:rPr sz="1100" b="0">
                <a:solidFill>
                  <a:srgbClr val="555F6B"/>
                </a:solidFill>
              </a:rPr>
              <a:t>Quản lý dự án, vận hành (300)</a:t>
            </a:r>
          </a:p>
        </p:txBody>
      </p:sp>
      <p:sp>
        <p:nvSpPr>
          <p:cNvPr id="15" name="TextBox 14"/>
          <p:cNvSpPr txBox="1"/>
          <p:nvPr/>
        </p:nvSpPr>
        <p:spPr>
          <a:xfrm>
            <a:off x="5166360" y="2112264"/>
            <a:ext cx="1097280" cy="283464"/>
          </a:xfrm>
          <a:prstGeom prst="rect">
            <a:avLst/>
          </a:prstGeom>
          <a:noFill/>
        </p:spPr>
        <p:txBody>
          <a:bodyPr wrap="square">
            <a:spAutoFit/>
          </a:bodyPr>
          <a:lstStyle/>
          <a:p>
            <a:pPr algn="r">
              <a:spcAft>
                <a:spcPts val="400"/>
              </a:spcAft>
            </a:pPr>
            <a:r>
              <a:rPr sz="1100" b="0">
                <a:solidFill>
                  <a:srgbClr val="555F6B"/>
                </a:solidFill>
              </a:rPr>
              <a:t>2.237 · 16%</a:t>
            </a:r>
          </a:p>
        </p:txBody>
      </p:sp>
      <p:sp>
        <p:nvSpPr>
          <p:cNvPr id="16" name="Rounded Rectangle 15"/>
          <p:cNvSpPr/>
          <p:nvPr/>
        </p:nvSpPr>
        <p:spPr>
          <a:xfrm>
            <a:off x="2880360" y="2468880"/>
            <a:ext cx="146304" cy="146304"/>
          </a:xfrm>
          <a:prstGeom prst="round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63240" y="2395728"/>
            <a:ext cx="2103120" cy="283464"/>
          </a:xfrm>
          <a:prstGeom prst="rect">
            <a:avLst/>
          </a:prstGeom>
          <a:noFill/>
        </p:spPr>
        <p:txBody>
          <a:bodyPr wrap="square">
            <a:spAutoFit/>
          </a:bodyPr>
          <a:lstStyle/>
          <a:p>
            <a:pPr algn="l">
              <a:spcAft>
                <a:spcPts val="400"/>
              </a:spcAft>
            </a:pPr>
            <a:r>
              <a:rPr sz="1100" b="0">
                <a:solidFill>
                  <a:srgbClr val="555F6B"/>
                </a:solidFill>
              </a:rPr>
              <a:t>Kế toán (240)</a:t>
            </a:r>
          </a:p>
        </p:txBody>
      </p:sp>
      <p:sp>
        <p:nvSpPr>
          <p:cNvPr id="18" name="TextBox 17"/>
          <p:cNvSpPr txBox="1"/>
          <p:nvPr/>
        </p:nvSpPr>
        <p:spPr>
          <a:xfrm>
            <a:off x="5166360" y="2395728"/>
            <a:ext cx="1097280" cy="283464"/>
          </a:xfrm>
          <a:prstGeom prst="rect">
            <a:avLst/>
          </a:prstGeom>
          <a:noFill/>
        </p:spPr>
        <p:txBody>
          <a:bodyPr wrap="square">
            <a:spAutoFit/>
          </a:bodyPr>
          <a:lstStyle/>
          <a:p>
            <a:pPr algn="r">
              <a:spcAft>
                <a:spcPts val="400"/>
              </a:spcAft>
            </a:pPr>
            <a:r>
              <a:rPr sz="1100" b="0">
                <a:solidFill>
                  <a:srgbClr val="555F6B"/>
                </a:solidFill>
              </a:rPr>
              <a:t>1.777 · 13%</a:t>
            </a:r>
          </a:p>
        </p:txBody>
      </p:sp>
      <p:sp>
        <p:nvSpPr>
          <p:cNvPr id="19" name="Rounded Rectangle 18"/>
          <p:cNvSpPr/>
          <p:nvPr/>
        </p:nvSpPr>
        <p:spPr>
          <a:xfrm>
            <a:off x="2880360" y="2752344"/>
            <a:ext cx="146304" cy="146304"/>
          </a:xfrm>
          <a:prstGeom prst="roundRect">
            <a:avLst/>
          </a:prstGeom>
          <a:solidFill>
            <a:srgbClr val="EDA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63240" y="2679191"/>
            <a:ext cx="2103120" cy="283464"/>
          </a:xfrm>
          <a:prstGeom prst="rect">
            <a:avLst/>
          </a:prstGeom>
          <a:noFill/>
        </p:spPr>
        <p:txBody>
          <a:bodyPr wrap="square">
            <a:spAutoFit/>
          </a:bodyPr>
          <a:lstStyle/>
          <a:p>
            <a:pPr algn="l">
              <a:spcAft>
                <a:spcPts val="400"/>
              </a:spcAft>
            </a:pPr>
            <a:r>
              <a:rPr sz="1100" b="0">
                <a:solidFill>
                  <a:srgbClr val="555F6B"/>
                </a:solidFill>
              </a:rPr>
              <a:t>Nhân sự, HC, pháp chế (260)</a:t>
            </a:r>
          </a:p>
        </p:txBody>
      </p:sp>
      <p:sp>
        <p:nvSpPr>
          <p:cNvPr id="21" name="TextBox 20"/>
          <p:cNvSpPr txBox="1"/>
          <p:nvPr/>
        </p:nvSpPr>
        <p:spPr>
          <a:xfrm>
            <a:off x="5166360" y="2679191"/>
            <a:ext cx="1097280" cy="283464"/>
          </a:xfrm>
          <a:prstGeom prst="rect">
            <a:avLst/>
          </a:prstGeom>
          <a:noFill/>
        </p:spPr>
        <p:txBody>
          <a:bodyPr wrap="square">
            <a:spAutoFit/>
          </a:bodyPr>
          <a:lstStyle/>
          <a:p>
            <a:pPr algn="r">
              <a:spcAft>
                <a:spcPts val="400"/>
              </a:spcAft>
            </a:pPr>
            <a:r>
              <a:rPr sz="1100" b="0">
                <a:solidFill>
                  <a:srgbClr val="555F6B"/>
                </a:solidFill>
              </a:rPr>
              <a:t>1.723 · 12%</a:t>
            </a:r>
          </a:p>
        </p:txBody>
      </p:sp>
      <p:sp>
        <p:nvSpPr>
          <p:cNvPr id="22" name="Rounded Rectangle 21"/>
          <p:cNvSpPr/>
          <p:nvPr/>
        </p:nvSpPr>
        <p:spPr>
          <a:xfrm>
            <a:off x="2880360" y="3035808"/>
            <a:ext cx="146304" cy="146304"/>
          </a:xfrm>
          <a:prstGeom prst="roundRect">
            <a:avLst/>
          </a:prstGeom>
          <a:solidFill>
            <a:srgbClr val="E87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63240" y="2962656"/>
            <a:ext cx="2103120" cy="283464"/>
          </a:xfrm>
          <a:prstGeom prst="rect">
            <a:avLst/>
          </a:prstGeom>
          <a:noFill/>
        </p:spPr>
        <p:txBody>
          <a:bodyPr wrap="square">
            <a:spAutoFit/>
          </a:bodyPr>
          <a:lstStyle/>
          <a:p>
            <a:pPr algn="l">
              <a:spcAft>
                <a:spcPts val="400"/>
              </a:spcAft>
            </a:pPr>
            <a:r>
              <a:rPr sz="1100" b="0">
                <a:solidFill>
                  <a:srgbClr val="555F6B"/>
                </a:solidFill>
              </a:rPr>
              <a:t>Marketing (200)</a:t>
            </a:r>
          </a:p>
        </p:txBody>
      </p:sp>
      <p:sp>
        <p:nvSpPr>
          <p:cNvPr id="24" name="TextBox 23"/>
          <p:cNvSpPr txBox="1"/>
          <p:nvPr/>
        </p:nvSpPr>
        <p:spPr>
          <a:xfrm>
            <a:off x="5166360" y="2962656"/>
            <a:ext cx="1097280" cy="283464"/>
          </a:xfrm>
          <a:prstGeom prst="rect">
            <a:avLst/>
          </a:prstGeom>
          <a:noFill/>
        </p:spPr>
        <p:txBody>
          <a:bodyPr wrap="square">
            <a:spAutoFit/>
          </a:bodyPr>
          <a:lstStyle/>
          <a:p>
            <a:pPr algn="r">
              <a:spcAft>
                <a:spcPts val="400"/>
              </a:spcAft>
            </a:pPr>
            <a:r>
              <a:rPr sz="1100" b="0">
                <a:solidFill>
                  <a:srgbClr val="555F6B"/>
                </a:solidFill>
              </a:rPr>
              <a:t>1.500 · 11%</a:t>
            </a:r>
          </a:p>
        </p:txBody>
      </p:sp>
      <p:sp>
        <p:nvSpPr>
          <p:cNvPr id="25" name="Rounded Rectangle 24"/>
          <p:cNvSpPr/>
          <p:nvPr/>
        </p:nvSpPr>
        <p:spPr>
          <a:xfrm>
            <a:off x="2880360" y="3319272"/>
            <a:ext cx="146304" cy="146304"/>
          </a:xfrm>
          <a:prstGeom prst="roundRect">
            <a:avLst/>
          </a:prstGeom>
          <a:solidFill>
            <a:srgbClr val="008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63240" y="3246120"/>
            <a:ext cx="2103120" cy="283464"/>
          </a:xfrm>
          <a:prstGeom prst="rect">
            <a:avLst/>
          </a:prstGeom>
          <a:noFill/>
        </p:spPr>
        <p:txBody>
          <a:bodyPr wrap="square">
            <a:spAutoFit/>
          </a:bodyPr>
          <a:lstStyle/>
          <a:p>
            <a:pPr algn="l">
              <a:spcAft>
                <a:spcPts val="400"/>
              </a:spcAft>
            </a:pPr>
            <a:r>
              <a:rPr sz="1100" b="0">
                <a:solidFill>
                  <a:srgbClr val="555F6B"/>
                </a:solidFill>
              </a:rPr>
              <a:t>IT (200)</a:t>
            </a:r>
          </a:p>
        </p:txBody>
      </p:sp>
      <p:sp>
        <p:nvSpPr>
          <p:cNvPr id="27" name="TextBox 26"/>
          <p:cNvSpPr txBox="1"/>
          <p:nvPr/>
        </p:nvSpPr>
        <p:spPr>
          <a:xfrm>
            <a:off x="5166360" y="3246120"/>
            <a:ext cx="1097280" cy="283464"/>
          </a:xfrm>
          <a:prstGeom prst="rect">
            <a:avLst/>
          </a:prstGeom>
          <a:noFill/>
        </p:spPr>
        <p:txBody>
          <a:bodyPr wrap="square">
            <a:spAutoFit/>
          </a:bodyPr>
          <a:lstStyle/>
          <a:p>
            <a:pPr algn="r">
              <a:spcAft>
                <a:spcPts val="400"/>
              </a:spcAft>
            </a:pPr>
            <a:r>
              <a:rPr sz="1100" b="0">
                <a:solidFill>
                  <a:srgbClr val="555F6B"/>
                </a:solidFill>
              </a:rPr>
              <a:t>1.469 · 10%</a:t>
            </a:r>
          </a:p>
        </p:txBody>
      </p:sp>
      <p:sp>
        <p:nvSpPr>
          <p:cNvPr id="28" name="Rounded Rectangle 27"/>
          <p:cNvSpPr/>
          <p:nvPr/>
        </p:nvSpPr>
        <p:spPr>
          <a:xfrm>
            <a:off x="2880360" y="3602736"/>
            <a:ext cx="146304" cy="146304"/>
          </a:xfrm>
          <a:prstGeom prst="roundRect">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63240" y="3529584"/>
            <a:ext cx="2103120" cy="283464"/>
          </a:xfrm>
          <a:prstGeom prst="rect">
            <a:avLst/>
          </a:prstGeom>
          <a:noFill/>
        </p:spPr>
        <p:txBody>
          <a:bodyPr wrap="square">
            <a:spAutoFit/>
          </a:bodyPr>
          <a:lstStyle/>
          <a:p>
            <a:pPr algn="l">
              <a:spcAft>
                <a:spcPts val="400"/>
              </a:spcAft>
            </a:pPr>
            <a:r>
              <a:rPr sz="1100" b="0">
                <a:solidFill>
                  <a:srgbClr val="555F6B"/>
                </a:solidFill>
              </a:rPr>
              <a:t>Mua hàng, SCM (200)</a:t>
            </a:r>
          </a:p>
        </p:txBody>
      </p:sp>
      <p:sp>
        <p:nvSpPr>
          <p:cNvPr id="30" name="TextBox 29"/>
          <p:cNvSpPr txBox="1"/>
          <p:nvPr/>
        </p:nvSpPr>
        <p:spPr>
          <a:xfrm>
            <a:off x="5166360" y="3529584"/>
            <a:ext cx="1097280" cy="283464"/>
          </a:xfrm>
          <a:prstGeom prst="rect">
            <a:avLst/>
          </a:prstGeom>
          <a:noFill/>
        </p:spPr>
        <p:txBody>
          <a:bodyPr wrap="square">
            <a:spAutoFit/>
          </a:bodyPr>
          <a:lstStyle/>
          <a:p>
            <a:pPr algn="r">
              <a:spcAft>
                <a:spcPts val="400"/>
              </a:spcAft>
            </a:pPr>
            <a:r>
              <a:rPr sz="1100" b="0">
                <a:solidFill>
                  <a:srgbClr val="555F6B"/>
                </a:solidFill>
              </a:rPr>
              <a:t>1.373 · 10%</a:t>
            </a:r>
          </a:p>
        </p:txBody>
      </p:sp>
      <p:sp>
        <p:nvSpPr>
          <p:cNvPr id="31" name="Rounded Rectangle 30"/>
          <p:cNvSpPr/>
          <p:nvPr/>
        </p:nvSpPr>
        <p:spPr>
          <a:xfrm>
            <a:off x="2880360" y="3886200"/>
            <a:ext cx="146304" cy="146304"/>
          </a:xfrm>
          <a:prstGeom prst="roundRect">
            <a:avLst/>
          </a:prstGeom>
          <a:solidFill>
            <a:srgbClr val="E34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63240" y="3813048"/>
            <a:ext cx="2103120" cy="283464"/>
          </a:xfrm>
          <a:prstGeom prst="rect">
            <a:avLst/>
          </a:prstGeom>
          <a:noFill/>
        </p:spPr>
        <p:txBody>
          <a:bodyPr wrap="square">
            <a:spAutoFit/>
          </a:bodyPr>
          <a:lstStyle/>
          <a:p>
            <a:pPr algn="l">
              <a:spcAft>
                <a:spcPts val="400"/>
              </a:spcAft>
            </a:pPr>
            <a:r>
              <a:rPr sz="1100" b="0">
                <a:solidFill>
                  <a:srgbClr val="555F6B"/>
                </a:solidFill>
              </a:rPr>
              <a:t>Lãnh đạo, trợ lý (100)</a:t>
            </a:r>
          </a:p>
        </p:txBody>
      </p:sp>
      <p:sp>
        <p:nvSpPr>
          <p:cNvPr id="33" name="TextBox 32"/>
          <p:cNvSpPr txBox="1"/>
          <p:nvPr/>
        </p:nvSpPr>
        <p:spPr>
          <a:xfrm>
            <a:off x="5166360" y="3813048"/>
            <a:ext cx="1097280" cy="283464"/>
          </a:xfrm>
          <a:prstGeom prst="rect">
            <a:avLst/>
          </a:prstGeom>
          <a:noFill/>
        </p:spPr>
        <p:txBody>
          <a:bodyPr wrap="square">
            <a:spAutoFit/>
          </a:bodyPr>
          <a:lstStyle/>
          <a:p>
            <a:pPr algn="r">
              <a:spcAft>
                <a:spcPts val="400"/>
              </a:spcAft>
            </a:pPr>
            <a:r>
              <a:rPr sz="1100" b="0">
                <a:solidFill>
                  <a:srgbClr val="555F6B"/>
                </a:solidFill>
              </a:rPr>
              <a:t>800 · 6%</a:t>
            </a:r>
          </a:p>
        </p:txBody>
      </p:sp>
      <p:sp>
        <p:nvSpPr>
          <p:cNvPr id="34" name="TextBox 33"/>
          <p:cNvSpPr txBox="1"/>
          <p:nvPr/>
        </p:nvSpPr>
        <p:spPr>
          <a:xfrm>
            <a:off x="457200" y="4251960"/>
            <a:ext cx="5486400" cy="914400"/>
          </a:xfrm>
          <a:prstGeom prst="rect">
            <a:avLst/>
          </a:prstGeom>
          <a:noFill/>
        </p:spPr>
        <p:txBody>
          <a:bodyPr wrap="square">
            <a:spAutoFit/>
          </a:bodyPr>
          <a:lstStyle/>
          <a:p>
            <a:pPr algn="l">
              <a:spcAft>
                <a:spcPts val="400"/>
              </a:spcAft>
            </a:pPr>
            <a:r>
              <a:rPr sz="1200" b="0">
                <a:solidFill>
                  <a:srgbClr val="555F6B"/>
                </a:solidFill>
              </a:rPr>
              <a:t>Kinh doanh, CSKH tạo nhiều việc nhất (23%) vì đông người nhất. Lãnh đạo, trợ lý dùng nhiều nhất tính theo đầu người: 8,00 nhiệm vụ/ngày (trung bình công ty: 7,06).</a:t>
            </a:r>
          </a:p>
        </p:txBody>
      </p:sp>
      <p:sp>
        <p:nvSpPr>
          <p:cNvPr id="35" name="TextBox 34"/>
          <p:cNvSpPr txBox="1"/>
          <p:nvPr/>
        </p:nvSpPr>
        <p:spPr>
          <a:xfrm>
            <a:off x="6400800" y="1371600"/>
            <a:ext cx="5486400" cy="365760"/>
          </a:xfrm>
          <a:prstGeom prst="rect">
            <a:avLst/>
          </a:prstGeom>
          <a:noFill/>
        </p:spPr>
        <p:txBody>
          <a:bodyPr wrap="square">
            <a:spAutoFit/>
          </a:bodyPr>
          <a:lstStyle/>
          <a:p>
            <a:pPr algn="l">
              <a:spcAft>
                <a:spcPts val="400"/>
              </a:spcAft>
            </a:pPr>
            <a:r>
              <a:rPr sz="1400" b="1">
                <a:solidFill>
                  <a:srgbClr val="1F3A5F"/>
                </a:solidFill>
              </a:rPr>
              <a:t>Việc gì? Nhiệm vụ chia theo 5 cấp</a:t>
            </a:r>
          </a:p>
        </p:txBody>
      </p:sp>
      <p:graphicFrame>
        <p:nvGraphicFramePr>
          <p:cNvPr id="36" name="Chart 35"/>
          <p:cNvGraphicFramePr>
            <a:graphicFrameLocks noGrp="1"/>
          </p:cNvGraphicFramePr>
          <p:nvPr/>
        </p:nvGraphicFramePr>
        <p:xfrm>
          <a:off x="6309360" y="1783080"/>
          <a:ext cx="2651760" cy="2651760"/>
        </p:xfrm>
        <a:graphic>
          <a:graphicData uri="http://schemas.openxmlformats.org/drawingml/2006/chart">
            <c:chart xmlns:c="http://schemas.openxmlformats.org/drawingml/2006/chart" r:id="rId3"/>
          </a:graphicData>
        </a:graphic>
      </p:graphicFrame>
      <p:sp>
        <p:nvSpPr>
          <p:cNvPr id="37" name="TextBox 36"/>
          <p:cNvSpPr txBox="1"/>
          <p:nvPr/>
        </p:nvSpPr>
        <p:spPr>
          <a:xfrm>
            <a:off x="6839712" y="2724912"/>
            <a:ext cx="1591056" cy="731520"/>
          </a:xfrm>
          <a:prstGeom prst="rect">
            <a:avLst/>
          </a:prstGeom>
          <a:noFill/>
        </p:spPr>
        <p:txBody>
          <a:bodyPr wrap="square">
            <a:spAutoFit/>
          </a:bodyPr>
          <a:lstStyle/>
          <a:p>
            <a:pPr algn="ctr">
              <a:spcAft>
                <a:spcPts val="400"/>
              </a:spcAft>
            </a:pPr>
            <a:r>
              <a:rPr sz="1300" b="1">
                <a:solidFill>
                  <a:srgbClr val="1F3A5F"/>
                </a:solidFill>
              </a:rPr>
              <a:t>84,0%</a:t>
            </a:r>
          </a:p>
          <a:p>
            <a:pPr algn="ctr">
              <a:spcAft>
                <a:spcPts val="400"/>
              </a:spcAft>
            </a:pPr>
            <a:r>
              <a:rPr sz="1300" b="0">
                <a:solidFill>
                  <a:srgbClr val="1F3A5F"/>
                </a:solidFill>
              </a:rPr>
              <a:t>là cấp 1</a:t>
            </a:r>
          </a:p>
        </p:txBody>
      </p:sp>
      <p:sp>
        <p:nvSpPr>
          <p:cNvPr id="38" name="Rounded Rectangle 37"/>
          <p:cNvSpPr/>
          <p:nvPr/>
        </p:nvSpPr>
        <p:spPr>
          <a:xfrm>
            <a:off x="9006840" y="1901952"/>
            <a:ext cx="146304" cy="146304"/>
          </a:xfrm>
          <a:prstGeom prst="roundRect">
            <a:avLst/>
          </a:prstGeom>
          <a:solidFill>
            <a:srgbClr val="1042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89719" y="1828800"/>
            <a:ext cx="1920240" cy="283464"/>
          </a:xfrm>
          <a:prstGeom prst="rect">
            <a:avLst/>
          </a:prstGeom>
          <a:noFill/>
        </p:spPr>
        <p:txBody>
          <a:bodyPr wrap="square">
            <a:spAutoFit/>
          </a:bodyPr>
          <a:lstStyle/>
          <a:p>
            <a:pPr algn="l">
              <a:spcAft>
                <a:spcPts val="400"/>
              </a:spcAft>
            </a:pPr>
            <a:r>
              <a:rPr sz="1100" b="0">
                <a:solidFill>
                  <a:srgbClr val="555F6B"/>
                </a:solidFill>
              </a:rPr>
              <a:t>Cấp 1: Email, hỏi đáp</a:t>
            </a:r>
          </a:p>
        </p:txBody>
      </p:sp>
      <p:sp>
        <p:nvSpPr>
          <p:cNvPr id="40" name="TextBox 39"/>
          <p:cNvSpPr txBox="1"/>
          <p:nvPr/>
        </p:nvSpPr>
        <p:spPr>
          <a:xfrm>
            <a:off x="11109959" y="1828800"/>
            <a:ext cx="777240" cy="283464"/>
          </a:xfrm>
          <a:prstGeom prst="rect">
            <a:avLst/>
          </a:prstGeom>
          <a:noFill/>
        </p:spPr>
        <p:txBody>
          <a:bodyPr wrap="square">
            <a:spAutoFit/>
          </a:bodyPr>
          <a:lstStyle/>
          <a:p>
            <a:pPr algn="r">
              <a:spcAft>
                <a:spcPts val="400"/>
              </a:spcAft>
            </a:pPr>
            <a:r>
              <a:rPr sz="1100" b="0">
                <a:solidFill>
                  <a:srgbClr val="555F6B"/>
                </a:solidFill>
              </a:rPr>
              <a:t>84,0%</a:t>
            </a:r>
          </a:p>
        </p:txBody>
      </p:sp>
      <p:sp>
        <p:nvSpPr>
          <p:cNvPr id="41" name="Rounded Rectangle 40"/>
          <p:cNvSpPr/>
          <p:nvPr/>
        </p:nvSpPr>
        <p:spPr>
          <a:xfrm>
            <a:off x="9006840" y="2185416"/>
            <a:ext cx="146304" cy="146304"/>
          </a:xfrm>
          <a:prstGeom prst="roundRect">
            <a:avLst/>
          </a:prstGeom>
          <a:solidFill>
            <a:srgbClr val="1C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89719" y="2112264"/>
            <a:ext cx="1920240" cy="283464"/>
          </a:xfrm>
          <a:prstGeom prst="rect">
            <a:avLst/>
          </a:prstGeom>
          <a:noFill/>
        </p:spPr>
        <p:txBody>
          <a:bodyPr wrap="square">
            <a:spAutoFit/>
          </a:bodyPr>
          <a:lstStyle/>
          <a:p>
            <a:pPr algn="l">
              <a:spcAft>
                <a:spcPts val="400"/>
              </a:spcAft>
            </a:pPr>
            <a:r>
              <a:rPr sz="1100" b="0">
                <a:solidFill>
                  <a:srgbClr val="555F6B"/>
                </a:solidFill>
              </a:rPr>
              <a:t>Cấp 2: Viết tài liệu</a:t>
            </a:r>
          </a:p>
        </p:txBody>
      </p:sp>
      <p:sp>
        <p:nvSpPr>
          <p:cNvPr id="43" name="TextBox 42"/>
          <p:cNvSpPr txBox="1"/>
          <p:nvPr/>
        </p:nvSpPr>
        <p:spPr>
          <a:xfrm>
            <a:off x="11109959" y="2112264"/>
            <a:ext cx="777240" cy="283464"/>
          </a:xfrm>
          <a:prstGeom prst="rect">
            <a:avLst/>
          </a:prstGeom>
          <a:noFill/>
        </p:spPr>
        <p:txBody>
          <a:bodyPr wrap="square">
            <a:spAutoFit/>
          </a:bodyPr>
          <a:lstStyle/>
          <a:p>
            <a:pPr algn="r">
              <a:spcAft>
                <a:spcPts val="400"/>
              </a:spcAft>
            </a:pPr>
            <a:r>
              <a:rPr sz="1100" b="0">
                <a:solidFill>
                  <a:srgbClr val="555F6B"/>
                </a:solidFill>
              </a:rPr>
              <a:t>7,4%</a:t>
            </a:r>
          </a:p>
        </p:txBody>
      </p:sp>
      <p:sp>
        <p:nvSpPr>
          <p:cNvPr id="44" name="Rounded Rectangle 43"/>
          <p:cNvSpPr/>
          <p:nvPr/>
        </p:nvSpPr>
        <p:spPr>
          <a:xfrm>
            <a:off x="9006840" y="2468880"/>
            <a:ext cx="146304" cy="146304"/>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89719" y="2395728"/>
            <a:ext cx="1920240" cy="283464"/>
          </a:xfrm>
          <a:prstGeom prst="rect">
            <a:avLst/>
          </a:prstGeom>
          <a:noFill/>
        </p:spPr>
        <p:txBody>
          <a:bodyPr wrap="square">
            <a:spAutoFit/>
          </a:bodyPr>
          <a:lstStyle/>
          <a:p>
            <a:pPr algn="l">
              <a:spcAft>
                <a:spcPts val="400"/>
              </a:spcAft>
            </a:pPr>
            <a:r>
              <a:rPr sz="1100" b="0">
                <a:solidFill>
                  <a:srgbClr val="555F6B"/>
                </a:solidFill>
              </a:rPr>
              <a:t>Cấp 3: Dữ liệu, code</a:t>
            </a:r>
          </a:p>
        </p:txBody>
      </p:sp>
      <p:sp>
        <p:nvSpPr>
          <p:cNvPr id="46" name="TextBox 45"/>
          <p:cNvSpPr txBox="1"/>
          <p:nvPr/>
        </p:nvSpPr>
        <p:spPr>
          <a:xfrm>
            <a:off x="11109959" y="2395728"/>
            <a:ext cx="777240" cy="283464"/>
          </a:xfrm>
          <a:prstGeom prst="rect">
            <a:avLst/>
          </a:prstGeom>
          <a:noFill/>
        </p:spPr>
        <p:txBody>
          <a:bodyPr wrap="square">
            <a:spAutoFit/>
          </a:bodyPr>
          <a:lstStyle/>
          <a:p>
            <a:pPr algn="r">
              <a:spcAft>
                <a:spcPts val="400"/>
              </a:spcAft>
            </a:pPr>
            <a:r>
              <a:rPr sz="1100" b="0">
                <a:solidFill>
                  <a:srgbClr val="555F6B"/>
                </a:solidFill>
              </a:rPr>
              <a:t>3,9%</a:t>
            </a:r>
          </a:p>
        </p:txBody>
      </p:sp>
      <p:sp>
        <p:nvSpPr>
          <p:cNvPr id="47" name="Rounded Rectangle 46"/>
          <p:cNvSpPr/>
          <p:nvPr/>
        </p:nvSpPr>
        <p:spPr>
          <a:xfrm>
            <a:off x="9006840" y="2752344"/>
            <a:ext cx="146304" cy="146304"/>
          </a:xfrm>
          <a:prstGeom prst="roundRect">
            <a:avLst/>
          </a:prstGeom>
          <a:solidFill>
            <a:srgbClr val="559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89719" y="2679191"/>
            <a:ext cx="1920240" cy="283464"/>
          </a:xfrm>
          <a:prstGeom prst="rect">
            <a:avLst/>
          </a:prstGeom>
          <a:noFill/>
        </p:spPr>
        <p:txBody>
          <a:bodyPr wrap="square">
            <a:spAutoFit/>
          </a:bodyPr>
          <a:lstStyle/>
          <a:p>
            <a:pPr algn="l">
              <a:spcAft>
                <a:spcPts val="400"/>
              </a:spcAft>
            </a:pPr>
            <a:r>
              <a:rPr sz="1100" b="0">
                <a:solidFill>
                  <a:srgbClr val="555F6B"/>
                </a:solidFill>
              </a:rPr>
              <a:t>Cấp 4: Agent dự án</a:t>
            </a:r>
          </a:p>
        </p:txBody>
      </p:sp>
      <p:sp>
        <p:nvSpPr>
          <p:cNvPr id="49" name="TextBox 48"/>
          <p:cNvSpPr txBox="1"/>
          <p:nvPr/>
        </p:nvSpPr>
        <p:spPr>
          <a:xfrm>
            <a:off x="11109959" y="2679191"/>
            <a:ext cx="777240" cy="283464"/>
          </a:xfrm>
          <a:prstGeom prst="rect">
            <a:avLst/>
          </a:prstGeom>
          <a:noFill/>
        </p:spPr>
        <p:txBody>
          <a:bodyPr wrap="square">
            <a:spAutoFit/>
          </a:bodyPr>
          <a:lstStyle/>
          <a:p>
            <a:pPr algn="r">
              <a:spcAft>
                <a:spcPts val="400"/>
              </a:spcAft>
            </a:pPr>
            <a:r>
              <a:rPr sz="1100" b="0">
                <a:solidFill>
                  <a:srgbClr val="555F6B"/>
                </a:solidFill>
              </a:rPr>
              <a:t>3,9%</a:t>
            </a:r>
          </a:p>
        </p:txBody>
      </p:sp>
      <p:sp>
        <p:nvSpPr>
          <p:cNvPr id="50" name="Rounded Rectangle 49"/>
          <p:cNvSpPr/>
          <p:nvPr/>
        </p:nvSpPr>
        <p:spPr>
          <a:xfrm>
            <a:off x="9006840" y="3035808"/>
            <a:ext cx="146304" cy="146304"/>
          </a:xfrm>
          <a:prstGeom prst="roundRect">
            <a:avLst/>
          </a:prstGeom>
          <a:solidFill>
            <a:srgbClr val="86B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89719" y="2962656"/>
            <a:ext cx="1920240" cy="283464"/>
          </a:xfrm>
          <a:prstGeom prst="rect">
            <a:avLst/>
          </a:prstGeom>
          <a:noFill/>
        </p:spPr>
        <p:txBody>
          <a:bodyPr wrap="square">
            <a:spAutoFit/>
          </a:bodyPr>
          <a:lstStyle/>
          <a:p>
            <a:pPr algn="l">
              <a:spcAft>
                <a:spcPts val="400"/>
              </a:spcAft>
            </a:pPr>
            <a:r>
              <a:rPr sz="1100" b="0">
                <a:solidFill>
                  <a:srgbClr val="555F6B"/>
                </a:solidFill>
              </a:rPr>
              <a:t>Cấp 5: Thiết kế, sinh ảnh</a:t>
            </a:r>
          </a:p>
        </p:txBody>
      </p:sp>
      <p:sp>
        <p:nvSpPr>
          <p:cNvPr id="52" name="TextBox 51"/>
          <p:cNvSpPr txBox="1"/>
          <p:nvPr/>
        </p:nvSpPr>
        <p:spPr>
          <a:xfrm>
            <a:off x="11109959" y="2962656"/>
            <a:ext cx="777240" cy="283464"/>
          </a:xfrm>
          <a:prstGeom prst="rect">
            <a:avLst/>
          </a:prstGeom>
          <a:noFill/>
        </p:spPr>
        <p:txBody>
          <a:bodyPr wrap="square">
            <a:spAutoFit/>
          </a:bodyPr>
          <a:lstStyle/>
          <a:p>
            <a:pPr algn="r">
              <a:spcAft>
                <a:spcPts val="400"/>
              </a:spcAft>
            </a:pPr>
            <a:r>
              <a:rPr sz="1100" b="0">
                <a:solidFill>
                  <a:srgbClr val="555F6B"/>
                </a:solidFill>
              </a:rPr>
              <a:t>0,7%</a:t>
            </a:r>
          </a:p>
        </p:txBody>
      </p:sp>
      <p:sp>
        <p:nvSpPr>
          <p:cNvPr id="53" name="TextBox 52"/>
          <p:cNvSpPr txBox="1"/>
          <p:nvPr/>
        </p:nvSpPr>
        <p:spPr>
          <a:xfrm>
            <a:off x="6400800" y="4251960"/>
            <a:ext cx="5486400" cy="914400"/>
          </a:xfrm>
          <a:prstGeom prst="rect">
            <a:avLst/>
          </a:prstGeom>
          <a:noFill/>
        </p:spPr>
        <p:txBody>
          <a:bodyPr wrap="square">
            <a:spAutoFit/>
          </a:bodyPr>
          <a:lstStyle/>
          <a:p>
            <a:pPr algn="l">
              <a:spcAft>
                <a:spcPts val="400"/>
              </a:spcAft>
            </a:pPr>
            <a:r>
              <a:rPr sz="1200" b="0">
                <a:solidFill>
                  <a:srgbClr val="555F6B"/>
                </a:solidFill>
              </a:rPr>
              <a:t>91% là việc nhẹ (cấp 1–2: email, hỏi đáp, tài liệu). Vì vậy một model rẻ đủ cho đa số (slide 4). Việc nặng (cấp 3–4: chạy code, agent nhiều bước) chỉ chiếm 7,8%.</a:t>
            </a:r>
          </a:p>
        </p:txBody>
      </p:sp>
      <p:sp>
        <p:nvSpPr>
          <p:cNvPr id="54" name="TextBox 53"/>
          <p:cNvSpPr txBox="1"/>
          <p:nvPr/>
        </p:nvSpPr>
        <p:spPr>
          <a:xfrm>
            <a:off x="457200" y="5303520"/>
            <a:ext cx="11247120" cy="1005840"/>
          </a:xfrm>
          <a:prstGeom prst="rect">
            <a:avLst/>
          </a:prstGeom>
          <a:noFill/>
        </p:spPr>
        <p:txBody>
          <a:bodyPr wrap="square">
            <a:spAutoFit/>
          </a:bodyPr>
          <a:lstStyle/>
          <a:p>
            <a:pPr algn="l">
              <a:spcAft>
                <a:spcPts val="400"/>
              </a:spcAft>
            </a:pPr>
            <a:r>
              <a:rPr sz="1200" b="1">
                <a:solidFill>
                  <a:srgbClr val="555F6B"/>
                </a:solidFill>
              </a:rPr>
              <a:t>Ví dụ: mỗi người gửi 9,9 email/ngày; nhóm giả định 30% số email nhờ AI soạn → 9,9 × 30% = 2,97 nhiệm vụ. Cộng mọi việc của mọi phòng ra 14.120 nhiệm vụ/ngày.</a:t>
            </a:r>
          </a:p>
          <a:p>
            <a:pPr algn="l">
              <a:spcAft>
                <a:spcPts val="400"/>
              </a:spcAft>
            </a:pPr>
            <a:r>
              <a:rPr sz="1200" b="0">
                <a:solidFill>
                  <a:srgbClr val="555F6B"/>
                </a:solidFill>
              </a:rPr>
              <a:t>Chi tiết từng việc, từng phòng ban và nguồn số liệu: Phụ lục C và 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1. Từ số việc ra token và tải lúc cao điểm</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Hai con số quyết định chi phí: token mỗi tháng (tiền LLM) và lượt mỗi giây lúc cao điểm (số pod cần chạy)</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1b</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graphicFrame>
        <p:nvGraphicFramePr>
          <p:cNvPr id="7" name="Table 6"/>
          <p:cNvGraphicFramePr>
            <a:graphicFrameLocks noGrp="1"/>
          </p:cNvGraphicFramePr>
          <p:nvPr/>
        </p:nvGraphicFramePr>
        <p:xfrm>
          <a:off x="457200" y="1371600"/>
          <a:ext cx="11247120" cy="3657600"/>
        </p:xfrm>
        <a:graphic>
          <a:graphicData uri="http://schemas.openxmlformats.org/drawingml/2006/table">
            <a:tbl>
              <a:tblPr firstRow="1" bandRow="1">
                <a:tableStyleId>{5C22544A-7EE6-4342-B048-85BDC9FD1C3A}</a:tableStyleId>
              </a:tblPr>
              <a:tblGrid>
                <a:gridCol w="2743200"/>
                <a:gridCol w="4206240"/>
                <a:gridCol w="4297680"/>
              </a:tblGrid>
              <a:tr h="457200">
                <a:tc>
                  <a:txBody>
                    <a:bodyPr/>
                    <a:lstStyle/>
                    <a:p>
                      <a:r>
                        <a:rPr sz="1300" b="1">
                          <a:solidFill>
                            <a:srgbClr val="FFFFFF"/>
                          </a:solidFill>
                        </a:rPr>
                        <a:t>Chỉ số</a:t>
                      </a:r>
                    </a:p>
                  </a:txBody>
                  <a:tcPr marL="45720" marR="45720" marT="18288" marB="18288">
                    <a:solidFill>
                      <a:srgbClr val="2E6FB7"/>
                    </a:solidFill>
                  </a:tcPr>
                </a:tc>
                <a:tc>
                  <a:txBody>
                    <a:bodyPr/>
                    <a:lstStyle/>
                    <a:p>
                      <a:r>
                        <a:rPr sz="1300" b="1">
                          <a:solidFill>
                            <a:srgbClr val="FFFFFF"/>
                          </a:solidFill>
                        </a:rPr>
                        <a:t>Giá trị</a:t>
                      </a:r>
                    </a:p>
                  </a:txBody>
                  <a:tcPr marL="45720" marR="45720" marT="18288" marB="18288">
                    <a:solidFill>
                      <a:srgbClr val="2E6FB7"/>
                    </a:solidFill>
                  </a:tcPr>
                </a:tc>
                <a:tc>
                  <a:txBody>
                    <a:bodyPr/>
                    <a:lstStyle/>
                    <a:p>
                      <a:r>
                        <a:rPr sz="1300" b="1">
                          <a:solidFill>
                            <a:srgbClr val="FFFFFF"/>
                          </a:solidFill>
                        </a:rPr>
                        <a:t>Ảnh hưởng tới chi phí nào</a:t>
                      </a:r>
                    </a:p>
                  </a:txBody>
                  <a:tcPr marL="45720" marR="45720" marT="18288" marB="18288">
                    <a:solidFill>
                      <a:srgbClr val="2E6FB7"/>
                    </a:solidFill>
                  </a:tcPr>
                </a:tc>
              </a:tr>
              <a:tr h="457200">
                <a:tc>
                  <a:txBody>
                    <a:bodyPr/>
                    <a:lstStyle/>
                    <a:p>
                      <a:r>
                        <a:rPr sz="1300" b="0">
                          <a:solidFill>
                            <a:srgbClr val="555F6B"/>
                          </a:solidFill>
                        </a:rPr>
                        <a:t>Nhiệm vụ mỗi tháng</a:t>
                      </a:r>
                    </a:p>
                  </a:txBody>
                  <a:tcPr marL="45720" marR="45720" marT="18288" marB="18288">
                    <a:solidFill>
                      <a:srgbClr val="EEF3F8"/>
                    </a:solidFill>
                  </a:tcPr>
                </a:tc>
                <a:tc>
                  <a:txBody>
                    <a:bodyPr/>
                    <a:lstStyle/>
                    <a:p>
                      <a:r>
                        <a:rPr sz="1300" b="0">
                          <a:solidFill>
                            <a:srgbClr val="555F6B"/>
                          </a:solidFill>
                        </a:rPr>
                        <a:t>310.644 (14.120 × 22 ngày làm việc)</a:t>
                      </a:r>
                    </a:p>
                  </a:txBody>
                  <a:tcPr marL="45720" marR="45720" marT="18288" marB="18288">
                    <a:solidFill>
                      <a:srgbClr val="EEF3F8"/>
                    </a:solidFill>
                  </a:tcPr>
                </a:tc>
                <a:tc>
                  <a:txBody>
                    <a:bodyPr/>
                    <a:lstStyle/>
                    <a:p>
                      <a:r>
                        <a:rPr sz="1300" b="0">
                          <a:solidFill>
                            <a:srgbClr val="555F6B"/>
                          </a:solidFill>
                        </a:rPr>
                        <a:t>Mọi khoản tính theo lượt dùng</a:t>
                      </a:r>
                    </a:p>
                  </a:txBody>
                  <a:tcPr marL="45720" marR="45720" marT="18288" marB="18288">
                    <a:solidFill>
                      <a:srgbClr val="EEF3F8"/>
                    </a:solidFill>
                  </a:tcPr>
                </a:tc>
              </a:tr>
              <a:tr h="457200">
                <a:tc>
                  <a:txBody>
                    <a:bodyPr/>
                    <a:lstStyle/>
                    <a:p>
                      <a:r>
                        <a:rPr sz="1300" b="0">
                          <a:solidFill>
                            <a:srgbClr val="555F6B"/>
                          </a:solidFill>
                        </a:rPr>
                        <a:t>Lượt chat mỗi ngày</a:t>
                      </a:r>
                    </a:p>
                  </a:txBody>
                  <a:tcPr marL="45720" marR="45720" marT="18288" marB="18288">
                    <a:solidFill>
                      <a:srgbClr val="FFFFFF"/>
                    </a:solidFill>
                  </a:tcPr>
                </a:tc>
                <a:tc>
                  <a:txBody>
                    <a:bodyPr/>
                    <a:lstStyle/>
                    <a:p>
                      <a:r>
                        <a:rPr sz="1300" b="0">
                          <a:solidFill>
                            <a:srgbClr val="555F6B"/>
                          </a:solidFill>
                        </a:rPr>
                        <a:t>27.098 (mỗi nhiệm vụ khoảng 2 lượt)</a:t>
                      </a:r>
                    </a:p>
                  </a:txBody>
                  <a:tcPr marL="45720" marR="45720" marT="18288" marB="18288">
                    <a:solidFill>
                      <a:srgbClr val="FFFFFF"/>
                    </a:solidFill>
                  </a:tcPr>
                </a:tc>
                <a:tc>
                  <a:txBody>
                    <a:bodyPr/>
                    <a:lstStyle/>
                    <a:p>
                      <a:r>
                        <a:rPr sz="1300" b="0">
                          <a:solidFill>
                            <a:srgbClr val="555F6B"/>
                          </a:solidFill>
                        </a:rPr>
                        <a:t>Số lần gọi model</a:t>
                      </a:r>
                    </a:p>
                  </a:txBody>
                  <a:tcPr marL="45720" marR="45720" marT="18288" marB="18288">
                    <a:solidFill>
                      <a:srgbClr val="FFFFFF"/>
                    </a:solidFill>
                  </a:tcPr>
                </a:tc>
              </a:tr>
              <a:tr h="457200">
                <a:tc>
                  <a:txBody>
                    <a:bodyPr/>
                    <a:lstStyle/>
                    <a:p>
                      <a:r>
                        <a:rPr sz="1300" b="0">
                          <a:solidFill>
                            <a:srgbClr val="555F6B"/>
                          </a:solidFill>
                        </a:rPr>
                        <a:t>Lượt/giây lúc cao điểm</a:t>
                      </a:r>
                    </a:p>
                  </a:txBody>
                  <a:tcPr marL="45720" marR="45720" marT="18288" marB="18288">
                    <a:solidFill>
                      <a:srgbClr val="EEF3F8"/>
                    </a:solidFill>
                  </a:tcPr>
                </a:tc>
                <a:tc>
                  <a:txBody>
                    <a:bodyPr/>
                    <a:lstStyle/>
                    <a:p>
                      <a:r>
                        <a:rPr sz="1300" b="0">
                          <a:solidFill>
                            <a:srgbClr val="555F6B"/>
                          </a:solidFill>
                        </a:rPr>
                        <a:t>1,13 (giờ bận nhất = 15% lưu lượng cả ngày)</a:t>
                      </a:r>
                    </a:p>
                  </a:txBody>
                  <a:tcPr marL="45720" marR="45720" marT="18288" marB="18288">
                    <a:solidFill>
                      <a:srgbClr val="EEF3F8"/>
                    </a:solidFill>
                  </a:tcPr>
                </a:tc>
                <a:tc>
                  <a:txBody>
                    <a:bodyPr/>
                    <a:lstStyle/>
                    <a:p>
                      <a:r>
                        <a:rPr sz="1300" b="0">
                          <a:solidFill>
                            <a:srgbClr val="555F6B"/>
                          </a:solidFill>
                        </a:rPr>
                        <a:t>compute: số pod (284 USD/tháng)</a:t>
                      </a:r>
                    </a:p>
                  </a:txBody>
                  <a:tcPr marL="45720" marR="45720" marT="18288" marB="18288">
                    <a:solidFill>
                      <a:srgbClr val="EEF3F8"/>
                    </a:solidFill>
                  </a:tcPr>
                </a:tc>
              </a:tr>
              <a:tr h="457200">
                <a:tc>
                  <a:txBody>
                    <a:bodyPr/>
                    <a:lstStyle/>
                    <a:p>
                      <a:r>
                        <a:rPr sz="1300" b="0">
                          <a:solidFill>
                            <a:srgbClr val="555F6B"/>
                          </a:solidFill>
                        </a:rPr>
                        <a:t>Token mỗi tháng</a:t>
                      </a:r>
                    </a:p>
                  </a:txBody>
                  <a:tcPr marL="45720" marR="45720" marT="18288" marB="18288">
                    <a:solidFill>
                      <a:srgbClr val="FFFFFF"/>
                    </a:solidFill>
                  </a:tcPr>
                </a:tc>
                <a:tc>
                  <a:txBody>
                    <a:bodyPr/>
                    <a:lstStyle/>
                    <a:p>
                      <a:r>
                        <a:rPr sz="1300" b="0">
                          <a:solidFill>
                            <a:srgbClr val="555F6B"/>
                          </a:solidFill>
                        </a:rPr>
                        <a:t>12,19 tỉ vào + 0,79 tỉ ra; 61% token vào đọc từ cache</a:t>
                      </a:r>
                    </a:p>
                  </a:txBody>
                  <a:tcPr marL="45720" marR="45720" marT="18288" marB="18288">
                    <a:solidFill>
                      <a:srgbClr val="FFFFFF"/>
                    </a:solidFill>
                  </a:tcPr>
                </a:tc>
                <a:tc>
                  <a:txBody>
                    <a:bodyPr/>
                    <a:lstStyle/>
                    <a:p>
                      <a:r>
                        <a:rPr sz="1300" b="0">
                          <a:solidFill>
                            <a:srgbClr val="555F6B"/>
                          </a:solidFill>
                        </a:rPr>
                        <a:t>llm: 1.093 USD/tháng; token đọc từ cache rẻ hơn 10 lần</a:t>
                      </a:r>
                    </a:p>
                  </a:txBody>
                  <a:tcPr marL="45720" marR="45720" marT="18288" marB="18288">
                    <a:solidFill>
                      <a:srgbClr val="FFFFFF"/>
                    </a:solidFill>
                  </a:tcPr>
                </a:tc>
              </a:tr>
              <a:tr h="457200">
                <a:tc>
                  <a:txBody>
                    <a:bodyPr/>
                    <a:lstStyle/>
                    <a:p>
                      <a:r>
                        <a:rPr sz="1300" b="0">
                          <a:solidFill>
                            <a:srgbClr val="555F6B"/>
                          </a:solidFill>
                        </a:rPr>
                        <a:t>Lượt chạy code (sandbox)</a:t>
                      </a:r>
                    </a:p>
                  </a:txBody>
                  <a:tcPr marL="45720" marR="45720" marT="18288" marB="18288">
                    <a:solidFill>
                      <a:srgbClr val="EEF3F8"/>
                    </a:solidFill>
                  </a:tcPr>
                </a:tc>
                <a:tc>
                  <a:txBody>
                    <a:bodyPr/>
                    <a:lstStyle/>
                    <a:p>
                      <a:r>
                        <a:rPr sz="1300" b="0">
                          <a:solidFill>
                            <a:srgbClr val="555F6B"/>
                          </a:solidFill>
                        </a:rPr>
                        <a:t>140.800 lượt/tháng, tối đa 2 phút/lượt</a:t>
                      </a:r>
                    </a:p>
                  </a:txBody>
                  <a:tcPr marL="45720" marR="45720" marT="18288" marB="18288">
                    <a:solidFill>
                      <a:srgbClr val="EEF3F8"/>
                    </a:solidFill>
                  </a:tcPr>
                </a:tc>
                <a:tc>
                  <a:txBody>
                    <a:bodyPr/>
                    <a:lstStyle/>
                    <a:p>
                      <a:r>
                        <a:rPr sz="1300" b="0">
                          <a:solidFill>
                            <a:srgbClr val="555F6B"/>
                          </a:solidFill>
                        </a:rPr>
                        <a:t>sandbox: 315 USD/tháng</a:t>
                      </a:r>
                    </a:p>
                  </a:txBody>
                  <a:tcPr marL="45720" marR="45720" marT="18288" marB="18288">
                    <a:solidFill>
                      <a:srgbClr val="EEF3F8"/>
                    </a:solidFill>
                  </a:tcPr>
                </a:tc>
              </a:tr>
              <a:tr h="457200">
                <a:tc>
                  <a:txBody>
                    <a:bodyPr/>
                    <a:lstStyle/>
                    <a:p>
                      <a:r>
                        <a:rPr sz="1300" b="0">
                          <a:solidFill>
                            <a:srgbClr val="555F6B"/>
                          </a:solidFill>
                        </a:rPr>
                        <a:t>Ảnh sinh ra</a:t>
                      </a:r>
                    </a:p>
                  </a:txBody>
                  <a:tcPr marL="45720" marR="45720" marT="18288" marB="18288">
                    <a:solidFill>
                      <a:srgbClr val="FFFFFF"/>
                    </a:solidFill>
                  </a:tcPr>
                </a:tc>
                <a:tc>
                  <a:txBody>
                    <a:bodyPr/>
                    <a:lstStyle/>
                    <a:p>
                      <a:r>
                        <a:rPr sz="1300" b="0">
                          <a:solidFill>
                            <a:srgbClr val="555F6B"/>
                          </a:solidFill>
                        </a:rPr>
                        <a:t>4.312 ảnh/tháng (chỉ cấp 5)</a:t>
                      </a:r>
                    </a:p>
                  </a:txBody>
                  <a:tcPr marL="45720" marR="45720" marT="18288" marB="18288">
                    <a:solidFill>
                      <a:srgbClr val="FFFFFF"/>
                    </a:solidFill>
                  </a:tcPr>
                </a:tc>
                <a:tc>
                  <a:txBody>
                    <a:bodyPr/>
                    <a:lstStyle/>
                    <a:p>
                      <a:r>
                        <a:rPr sz="1300" b="0">
                          <a:solidFill>
                            <a:srgbClr val="555F6B"/>
                          </a:solidFill>
                        </a:rPr>
                        <a:t>Nằm trong llm: 147 USD/tháng</a:t>
                      </a:r>
                    </a:p>
                  </a:txBody>
                  <a:tcPr marL="45720" marR="45720" marT="18288" marB="18288">
                    <a:solidFill>
                      <a:srgbClr val="FFFFFF"/>
                    </a:solidFill>
                  </a:tcPr>
                </a:tc>
              </a:tr>
              <a:tr h="457200">
                <a:tc>
                  <a:txBody>
                    <a:bodyPr/>
                    <a:lstStyle/>
                    <a:p>
                      <a:r>
                        <a:rPr sz="1300" b="0">
                          <a:solidFill>
                            <a:srgbClr val="555F6B"/>
                          </a:solidFill>
                        </a:rPr>
                        <a:t>Dung lượng workspace</a:t>
                      </a:r>
                    </a:p>
                  </a:txBody>
                  <a:tcPr marL="45720" marR="45720" marT="18288" marB="18288">
                    <a:solidFill>
                      <a:srgbClr val="EEF3F8"/>
                    </a:solidFill>
                  </a:tcPr>
                </a:tc>
                <a:tc>
                  <a:txBody>
                    <a:bodyPr/>
                    <a:lstStyle/>
                    <a:p>
                      <a:r>
                        <a:rPr sz="1300" b="0">
                          <a:solidFill>
                            <a:srgbClr val="555F6B"/>
                          </a:solidFill>
                        </a:rPr>
                        <a:t>4 TB dùng thật (2.000 người × 2 GB)</a:t>
                      </a:r>
                    </a:p>
                  </a:txBody>
                  <a:tcPr marL="45720" marR="45720" marT="18288" marB="18288">
                    <a:solidFill>
                      <a:srgbClr val="EEF3F8"/>
                    </a:solidFill>
                  </a:tcPr>
                </a:tc>
                <a:tc>
                  <a:txBody>
                    <a:bodyPr/>
                    <a:lstStyle/>
                    <a:p>
                      <a:r>
                        <a:rPr sz="1300" b="0">
                          <a:solidFill>
                            <a:srgbClr val="555F6B"/>
                          </a:solidFill>
                        </a:rPr>
                        <a:t>object_storage: 83 USD/tháng</a:t>
                      </a:r>
                    </a:p>
                  </a:txBody>
                  <a:tcPr marL="45720" marR="45720" marT="18288" marB="18288">
                    <a:solidFill>
                      <a:srgbClr val="EEF3F8"/>
                    </a:solidFill>
                  </a:tcPr>
                </a:tc>
              </a:tr>
            </a:tbl>
          </a:graphicData>
        </a:graphic>
      </p:graphicFrame>
      <p:sp>
        <p:nvSpPr>
          <p:cNvPr id="8" name="TextBox 7"/>
          <p:cNvSpPr txBox="1"/>
          <p:nvPr/>
        </p:nvSpPr>
        <p:spPr>
          <a:xfrm>
            <a:off x="457200" y="5257800"/>
            <a:ext cx="11247120" cy="1005840"/>
          </a:xfrm>
          <a:prstGeom prst="rect">
            <a:avLst/>
          </a:prstGeom>
          <a:noFill/>
        </p:spPr>
        <p:txBody>
          <a:bodyPr wrap="square">
            <a:spAutoFit/>
          </a:bodyPr>
          <a:lstStyle/>
          <a:p>
            <a:pPr algn="l">
              <a:spcAft>
                <a:spcPts val="400"/>
              </a:spcAft>
            </a:pPr>
            <a:r>
              <a:rPr sz="1200" b="1">
                <a:solidFill>
                  <a:srgbClr val="555F6B"/>
                </a:solidFill>
              </a:rPr>
              <a:t>Cách đọc: số việc → số lượt chat → số token. Token nhân với giá model ra tiền LLM.</a:t>
            </a:r>
          </a:p>
          <a:p>
            <a:pPr algn="l">
              <a:spcAft>
                <a:spcPts val="400"/>
              </a:spcAft>
            </a:pPr>
            <a:r>
              <a:rPr sz="1200" b="0">
                <a:solidFill>
                  <a:srgbClr val="555F6B"/>
                </a:solidFill>
              </a:rPr>
              <a:t>Số token mỗi lượt theo từng cấp lấy từ benchmark công khai (Azure On your data, DA-Code, MCP-Universe, MCPMark); chi tiết ở Phụ lục 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2. Kiến trúc: một region GCP, không có điểm lỗi đơn</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GCP Singapore vì rẻ nhất trong 3 cloud (6.821 USD/tháng; AWS 8.643, Azure 14.484). Số tròn là bước ở slide 3; chữ xanh là mã dòng trong báo giá</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2</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sp>
        <p:nvSpPr>
          <p:cNvPr id="7" name="Rounded Rectangle 6"/>
          <p:cNvSpPr/>
          <p:nvPr/>
        </p:nvSpPr>
        <p:spPr>
          <a:xfrm>
            <a:off x="274320" y="1554480"/>
            <a:ext cx="1463040" cy="822960"/>
          </a:xfrm>
          <a:prstGeom prst="roundRect">
            <a:avLst/>
          </a:prstGeom>
          <a:solidFill>
            <a:srgbClr val="FFFFFF"/>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Nhân viên</a:t>
            </a:r>
          </a:p>
          <a:p>
            <a:pPr algn="ctr"/>
            <a:r>
              <a:rPr sz="900" b="1">
                <a:solidFill>
                  <a:srgbClr val="1A8F7A"/>
                </a:solidFill>
              </a:rPr>
              <a:t>trình duyệt</a:t>
            </a:r>
          </a:p>
        </p:txBody>
      </p:sp>
      <p:sp>
        <p:nvSpPr>
          <p:cNvPr id="8" name="Rounded Rectangle 7"/>
          <p:cNvSpPr/>
          <p:nvPr/>
        </p:nvSpPr>
        <p:spPr>
          <a:xfrm>
            <a:off x="2011680" y="1463040"/>
            <a:ext cx="1828800" cy="100584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Tường lửa web + cân bằng tải</a:t>
            </a:r>
          </a:p>
          <a:p>
            <a:pPr algn="ctr"/>
            <a:r>
              <a:rPr sz="900" b="1">
                <a:solidFill>
                  <a:srgbClr val="1A8F7A"/>
                </a:solidFill>
              </a:rPr>
              <a:t>network · load_balancer</a:t>
            </a:r>
          </a:p>
        </p:txBody>
      </p:sp>
      <p:sp>
        <p:nvSpPr>
          <p:cNvPr id="9" name="Rounded Rectangle 8"/>
          <p:cNvSpPr/>
          <p:nvPr/>
        </p:nvSpPr>
        <p:spPr>
          <a:xfrm>
            <a:off x="4114800" y="1463040"/>
            <a:ext cx="1828800" cy="100584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IAP + SSO tập đoàn (MFA)</a:t>
            </a:r>
          </a:p>
          <a:p>
            <a:pPr algn="ctr"/>
            <a:r>
              <a:rPr sz="900" b="1">
                <a:solidFill>
                  <a:srgbClr val="1A8F7A"/>
                </a:solidFill>
              </a:rPr>
              <a:t>authn</a:t>
            </a:r>
          </a:p>
        </p:txBody>
      </p:sp>
      <p:cxnSp>
        <p:nvCxnSpPr>
          <p:cNvPr id="10" name="Connector 9"/>
          <p:cNvCxnSpPr/>
          <p:nvPr/>
        </p:nvCxnSpPr>
        <p:spPr>
          <a:xfrm>
            <a:off x="1737360" y="1965960"/>
            <a:ext cx="274320" cy="0"/>
          </a:xfrm>
          <a:prstGeom prst="line">
            <a:avLst/>
          </a:prstGeom>
          <a:ln w="19050">
            <a:solidFill>
              <a:srgbClr val="555F6B"/>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840480" y="1965960"/>
            <a:ext cx="274320" cy="0"/>
          </a:xfrm>
          <a:prstGeom prst="line">
            <a:avLst/>
          </a:prstGeom>
          <a:ln w="19050">
            <a:solidFill>
              <a:srgbClr val="555F6B"/>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217920" y="1280160"/>
            <a:ext cx="5669280" cy="2834640"/>
          </a:xfrm>
          <a:prstGeom prst="rect">
            <a:avLst/>
          </a:prstGeom>
          <a:noFill/>
          <a:ln>
            <a:solidFill>
              <a:srgbClr val="1A8F7A"/>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298448"/>
            <a:ext cx="5486400" cy="274320"/>
          </a:xfrm>
          <a:prstGeom prst="rect">
            <a:avLst/>
          </a:prstGeom>
          <a:noFill/>
        </p:spPr>
        <p:txBody>
          <a:bodyPr wrap="square">
            <a:spAutoFit/>
          </a:bodyPr>
          <a:lstStyle/>
          <a:p>
            <a:pPr algn="l">
              <a:spcAft>
                <a:spcPts val="400"/>
              </a:spcAft>
            </a:pPr>
            <a:r>
              <a:rPr sz="1000" b="0">
                <a:solidFill>
                  <a:srgbClr val="1A8F7A"/>
                </a:solidFill>
              </a:rPr>
              <a:t>Cụm GKE Autopilot chạy trên 2 zone (prod; staging dùng chung cụm)</a:t>
            </a:r>
          </a:p>
        </p:txBody>
      </p:sp>
      <p:sp>
        <p:nvSpPr>
          <p:cNvPr id="14" name="Rounded Rectangle 13"/>
          <p:cNvSpPr/>
          <p:nvPr/>
        </p:nvSpPr>
        <p:spPr>
          <a:xfrm>
            <a:off x="6400800" y="1645920"/>
            <a:ext cx="1645920" cy="91440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Web/API (stream câu trả lời)</a:t>
            </a:r>
          </a:p>
          <a:p>
            <a:pPr algn="ctr"/>
            <a:r>
              <a:rPr sz="900" b="1">
                <a:solidFill>
                  <a:srgbClr val="1A8F7A"/>
                </a:solidFill>
              </a:rPr>
              <a:t>compute</a:t>
            </a:r>
          </a:p>
        </p:txBody>
      </p:sp>
      <p:sp>
        <p:nvSpPr>
          <p:cNvPr id="15" name="Rounded Rectangle 14"/>
          <p:cNvSpPr/>
          <p:nvPr/>
        </p:nvSpPr>
        <p:spPr>
          <a:xfrm>
            <a:off x="8229600" y="1645920"/>
            <a:ext cx="1737360" cy="91440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LiteLLM gateway (quota USD)</a:t>
            </a:r>
          </a:p>
          <a:p>
            <a:pPr algn="ctr"/>
            <a:r>
              <a:rPr sz="900" b="1">
                <a:solidFill>
                  <a:srgbClr val="1A8F7A"/>
                </a:solidFill>
              </a:rPr>
              <a:t>gateway · authz</a:t>
            </a:r>
          </a:p>
        </p:txBody>
      </p:sp>
      <p:sp>
        <p:nvSpPr>
          <p:cNvPr id="16" name="Rounded Rectangle 15"/>
          <p:cNvSpPr/>
          <p:nvPr/>
        </p:nvSpPr>
        <p:spPr>
          <a:xfrm>
            <a:off x="10149840" y="1645920"/>
            <a:ext cx="1645920" cy="91440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Worker: connector, agent</a:t>
            </a:r>
          </a:p>
          <a:p>
            <a:pPr algn="ctr"/>
            <a:r>
              <a:rPr sz="900" b="1">
                <a:solidFill>
                  <a:srgbClr val="1A8F7A"/>
                </a:solidFill>
              </a:rPr>
              <a:t>connectors</a:t>
            </a:r>
          </a:p>
        </p:txBody>
      </p:sp>
      <p:sp>
        <p:nvSpPr>
          <p:cNvPr id="17" name="Rounded Rectangle 16"/>
          <p:cNvSpPr/>
          <p:nvPr/>
        </p:nvSpPr>
        <p:spPr>
          <a:xfrm>
            <a:off x="8229600" y="2834640"/>
            <a:ext cx="1737360" cy="100584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Sandbox chạy code, không có mạng ra ngoài</a:t>
            </a:r>
          </a:p>
          <a:p>
            <a:pPr algn="ctr"/>
            <a:r>
              <a:rPr sz="900" b="1">
                <a:solidFill>
                  <a:srgbClr val="1A8F7A"/>
                </a:solidFill>
              </a:rPr>
              <a:t>sandbox</a:t>
            </a:r>
          </a:p>
        </p:txBody>
      </p:sp>
      <p:sp>
        <p:nvSpPr>
          <p:cNvPr id="18" name="Rounded Rectangle 17"/>
          <p:cNvSpPr/>
          <p:nvPr/>
        </p:nvSpPr>
        <p:spPr>
          <a:xfrm>
            <a:off x="10149840" y="2834640"/>
            <a:ext cx="1645920" cy="100584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Cloud NAT → 11 SaaS (OAuth của user)</a:t>
            </a:r>
          </a:p>
          <a:p>
            <a:pPr algn="ctr"/>
            <a:r>
              <a:rPr sz="900" b="1">
                <a:solidFill>
                  <a:srgbClr val="1A8F7A"/>
                </a:solidFill>
              </a:rPr>
              <a:t>network</a:t>
            </a:r>
          </a:p>
        </p:txBody>
      </p:sp>
      <p:sp>
        <p:nvSpPr>
          <p:cNvPr id="19" name="Rounded Rectangle 18"/>
          <p:cNvSpPr/>
          <p:nvPr/>
        </p:nvSpPr>
        <p:spPr>
          <a:xfrm>
            <a:off x="6400800" y="2834640"/>
            <a:ext cx="1645920" cy="100584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Model Armor (guardrail, che PII)</a:t>
            </a:r>
          </a:p>
          <a:p>
            <a:pPr algn="ctr"/>
            <a:r>
              <a:rPr sz="900" b="1">
                <a:solidFill>
                  <a:srgbClr val="1A8F7A"/>
                </a:solidFill>
              </a:rPr>
              <a:t>governance</a:t>
            </a:r>
          </a:p>
        </p:txBody>
      </p:sp>
      <p:cxnSp>
        <p:nvCxnSpPr>
          <p:cNvPr id="20" name="Connector 19"/>
          <p:cNvCxnSpPr/>
          <p:nvPr/>
        </p:nvCxnSpPr>
        <p:spPr>
          <a:xfrm>
            <a:off x="5943600" y="1965960"/>
            <a:ext cx="457200" cy="137160"/>
          </a:xfrm>
          <a:prstGeom prst="line">
            <a:avLst/>
          </a:prstGeom>
          <a:ln w="19050">
            <a:solidFill>
              <a:srgbClr val="555F6B"/>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74320" y="3108960"/>
            <a:ext cx="1920240" cy="100584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Vertex AI qua kết nối riêng: Haiku 5.5, embedding, ảnh</a:t>
            </a:r>
          </a:p>
          <a:p>
            <a:pPr algn="ctr"/>
            <a:r>
              <a:rPr sz="900" b="1">
                <a:solidFill>
                  <a:srgbClr val="1A8F7A"/>
                </a:solidFill>
              </a:rPr>
              <a:t>llm · embedding</a:t>
            </a:r>
          </a:p>
        </p:txBody>
      </p:sp>
      <p:sp>
        <p:nvSpPr>
          <p:cNvPr id="22" name="Rounded Rectangle 21"/>
          <p:cNvSpPr/>
          <p:nvPr/>
        </p:nvSpPr>
        <p:spPr>
          <a:xfrm>
            <a:off x="2377440" y="3108960"/>
            <a:ext cx="1828800" cy="100584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Postgres HA + tìm kiếm vector</a:t>
            </a:r>
          </a:p>
          <a:p>
            <a:pPr algn="ctr"/>
            <a:r>
              <a:rPr sz="900" b="1">
                <a:solidFill>
                  <a:srgbClr val="1A8F7A"/>
                </a:solidFill>
              </a:rPr>
              <a:t>database · vector_db</a:t>
            </a:r>
          </a:p>
        </p:txBody>
      </p:sp>
      <p:sp>
        <p:nvSpPr>
          <p:cNvPr id="23" name="Rounded Rectangle 22"/>
          <p:cNvSpPr/>
          <p:nvPr/>
        </p:nvSpPr>
        <p:spPr>
          <a:xfrm>
            <a:off x="4389120" y="3108960"/>
            <a:ext cx="1645920" cy="100584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Cache + hàng đợi việc nền</a:t>
            </a:r>
          </a:p>
          <a:p>
            <a:pPr algn="ctr"/>
            <a:r>
              <a:rPr sz="900" b="1">
                <a:solidFill>
                  <a:srgbClr val="1A8F7A"/>
                </a:solidFill>
              </a:rPr>
              <a:t>cache_queue</a:t>
            </a:r>
          </a:p>
        </p:txBody>
      </p:sp>
      <p:sp>
        <p:nvSpPr>
          <p:cNvPr id="24" name="Rounded Rectangle 23"/>
          <p:cNvSpPr/>
          <p:nvPr/>
        </p:nvSpPr>
        <p:spPr>
          <a:xfrm>
            <a:off x="274320" y="4480560"/>
            <a:ext cx="1920240" cy="91440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Lưu file workspace (2 region)</a:t>
            </a:r>
          </a:p>
          <a:p>
            <a:pPr algn="ctr"/>
            <a:r>
              <a:rPr sz="900" b="1">
                <a:solidFill>
                  <a:srgbClr val="1A8F7A"/>
                </a:solidFill>
              </a:rPr>
              <a:t>object_storage</a:t>
            </a:r>
          </a:p>
        </p:txBody>
      </p:sp>
      <p:sp>
        <p:nvSpPr>
          <p:cNvPr id="25" name="Rounded Rectangle 24"/>
          <p:cNvSpPr/>
          <p:nvPr/>
        </p:nvSpPr>
        <p:spPr>
          <a:xfrm>
            <a:off x="2377440" y="4480560"/>
            <a:ext cx="1828800" cy="91440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Khóa mã hóa, secret</a:t>
            </a:r>
          </a:p>
          <a:p>
            <a:pPr algn="ctr"/>
            <a:r>
              <a:rPr sz="900" b="1">
                <a:solidFill>
                  <a:srgbClr val="1A8F7A"/>
                </a:solidFill>
              </a:rPr>
              <a:t>secrets_kms</a:t>
            </a:r>
          </a:p>
        </p:txBody>
      </p:sp>
      <p:sp>
        <p:nvSpPr>
          <p:cNvPr id="26" name="Rounded Rectangle 25"/>
          <p:cNvSpPr/>
          <p:nvPr/>
        </p:nvSpPr>
        <p:spPr>
          <a:xfrm>
            <a:off x="4389120" y="4480560"/>
            <a:ext cx="1645920" cy="91440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Log, metric, trace</a:t>
            </a:r>
          </a:p>
          <a:p>
            <a:pPr algn="ctr"/>
            <a:r>
              <a:rPr sz="900" b="1">
                <a:solidFill>
                  <a:srgbClr val="1A8F7A"/>
                </a:solidFill>
              </a:rPr>
              <a:t>monitoring</a:t>
            </a:r>
          </a:p>
        </p:txBody>
      </p:sp>
      <p:sp>
        <p:nvSpPr>
          <p:cNvPr id="27" name="Rounded Rectangle 26"/>
          <p:cNvSpPr/>
          <p:nvPr/>
        </p:nvSpPr>
        <p:spPr>
          <a:xfrm>
            <a:off x="6217920" y="4480560"/>
            <a:ext cx="1828800" cy="91440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Backup + DR sang Jakarta</a:t>
            </a:r>
          </a:p>
          <a:p>
            <a:pPr algn="ctr"/>
            <a:r>
              <a:rPr sz="900" b="1">
                <a:solidFill>
                  <a:srgbClr val="1A8F7A"/>
                </a:solidFill>
              </a:rPr>
              <a:t>backup_dr</a:t>
            </a:r>
          </a:p>
        </p:txBody>
      </p:sp>
      <p:sp>
        <p:nvSpPr>
          <p:cNvPr id="28" name="Rounded Rectangle 27"/>
          <p:cNvSpPr/>
          <p:nvPr/>
        </p:nvSpPr>
        <p:spPr>
          <a:xfrm>
            <a:off x="8229600" y="4480560"/>
            <a:ext cx="1737360" cy="91440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Build, deploy</a:t>
            </a:r>
          </a:p>
          <a:p>
            <a:pPr algn="ctr"/>
            <a:r>
              <a:rPr sz="900" b="1">
                <a:solidFill>
                  <a:srgbClr val="1A8F7A"/>
                </a:solidFill>
              </a:rPr>
              <a:t>cicd</a:t>
            </a:r>
          </a:p>
        </p:txBody>
      </p:sp>
      <p:sp>
        <p:nvSpPr>
          <p:cNvPr id="29" name="Rounded Rectangle 28"/>
          <p:cNvSpPr/>
          <p:nvPr/>
        </p:nvSpPr>
        <p:spPr>
          <a:xfrm>
            <a:off x="10149840" y="4480560"/>
            <a:ext cx="1645920" cy="914400"/>
          </a:xfrm>
          <a:prstGeom prst="roundRect">
            <a:avLst/>
          </a:prstGeom>
          <a:solidFill>
            <a:srgbClr val="EEF3F8"/>
          </a:solidFill>
          <a:ln w="15875">
            <a:solidFill>
              <a:srgbClr val="2E6FB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1F3A5F"/>
                </a:solidFill>
              </a:rPr>
              <a:t>2 kỹ sư vận hành</a:t>
            </a:r>
          </a:p>
          <a:p>
            <a:pPr algn="ctr"/>
            <a:r>
              <a:rPr sz="900" b="1">
                <a:solidFill>
                  <a:srgbClr val="1A8F7A"/>
                </a:solidFill>
              </a:rPr>
              <a:t>ops_labor</a:t>
            </a:r>
          </a:p>
        </p:txBody>
      </p:sp>
      <p:sp>
        <p:nvSpPr>
          <p:cNvPr id="30" name="Oval 29"/>
          <p:cNvSpPr/>
          <p:nvPr/>
        </p:nvSpPr>
        <p:spPr>
          <a:xfrm>
            <a:off x="1883664" y="1335024"/>
            <a:ext cx="292608" cy="292608"/>
          </a:xfrm>
          <a:prstGeom prst="ellipse">
            <a:avLst/>
          </a:prstGeom>
          <a:solidFill>
            <a:srgbClr val="1A8F7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1</a:t>
            </a:r>
          </a:p>
        </p:txBody>
      </p:sp>
      <p:sp>
        <p:nvSpPr>
          <p:cNvPr id="31" name="Oval 30"/>
          <p:cNvSpPr/>
          <p:nvPr/>
        </p:nvSpPr>
        <p:spPr>
          <a:xfrm>
            <a:off x="6272784" y="2706624"/>
            <a:ext cx="292608" cy="292608"/>
          </a:xfrm>
          <a:prstGeom prst="ellipse">
            <a:avLst/>
          </a:prstGeom>
          <a:solidFill>
            <a:srgbClr val="1A8F7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2</a:t>
            </a:r>
          </a:p>
        </p:txBody>
      </p:sp>
      <p:sp>
        <p:nvSpPr>
          <p:cNvPr id="32" name="Oval 31"/>
          <p:cNvSpPr/>
          <p:nvPr/>
        </p:nvSpPr>
        <p:spPr>
          <a:xfrm>
            <a:off x="4261104" y="2980944"/>
            <a:ext cx="292608" cy="292608"/>
          </a:xfrm>
          <a:prstGeom prst="ellipse">
            <a:avLst/>
          </a:prstGeom>
          <a:solidFill>
            <a:srgbClr val="1A8F7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3</a:t>
            </a:r>
          </a:p>
        </p:txBody>
      </p:sp>
      <p:sp>
        <p:nvSpPr>
          <p:cNvPr id="33" name="Oval 32"/>
          <p:cNvSpPr/>
          <p:nvPr/>
        </p:nvSpPr>
        <p:spPr>
          <a:xfrm>
            <a:off x="10021824" y="1517904"/>
            <a:ext cx="292608" cy="292608"/>
          </a:xfrm>
          <a:prstGeom prst="ellipse">
            <a:avLst/>
          </a:prstGeom>
          <a:solidFill>
            <a:srgbClr val="1A8F7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4</a:t>
            </a:r>
          </a:p>
        </p:txBody>
      </p:sp>
      <p:sp>
        <p:nvSpPr>
          <p:cNvPr id="34" name="Oval 33"/>
          <p:cNvSpPr/>
          <p:nvPr/>
        </p:nvSpPr>
        <p:spPr>
          <a:xfrm>
            <a:off x="8101583" y="1517904"/>
            <a:ext cx="292608" cy="292608"/>
          </a:xfrm>
          <a:prstGeom prst="ellipse">
            <a:avLst/>
          </a:prstGeom>
          <a:solidFill>
            <a:srgbClr val="1A8F7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5</a:t>
            </a:r>
          </a:p>
        </p:txBody>
      </p:sp>
      <p:sp>
        <p:nvSpPr>
          <p:cNvPr id="35" name="Oval 34"/>
          <p:cNvSpPr/>
          <p:nvPr/>
        </p:nvSpPr>
        <p:spPr>
          <a:xfrm>
            <a:off x="10021824" y="2706624"/>
            <a:ext cx="292608" cy="292608"/>
          </a:xfrm>
          <a:prstGeom prst="ellipse">
            <a:avLst/>
          </a:prstGeom>
          <a:solidFill>
            <a:srgbClr val="1A8F7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6</a:t>
            </a:r>
          </a:p>
        </p:txBody>
      </p:sp>
      <p:sp>
        <p:nvSpPr>
          <p:cNvPr id="36" name="TextBox 35"/>
          <p:cNvSpPr txBox="1"/>
          <p:nvPr/>
        </p:nvSpPr>
        <p:spPr>
          <a:xfrm>
            <a:off x="274320" y="5577840"/>
            <a:ext cx="11612880" cy="731520"/>
          </a:xfrm>
          <a:prstGeom prst="rect">
            <a:avLst/>
          </a:prstGeom>
          <a:noFill/>
        </p:spPr>
        <p:txBody>
          <a:bodyPr wrap="square">
            <a:spAutoFit/>
          </a:bodyPr>
          <a:lstStyle/>
          <a:p>
            <a:pPr algn="l">
              <a:spcAft>
                <a:spcPts val="400"/>
              </a:spcAft>
            </a:pPr>
            <a:r>
              <a:rPr sz="1100" b="0">
                <a:solidFill>
                  <a:srgbClr val="555F6B"/>
                </a:solidFill>
              </a:rPr>
              <a:t>Mỗi thành phần có bản thứ hai ở zone khác (slide 9). Dữ liệu lưu tại Singapore; Vertex AI cam kết không lưu và không dùng dữ liệu để huấn luyện.</a:t>
            </a:r>
          </a:p>
          <a:p>
            <a:pPr algn="l">
              <a:spcAft>
                <a:spcPts val="400"/>
              </a:spcAft>
            </a:pPr>
            <a:r>
              <a:rPr sz="1100" b="0">
                <a:solidFill>
                  <a:srgbClr val="555F6B"/>
                </a:solidFill>
              </a:rPr>
              <a:t>H1–H8 là 8 ràng buộc cứng của đề: H1 cloud · H2 phân quyền · H3 cô lập user · H4 AI governance · H5 data governance · H6 độ trễ · H7 HA, DR · H8 chất lượng, chi phí</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3. Một request đi qua 3 cổng: SSO, guardrail, xác nhận</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Ví dụ: "Tóm tắt thread email dự án X, rồi tạo 3 ticket Jira". Số bước khớp với số tròn trên sơ đồ slide 2</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3</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sp>
        <p:nvSpPr>
          <p:cNvPr id="7" name="TextBox 6"/>
          <p:cNvSpPr txBox="1"/>
          <p:nvPr/>
        </p:nvSpPr>
        <p:spPr>
          <a:xfrm>
            <a:off x="548640" y="1463040"/>
            <a:ext cx="11155680" cy="4846320"/>
          </a:xfrm>
          <a:prstGeom prst="rect">
            <a:avLst/>
          </a:prstGeom>
          <a:noFill/>
        </p:spPr>
        <p:txBody>
          <a:bodyPr wrap="square">
            <a:spAutoFit/>
          </a:bodyPr>
          <a:lstStyle/>
          <a:p>
            <a:pPr algn="l">
              <a:spcAft>
                <a:spcPts val="400"/>
              </a:spcAft>
            </a:pPr>
            <a:r>
              <a:rPr sz="1600" b="1">
                <a:solidFill>
                  <a:srgbClr val="555F6B"/>
                </a:solidFill>
              </a:rPr>
              <a:t>1. Đăng nhập</a:t>
            </a:r>
          </a:p>
          <a:p>
            <a:pPr algn="l">
              <a:spcAft>
                <a:spcPts val="400"/>
              </a:spcAft>
            </a:pPr>
            <a:r>
              <a:rPr sz="1600" b="0">
                <a:solidFill>
                  <a:srgbClr val="555F6B"/>
                </a:solidFill>
              </a:rPr>
              <a:t>Request đi qua tường lửa web. IAP kiểm tra đăng nhập SSO và MFA của tập đoàn.</a:t>
            </a:r>
          </a:p>
          <a:p>
            <a:pPr algn="l">
              <a:spcAft>
                <a:spcPts val="400"/>
              </a:spcAft>
            </a:pPr>
            <a:r>
              <a:rPr sz="1600" b="1">
                <a:solidFill>
                  <a:srgbClr val="555F6B"/>
                </a:solidFill>
              </a:rPr>
              <a:t>2. Kiểm tra đầu vào (cổng guardrail)</a:t>
            </a:r>
          </a:p>
          <a:p>
            <a:pPr algn="l">
              <a:spcAft>
                <a:spcPts val="400"/>
              </a:spcAft>
            </a:pPr>
            <a:r>
              <a:rPr sz="1600" b="0">
                <a:solidFill>
                  <a:srgbClr val="555F6B"/>
                </a:solidFill>
              </a:rPr>
              <a:t>Model Armor quét tin nhắn để chặn prompt injection và lộ dữ liệu cá nhân. Mọi bước đều ghi audit.</a:t>
            </a:r>
          </a:p>
          <a:p>
            <a:pPr algn="l">
              <a:spcAft>
                <a:spcPts val="400"/>
              </a:spcAft>
            </a:pPr>
            <a:r>
              <a:rPr sz="1600" b="1">
                <a:solidFill>
                  <a:srgbClr val="555F6B"/>
                </a:solidFill>
              </a:rPr>
              <a:t>3. Chạy nền</a:t>
            </a:r>
          </a:p>
          <a:p>
            <a:pPr algn="l">
              <a:spcAft>
                <a:spcPts val="400"/>
              </a:spcAft>
            </a:pPr>
            <a:r>
              <a:rPr sz="1600" b="0">
                <a:solidFill>
                  <a:srgbClr val="555F6B"/>
                </a:solidFill>
              </a:rPr>
              <a:t>Việc nhiều bước (cấp 4) vào hàng đợi. User nhận "đang chạy nền" ngay, dưới 3 giây (H6).</a:t>
            </a:r>
          </a:p>
          <a:p>
            <a:pPr algn="l">
              <a:spcAft>
                <a:spcPts val="400"/>
              </a:spcAft>
            </a:pPr>
            <a:r>
              <a:rPr sz="1600" b="1">
                <a:solidFill>
                  <a:srgbClr val="555F6B"/>
                </a:solidFill>
              </a:rPr>
              <a:t>4. Đọc email bằng quyền của chính user</a:t>
            </a:r>
          </a:p>
          <a:p>
            <a:pPr algn="l">
              <a:spcAft>
                <a:spcPts val="400"/>
              </a:spcAft>
            </a:pPr>
            <a:r>
              <a:rPr sz="1600" b="0">
                <a:solidFill>
                  <a:srgbClr val="555F6B"/>
                </a:solidFill>
              </a:rPr>
              <a:t>Worker dùng OAuth token của user để tìm email. Nội dung email được đánh dấu "không tin cậy", không phải chỉ dẫn.</a:t>
            </a:r>
          </a:p>
          <a:p>
            <a:pPr algn="l">
              <a:spcAft>
                <a:spcPts val="400"/>
              </a:spcAft>
            </a:pPr>
            <a:r>
              <a:rPr sz="1600" b="1">
                <a:solidFill>
                  <a:srgbClr val="555F6B"/>
                </a:solidFill>
              </a:rPr>
              <a:t>5. Gọi model</a:t>
            </a:r>
          </a:p>
          <a:p>
            <a:pPr algn="l">
              <a:spcAft>
                <a:spcPts val="400"/>
              </a:spcAft>
            </a:pPr>
            <a:r>
              <a:rPr sz="1600" b="0">
                <a:solidFill>
                  <a:srgbClr val="555F6B"/>
                </a:solidFill>
              </a:rPr>
              <a:t>LiteLLM kiểm tra quota USD của user, rồi gọi Claude Haiku 5.5 trên Vertex AI. Agent đề xuất 3 ticket.</a:t>
            </a:r>
          </a:p>
          <a:p>
            <a:pPr algn="l">
              <a:spcAft>
                <a:spcPts val="400"/>
              </a:spcAft>
            </a:pPr>
            <a:r>
              <a:rPr sz="1600" b="1">
                <a:solidFill>
                  <a:srgbClr val="555F6B"/>
                </a:solidFill>
              </a:rPr>
              <a:t>6. User xác nhận rồi mới ghi (cổng xác nhận)</a:t>
            </a:r>
          </a:p>
          <a:p>
            <a:pPr algn="l">
              <a:spcAft>
                <a:spcPts val="400"/>
              </a:spcAft>
            </a:pPr>
            <a:r>
              <a:rPr sz="1600" b="0">
                <a:solidFill>
                  <a:srgbClr val="555F6B"/>
                </a:solidFill>
              </a:rPr>
              <a:t>User duyệt 3 ticket trên một màn hình. Worker tạo ticket, ghi audit, báo "xong" (tối đa 10 phút, H6).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4. Haiku 5.5 cho cả 5 cấp: 947 USD/tháng</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Dùng API model trên Vertex AI, không tự host GPU. Chỉ nâng một cấp lên Sonnet 5.5 khi eval của cấp đó dưới 95%</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4</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graphicFrame>
        <p:nvGraphicFramePr>
          <p:cNvPr id="7" name="Table 6"/>
          <p:cNvGraphicFramePr>
            <a:graphicFrameLocks noGrp="1"/>
          </p:cNvGraphicFramePr>
          <p:nvPr/>
        </p:nvGraphicFramePr>
        <p:xfrm>
          <a:off x="457200" y="1371600"/>
          <a:ext cx="11247120" cy="2048256"/>
        </p:xfrm>
        <a:graphic>
          <a:graphicData uri="http://schemas.openxmlformats.org/drawingml/2006/table">
            <a:tbl>
              <a:tblPr firstRow="1" bandRow="1">
                <a:tableStyleId>{5C22544A-7EE6-4342-B048-85BDC9FD1C3A}</a:tableStyleId>
              </a:tblPr>
              <a:tblGrid>
                <a:gridCol w="1645920"/>
                <a:gridCol w="2651760"/>
                <a:gridCol w="2103120"/>
                <a:gridCol w="1097280"/>
                <a:gridCol w="1371600"/>
                <a:gridCol w="2377440"/>
              </a:tblGrid>
              <a:tr h="292608">
                <a:tc>
                  <a:txBody>
                    <a:bodyPr/>
                    <a:lstStyle/>
                    <a:p>
                      <a:r>
                        <a:rPr sz="1200" b="1">
                          <a:solidFill>
                            <a:srgbClr val="FFFFFF"/>
                          </a:solidFill>
                        </a:rPr>
                        <a:t>Cấp</a:t>
                      </a:r>
                    </a:p>
                  </a:txBody>
                  <a:tcPr marL="45720" marR="45720" marT="18288" marB="18288">
                    <a:solidFill>
                      <a:srgbClr val="2E6FB7"/>
                    </a:solidFill>
                  </a:tcPr>
                </a:tc>
                <a:tc>
                  <a:txBody>
                    <a:bodyPr/>
                    <a:lstStyle/>
                    <a:p>
                      <a:r>
                        <a:rPr sz="1200" b="1">
                          <a:solidFill>
                            <a:srgbClr val="FFFFFF"/>
                          </a:solidFill>
                        </a:rPr>
                        <a:t>Model</a:t>
                      </a:r>
                    </a:p>
                  </a:txBody>
                  <a:tcPr marL="45720" marR="45720" marT="18288" marB="18288">
                    <a:solidFill>
                      <a:srgbClr val="2E6FB7"/>
                    </a:solidFill>
                  </a:tcPr>
                </a:tc>
                <a:tc>
                  <a:txBody>
                    <a:bodyPr/>
                    <a:lstStyle/>
                    <a:p>
                      <a:r>
                        <a:rPr sz="1200" b="1">
                          <a:solidFill>
                            <a:srgbClr val="FFFFFF"/>
                          </a:solidFill>
                        </a:rPr>
                        <a:t>Chế độ</a:t>
                      </a:r>
                    </a:p>
                  </a:txBody>
                  <a:tcPr marL="45720" marR="45720" marT="18288" marB="18288">
                    <a:solidFill>
                      <a:srgbClr val="2E6FB7"/>
                    </a:solidFill>
                  </a:tcPr>
                </a:tc>
                <a:tc>
                  <a:txBody>
                    <a:bodyPr/>
                    <a:lstStyle/>
                    <a:p>
                      <a:r>
                        <a:rPr sz="1200" b="1">
                          <a:solidFill>
                            <a:srgbClr val="FFFFFF"/>
                          </a:solidFill>
                        </a:rPr>
                        <a:t>Lượt/ngày</a:t>
                      </a:r>
                    </a:p>
                  </a:txBody>
                  <a:tcPr marL="45720" marR="45720" marT="18288" marB="18288">
                    <a:solidFill>
                      <a:srgbClr val="2E6FB7"/>
                    </a:solidFill>
                  </a:tcPr>
                </a:tc>
                <a:tc>
                  <a:txBody>
                    <a:bodyPr/>
                    <a:lstStyle/>
                    <a:p>
                      <a:r>
                        <a:rPr sz="1200" b="1">
                          <a:solidFill>
                            <a:srgbClr val="FFFFFF"/>
                          </a:solidFill>
                        </a:rPr>
                        <a:t>USD/tháng</a:t>
                      </a:r>
                    </a:p>
                  </a:txBody>
                  <a:tcPr marL="45720" marR="45720" marT="18288" marB="18288">
                    <a:solidFill>
                      <a:srgbClr val="2E6FB7"/>
                    </a:solidFill>
                  </a:tcPr>
                </a:tc>
                <a:tc>
                  <a:txBody>
                    <a:bodyPr/>
                    <a:lstStyle/>
                    <a:p>
                      <a:r>
                        <a:rPr sz="1200" b="1">
                          <a:solidFill>
                            <a:srgbClr val="FFFFFF"/>
                          </a:solidFill>
                        </a:rPr>
                        <a:t>Nếu eval &lt; 95%: nâng lên</a:t>
                      </a:r>
                    </a:p>
                  </a:txBody>
                  <a:tcPr marL="45720" marR="45720" marT="18288" marB="18288">
                    <a:solidFill>
                      <a:srgbClr val="2E6FB7"/>
                    </a:solidFill>
                  </a:tcPr>
                </a:tc>
              </a:tr>
              <a:tr h="292608">
                <a:tc>
                  <a:txBody>
                    <a:bodyPr/>
                    <a:lstStyle/>
                    <a:p>
                      <a:r>
                        <a:rPr sz="1200" b="0">
                          <a:solidFill>
                            <a:srgbClr val="555F6B"/>
                          </a:solidFill>
                        </a:rPr>
                        <a:t>1 Email, hỏi đáp</a:t>
                      </a:r>
                    </a:p>
                  </a:txBody>
                  <a:tcPr marL="45720" marR="45720" marT="18288" marB="18288">
                    <a:solidFill>
                      <a:srgbClr val="EEF3F8"/>
                    </a:solidFill>
                  </a:tcPr>
                </a:tc>
                <a:tc>
                  <a:txBody>
                    <a:bodyPr/>
                    <a:lstStyle/>
                    <a:p>
                      <a:r>
                        <a:rPr sz="1200" b="0">
                          <a:solidFill>
                            <a:srgbClr val="555F6B"/>
                          </a:solidFill>
                        </a:rPr>
                        <a:t>Claude Haiku 5.5</a:t>
                      </a:r>
                    </a:p>
                  </a:txBody>
                  <a:tcPr marL="45720" marR="45720" marT="18288" marB="18288">
                    <a:solidFill>
                      <a:srgbClr val="EEF3F8"/>
                    </a:solidFill>
                  </a:tcPr>
                </a:tc>
                <a:tc>
                  <a:txBody>
                    <a:bodyPr/>
                    <a:lstStyle/>
                    <a:p>
                      <a:r>
                        <a:rPr sz="1200" b="0">
                          <a:solidFill>
                            <a:srgbClr val="555F6B"/>
                          </a:solidFill>
                        </a:rPr>
                        <a:t>tắt reasoning (cần nhanh)</a:t>
                      </a:r>
                    </a:p>
                  </a:txBody>
                  <a:tcPr marL="45720" marR="45720" marT="18288" marB="18288">
                    <a:solidFill>
                      <a:srgbClr val="EEF3F8"/>
                    </a:solidFill>
                  </a:tcPr>
                </a:tc>
                <a:tc>
                  <a:txBody>
                    <a:bodyPr/>
                    <a:lstStyle/>
                    <a:p>
                      <a:r>
                        <a:rPr sz="1200" b="0">
                          <a:solidFill>
                            <a:srgbClr val="555F6B"/>
                          </a:solidFill>
                        </a:rPr>
                        <a:t>20.507</a:t>
                      </a:r>
                    </a:p>
                  </a:txBody>
                  <a:tcPr marL="45720" marR="45720" marT="18288" marB="18288">
                    <a:solidFill>
                      <a:srgbClr val="EEF3F8"/>
                    </a:solidFill>
                  </a:tcPr>
                </a:tc>
                <a:tc>
                  <a:txBody>
                    <a:bodyPr/>
                    <a:lstStyle/>
                    <a:p>
                      <a:r>
                        <a:rPr sz="1200" b="0">
                          <a:solidFill>
                            <a:srgbClr val="555F6B"/>
                          </a:solidFill>
                        </a:rPr>
                        <a:t>386</a:t>
                      </a:r>
                    </a:p>
                  </a:txBody>
                  <a:tcPr marL="45720" marR="45720" marT="18288" marB="18288">
                    <a:solidFill>
                      <a:srgbClr val="EEF3F8"/>
                    </a:solidFill>
                  </a:tcPr>
                </a:tc>
                <a:tc>
                  <a:txBody>
                    <a:bodyPr/>
                    <a:lstStyle/>
                    <a:p>
                      <a:r>
                        <a:rPr sz="1200" b="0">
                          <a:solidFill>
                            <a:srgbClr val="555F6B"/>
                          </a:solidFill>
                        </a:rPr>
                        <a:t>Sonnet 5.5</a:t>
                      </a:r>
                    </a:p>
                  </a:txBody>
                  <a:tcPr marL="45720" marR="45720" marT="18288" marB="18288">
                    <a:solidFill>
                      <a:srgbClr val="EEF3F8"/>
                    </a:solidFill>
                  </a:tcPr>
                </a:tc>
              </a:tr>
              <a:tr h="292608">
                <a:tc>
                  <a:txBody>
                    <a:bodyPr/>
                    <a:lstStyle/>
                    <a:p>
                      <a:r>
                        <a:rPr sz="1200" b="0">
                          <a:solidFill>
                            <a:srgbClr val="555F6B"/>
                          </a:solidFill>
                        </a:rPr>
                        <a:t>2 Tài liệu</a:t>
                      </a:r>
                    </a:p>
                  </a:txBody>
                  <a:tcPr marL="45720" marR="45720" marT="18288" marB="18288">
                    <a:solidFill>
                      <a:srgbClr val="FFFFFF"/>
                    </a:solidFill>
                  </a:tcPr>
                </a:tc>
                <a:tc>
                  <a:txBody>
                    <a:bodyPr/>
                    <a:lstStyle/>
                    <a:p>
                      <a:r>
                        <a:rPr sz="1200" b="0">
                          <a:solidFill>
                            <a:srgbClr val="555F6B"/>
                          </a:solidFill>
                        </a:rPr>
                        <a:t>Claude Haiku 5.5</a:t>
                      </a:r>
                    </a:p>
                  </a:txBody>
                  <a:tcPr marL="45720" marR="45720" marT="18288" marB="18288">
                    <a:solidFill>
                      <a:srgbClr val="FFFFFF"/>
                    </a:solidFill>
                  </a:tcPr>
                </a:tc>
                <a:tc>
                  <a:txBody>
                    <a:bodyPr/>
                    <a:lstStyle/>
                    <a:p>
                      <a:r>
                        <a:rPr sz="1200" b="0">
                          <a:solidFill>
                            <a:srgbClr val="555F6B"/>
                          </a:solidFill>
                        </a:rPr>
                        <a:t>tắt reasoning (cần nhanh)</a:t>
                      </a:r>
                    </a:p>
                  </a:txBody>
                  <a:tcPr marL="45720" marR="45720" marT="18288" marB="18288">
                    <a:solidFill>
                      <a:srgbClr val="FFFFFF"/>
                    </a:solidFill>
                  </a:tcPr>
                </a:tc>
                <a:tc>
                  <a:txBody>
                    <a:bodyPr/>
                    <a:lstStyle/>
                    <a:p>
                      <a:r>
                        <a:rPr sz="1200" b="0">
                          <a:solidFill>
                            <a:srgbClr val="555F6B"/>
                          </a:solidFill>
                        </a:rPr>
                        <a:t>3.153</a:t>
                      </a:r>
                    </a:p>
                  </a:txBody>
                  <a:tcPr marL="45720" marR="45720" marT="18288" marB="18288">
                    <a:solidFill>
                      <a:srgbClr val="FFFFFF"/>
                    </a:solidFill>
                  </a:tcPr>
                </a:tc>
                <a:tc>
                  <a:txBody>
                    <a:bodyPr/>
                    <a:lstStyle/>
                    <a:p>
                      <a:r>
                        <a:rPr sz="1200" b="0">
                          <a:solidFill>
                            <a:srgbClr val="555F6B"/>
                          </a:solidFill>
                        </a:rPr>
                        <a:t>288</a:t>
                      </a:r>
                    </a:p>
                  </a:txBody>
                  <a:tcPr marL="45720" marR="45720" marT="18288" marB="18288">
                    <a:solidFill>
                      <a:srgbClr val="FFFFFF"/>
                    </a:solidFill>
                  </a:tcPr>
                </a:tc>
                <a:tc>
                  <a:txBody>
                    <a:bodyPr/>
                    <a:lstStyle/>
                    <a:p>
                      <a:r>
                        <a:rPr sz="1200" b="0">
                          <a:solidFill>
                            <a:srgbClr val="555F6B"/>
                          </a:solidFill>
                        </a:rPr>
                        <a:t>Sonnet 5.5</a:t>
                      </a:r>
                    </a:p>
                  </a:txBody>
                  <a:tcPr marL="45720" marR="45720" marT="18288" marB="18288">
                    <a:solidFill>
                      <a:srgbClr val="FFFFFF"/>
                    </a:solidFill>
                  </a:tcPr>
                </a:tc>
              </a:tr>
              <a:tr h="292608">
                <a:tc>
                  <a:txBody>
                    <a:bodyPr/>
                    <a:lstStyle/>
                    <a:p>
                      <a:r>
                        <a:rPr sz="1200" b="0">
                          <a:solidFill>
                            <a:srgbClr val="555F6B"/>
                          </a:solidFill>
                        </a:rPr>
                        <a:t>3 Dữ liệu, code</a:t>
                      </a:r>
                    </a:p>
                  </a:txBody>
                  <a:tcPr marL="45720" marR="45720" marT="18288" marB="18288">
                    <a:solidFill>
                      <a:srgbClr val="EEF3F8"/>
                    </a:solidFill>
                  </a:tcPr>
                </a:tc>
                <a:tc>
                  <a:txBody>
                    <a:bodyPr/>
                    <a:lstStyle/>
                    <a:p>
                      <a:r>
                        <a:rPr sz="1200" b="0">
                          <a:solidFill>
                            <a:srgbClr val="555F6B"/>
                          </a:solidFill>
                        </a:rPr>
                        <a:t>Claude Haiku 5.5</a:t>
                      </a:r>
                    </a:p>
                  </a:txBody>
                  <a:tcPr marL="45720" marR="45720" marT="18288" marB="18288">
                    <a:solidFill>
                      <a:srgbClr val="EEF3F8"/>
                    </a:solidFill>
                  </a:tcPr>
                </a:tc>
                <a:tc>
                  <a:txBody>
                    <a:bodyPr/>
                    <a:lstStyle/>
                    <a:p>
                      <a:r>
                        <a:rPr sz="1200" b="0">
                          <a:solidFill>
                            <a:srgbClr val="555F6B"/>
                          </a:solidFill>
                        </a:rPr>
                        <a:t>reasoning thấp</a:t>
                      </a:r>
                    </a:p>
                  </a:txBody>
                  <a:tcPr marL="45720" marR="45720" marT="18288" marB="18288">
                    <a:solidFill>
                      <a:srgbClr val="EEF3F8"/>
                    </a:solidFill>
                  </a:tcPr>
                </a:tc>
                <a:tc>
                  <a:txBody>
                    <a:bodyPr/>
                    <a:lstStyle/>
                    <a:p>
                      <a:r>
                        <a:rPr sz="1200" b="0">
                          <a:solidFill>
                            <a:srgbClr val="555F6B"/>
                          </a:solidFill>
                        </a:rPr>
                        <a:t>2.099</a:t>
                      </a:r>
                    </a:p>
                  </a:txBody>
                  <a:tcPr marL="45720" marR="45720" marT="18288" marB="18288">
                    <a:solidFill>
                      <a:srgbClr val="EEF3F8"/>
                    </a:solidFill>
                  </a:tcPr>
                </a:tc>
                <a:tc>
                  <a:txBody>
                    <a:bodyPr/>
                    <a:lstStyle/>
                    <a:p>
                      <a:r>
                        <a:rPr sz="1200" b="0">
                          <a:solidFill>
                            <a:srgbClr val="555F6B"/>
                          </a:solidFill>
                        </a:rPr>
                        <a:t>161</a:t>
                      </a:r>
                    </a:p>
                  </a:txBody>
                  <a:tcPr marL="45720" marR="45720" marT="18288" marB="18288">
                    <a:solidFill>
                      <a:srgbClr val="EEF3F8"/>
                    </a:solidFill>
                  </a:tcPr>
                </a:tc>
                <a:tc>
                  <a:txBody>
                    <a:bodyPr/>
                    <a:lstStyle/>
                    <a:p>
                      <a:r>
                        <a:rPr sz="1200" b="0">
                          <a:solidFill>
                            <a:srgbClr val="555F6B"/>
                          </a:solidFill>
                        </a:rPr>
                        <a:t>Sonnet 5.5: +2.939 USD</a:t>
                      </a:r>
                    </a:p>
                  </a:txBody>
                  <a:tcPr marL="45720" marR="45720" marT="18288" marB="18288">
                    <a:solidFill>
                      <a:srgbClr val="EEF3F8"/>
                    </a:solidFill>
                  </a:tcPr>
                </a:tc>
              </a:tr>
              <a:tr h="292608">
                <a:tc>
                  <a:txBody>
                    <a:bodyPr/>
                    <a:lstStyle/>
                    <a:p>
                      <a:r>
                        <a:rPr sz="1200" b="0">
                          <a:solidFill>
                            <a:srgbClr val="555F6B"/>
                          </a:solidFill>
                        </a:rPr>
                        <a:t>4 Agent dự án</a:t>
                      </a:r>
                    </a:p>
                  </a:txBody>
                  <a:tcPr marL="45720" marR="45720" marT="18288" marB="18288">
                    <a:solidFill>
                      <a:srgbClr val="FFFFFF"/>
                    </a:solidFill>
                  </a:tcPr>
                </a:tc>
                <a:tc>
                  <a:txBody>
                    <a:bodyPr/>
                    <a:lstStyle/>
                    <a:p>
                      <a:r>
                        <a:rPr sz="1200" b="0">
                          <a:solidFill>
                            <a:srgbClr val="555F6B"/>
                          </a:solidFill>
                        </a:rPr>
                        <a:t>Claude Haiku 5.5</a:t>
                      </a:r>
                    </a:p>
                  </a:txBody>
                  <a:tcPr marL="45720" marR="45720" marT="18288" marB="18288">
                    <a:solidFill>
                      <a:srgbClr val="FFFFFF"/>
                    </a:solidFill>
                  </a:tcPr>
                </a:tc>
                <a:tc>
                  <a:txBody>
                    <a:bodyPr/>
                    <a:lstStyle/>
                    <a:p>
                      <a:r>
                        <a:rPr sz="1200" b="0">
                          <a:solidFill>
                            <a:srgbClr val="555F6B"/>
                          </a:solidFill>
                        </a:rPr>
                        <a:t>reasoning thấp, chạy nền</a:t>
                      </a:r>
                    </a:p>
                  </a:txBody>
                  <a:tcPr marL="45720" marR="45720" marT="18288" marB="18288">
                    <a:solidFill>
                      <a:srgbClr val="FFFFFF"/>
                    </a:solidFill>
                  </a:tcPr>
                </a:tc>
                <a:tc>
                  <a:txBody>
                    <a:bodyPr/>
                    <a:lstStyle/>
                    <a:p>
                      <a:r>
                        <a:rPr sz="1200" b="0">
                          <a:solidFill>
                            <a:srgbClr val="555F6B"/>
                          </a:solidFill>
                        </a:rPr>
                        <a:t>1.042</a:t>
                      </a:r>
                    </a:p>
                  </a:txBody>
                  <a:tcPr marL="45720" marR="45720" marT="18288" marB="18288">
                    <a:solidFill>
                      <a:srgbClr val="FFFFFF"/>
                    </a:solidFill>
                  </a:tcPr>
                </a:tc>
                <a:tc>
                  <a:txBody>
                    <a:bodyPr/>
                    <a:lstStyle/>
                    <a:p>
                      <a:r>
                        <a:rPr sz="1200" b="0">
                          <a:solidFill>
                            <a:srgbClr val="555F6B"/>
                          </a:solidFill>
                        </a:rPr>
                        <a:t>105</a:t>
                      </a:r>
                    </a:p>
                  </a:txBody>
                  <a:tcPr marL="45720" marR="45720" marT="18288" marB="18288">
                    <a:solidFill>
                      <a:srgbClr val="FFFFFF"/>
                    </a:solidFill>
                  </a:tcPr>
                </a:tc>
                <a:tc>
                  <a:txBody>
                    <a:bodyPr/>
                    <a:lstStyle/>
                    <a:p>
                      <a:r>
                        <a:rPr sz="1200" b="0">
                          <a:solidFill>
                            <a:srgbClr val="555F6B"/>
                          </a:solidFill>
                        </a:rPr>
                        <a:t>Sonnet 5.5: +1.766 USD</a:t>
                      </a:r>
                    </a:p>
                  </a:txBody>
                  <a:tcPr marL="45720" marR="45720" marT="18288" marB="18288">
                    <a:solidFill>
                      <a:srgbClr val="FFFFFF"/>
                    </a:solidFill>
                  </a:tcPr>
                </a:tc>
              </a:tr>
              <a:tr h="292608">
                <a:tc>
                  <a:txBody>
                    <a:bodyPr/>
                    <a:lstStyle/>
                    <a:p>
                      <a:r>
                        <a:rPr sz="1200" b="0">
                          <a:solidFill>
                            <a:srgbClr val="555F6B"/>
                          </a:solidFill>
                        </a:rPr>
                        <a:t>5 Thiết kế</a:t>
                      </a:r>
                    </a:p>
                  </a:txBody>
                  <a:tcPr marL="45720" marR="45720" marT="18288" marB="18288">
                    <a:solidFill>
                      <a:srgbClr val="EEF3F8"/>
                    </a:solidFill>
                  </a:tcPr>
                </a:tc>
                <a:tc>
                  <a:txBody>
                    <a:bodyPr/>
                    <a:lstStyle/>
                    <a:p>
                      <a:r>
                        <a:rPr sz="1200" b="0">
                          <a:solidFill>
                            <a:srgbClr val="555F6B"/>
                          </a:solidFill>
                        </a:rPr>
                        <a:t>Haiku 5.5 + Gemini 3.1 Flash-Lite Image</a:t>
                      </a:r>
                    </a:p>
                  </a:txBody>
                  <a:tcPr marL="45720" marR="45720" marT="18288" marB="18288">
                    <a:solidFill>
                      <a:srgbClr val="EEF3F8"/>
                    </a:solidFill>
                  </a:tcPr>
                </a:tc>
                <a:tc>
                  <a:txBody>
                    <a:bodyPr/>
                    <a:lstStyle/>
                    <a:p>
                      <a:r>
                        <a:rPr sz="1200" b="0">
                          <a:solidFill>
                            <a:srgbClr val="555F6B"/>
                          </a:solidFill>
                        </a:rPr>
                        <a:t>1 ảnh/lượt</a:t>
                      </a:r>
                    </a:p>
                  </a:txBody>
                  <a:tcPr marL="45720" marR="45720" marT="18288" marB="18288">
                    <a:solidFill>
                      <a:srgbClr val="EEF3F8"/>
                    </a:solidFill>
                  </a:tcPr>
                </a:tc>
                <a:tc>
                  <a:txBody>
                    <a:bodyPr/>
                    <a:lstStyle/>
                    <a:p>
                      <a:r>
                        <a:rPr sz="1200" b="0">
                          <a:solidFill>
                            <a:srgbClr val="555F6B"/>
                          </a:solidFill>
                        </a:rPr>
                        <a:t>297</a:t>
                      </a:r>
                    </a:p>
                  </a:txBody>
                  <a:tcPr marL="45720" marR="45720" marT="18288" marB="18288">
                    <a:solidFill>
                      <a:srgbClr val="EEF3F8"/>
                    </a:solidFill>
                  </a:tcPr>
                </a:tc>
                <a:tc>
                  <a:txBody>
                    <a:bodyPr/>
                    <a:lstStyle/>
                    <a:p>
                      <a:r>
                        <a:rPr sz="1200" b="0">
                          <a:solidFill>
                            <a:srgbClr val="555F6B"/>
                          </a:solidFill>
                        </a:rPr>
                        <a:t>7 + 147 ảnh</a:t>
                      </a:r>
                    </a:p>
                  </a:txBody>
                  <a:tcPr marL="45720" marR="45720" marT="18288" marB="18288">
                    <a:solidFill>
                      <a:srgbClr val="EEF3F8"/>
                    </a:solidFill>
                  </a:tcPr>
                </a:tc>
                <a:tc>
                  <a:txBody>
                    <a:bodyPr/>
                    <a:lstStyle/>
                    <a:p>
                      <a:r>
                        <a:rPr sz="1200" b="0">
                          <a:solidFill>
                            <a:srgbClr val="555F6B"/>
                          </a:solidFill>
                        </a:rPr>
                        <a:t>—</a:t>
                      </a:r>
                    </a:p>
                  </a:txBody>
                  <a:tcPr marL="45720" marR="45720" marT="18288" marB="18288">
                    <a:solidFill>
                      <a:srgbClr val="EEF3F8"/>
                    </a:solidFill>
                  </a:tcPr>
                </a:tc>
              </a:tr>
              <a:tr h="292608">
                <a:tc>
                  <a:txBody>
                    <a:bodyPr/>
                    <a:lstStyle/>
                    <a:p>
                      <a:r>
                        <a:rPr sz="1200" b="0">
                          <a:solidFill>
                            <a:srgbClr val="555F6B"/>
                          </a:solidFill>
                        </a:rPr>
                        <a:t>Embedding</a:t>
                      </a:r>
                    </a:p>
                  </a:txBody>
                  <a:tcPr marL="45720" marR="45720" marT="18288" marB="18288">
                    <a:solidFill>
                      <a:srgbClr val="FFFFFF"/>
                    </a:solidFill>
                  </a:tcPr>
                </a:tc>
                <a:tc>
                  <a:txBody>
                    <a:bodyPr/>
                    <a:lstStyle/>
                    <a:p>
                      <a:r>
                        <a:rPr sz="1200" b="0">
                          <a:solidFill>
                            <a:srgbClr val="555F6B"/>
                          </a:solidFill>
                        </a:rPr>
                        <a:t>gemini-embedding-001</a:t>
                      </a:r>
                    </a:p>
                  </a:txBody>
                  <a:tcPr marL="45720" marR="45720" marT="18288" marB="18288">
                    <a:solidFill>
                      <a:srgbClr val="FFFFFF"/>
                    </a:solidFill>
                  </a:tcPr>
                </a:tc>
                <a:tc>
                  <a:txBody>
                    <a:bodyPr/>
                    <a:lstStyle/>
                    <a:p>
                      <a:r>
                        <a:rPr sz="1200" b="0">
                          <a:solidFill>
                            <a:srgbClr val="555F6B"/>
                          </a:solidFill>
                        </a:rPr>
                        <a:t>tìm kiếm tài liệu</a:t>
                      </a:r>
                    </a:p>
                  </a:txBody>
                  <a:tcPr marL="45720" marR="45720" marT="18288" marB="18288">
                    <a:solidFill>
                      <a:srgbClr val="FFFFFF"/>
                    </a:solidFill>
                  </a:tcPr>
                </a:tc>
                <a:tc>
                  <a:txBody>
                    <a:bodyPr/>
                    <a:lstStyle/>
                    <a:p>
                      <a:r>
                        <a:rPr sz="1200" b="0">
                          <a:solidFill>
                            <a:srgbClr val="555F6B"/>
                          </a:solidFill>
                        </a:rPr>
                        <a:t>—</a:t>
                      </a:r>
                    </a:p>
                  </a:txBody>
                  <a:tcPr marL="45720" marR="45720" marT="18288" marB="18288">
                    <a:solidFill>
                      <a:srgbClr val="FFFFFF"/>
                    </a:solidFill>
                  </a:tcPr>
                </a:tc>
                <a:tc>
                  <a:txBody>
                    <a:bodyPr/>
                    <a:lstStyle/>
                    <a:p>
                      <a:r>
                        <a:rPr sz="1200" b="0">
                          <a:solidFill>
                            <a:srgbClr val="555F6B"/>
                          </a:solidFill>
                        </a:rPr>
                        <a:t>20</a:t>
                      </a:r>
                    </a:p>
                  </a:txBody>
                  <a:tcPr marL="45720" marR="45720" marT="18288" marB="18288">
                    <a:solidFill>
                      <a:srgbClr val="FFFFFF"/>
                    </a:solidFill>
                  </a:tcPr>
                </a:tc>
                <a:tc>
                  <a:txBody>
                    <a:bodyPr/>
                    <a:lstStyle/>
                    <a:p>
                      <a:r>
                        <a:rPr sz="1200" b="0">
                          <a:solidFill>
                            <a:srgbClr val="555F6B"/>
                          </a:solidFill>
                        </a:rPr>
                        <a:t>—</a:t>
                      </a:r>
                    </a:p>
                  </a:txBody>
                  <a:tcPr marL="45720" marR="45720" marT="18288" marB="18288">
                    <a:solidFill>
                      <a:srgbClr val="FFFFFF"/>
                    </a:solidFill>
                  </a:tcPr>
                </a:tc>
              </a:tr>
            </a:tbl>
          </a:graphicData>
        </a:graphic>
      </p:graphicFrame>
      <p:sp>
        <p:nvSpPr>
          <p:cNvPr id="8" name="TextBox 7"/>
          <p:cNvSpPr txBox="1"/>
          <p:nvPr/>
        </p:nvSpPr>
        <p:spPr>
          <a:xfrm>
            <a:off x="457200" y="3840480"/>
            <a:ext cx="5486400" cy="2103120"/>
          </a:xfrm>
          <a:prstGeom prst="rect">
            <a:avLst/>
          </a:prstGeom>
          <a:noFill/>
        </p:spPr>
        <p:txBody>
          <a:bodyPr wrap="square">
            <a:spAutoFit/>
          </a:bodyPr>
          <a:lstStyle/>
          <a:p>
            <a:pPr algn="l">
              <a:spcAft>
                <a:spcPts val="400"/>
              </a:spcAft>
            </a:pPr>
            <a:r>
              <a:rPr sz="1200" b="1">
                <a:solidFill>
                  <a:srgbClr val="555F6B"/>
                </a:solidFill>
              </a:rPr>
              <a:t>Cách giữ chất lượng (eval gate, H8)</a:t>
            </a:r>
          </a:p>
          <a:p>
            <a:pPr algn="l">
              <a:spcAft>
                <a:spcPts val="400"/>
              </a:spcAft>
            </a:pPr>
            <a:r>
              <a:rPr sz="1200" b="0">
                <a:solidFill>
                  <a:srgbClr val="555F6B"/>
                </a:solidFill>
              </a:rPr>
              <a:t>Bộ kiểm tra: 100 nhiệm vụ thật cho mỗi cấp, đã che dữ liệu cá nhân</a:t>
            </a:r>
          </a:p>
          <a:p>
            <a:pPr algn="l">
              <a:spcAft>
                <a:spcPts val="400"/>
              </a:spcAft>
            </a:pPr>
            <a:r>
              <a:rPr sz="1200" b="0">
                <a:solidFill>
                  <a:srgbClr val="555F6B"/>
                </a:solidFill>
              </a:rPr>
              <a:t>Claude Opus 5.5 làm bài mẫu và chấm điểm; người chấm lại 10%</a:t>
            </a:r>
          </a:p>
          <a:p>
            <a:pPr algn="l">
              <a:spcAft>
                <a:spcPts val="400"/>
              </a:spcAft>
            </a:pPr>
            <a:r>
              <a:rPr sz="1200" b="0">
                <a:solidFill>
                  <a:srgbClr val="555F6B"/>
                </a:solidFill>
              </a:rPr>
              <a:t>Đạt khi điểm Haiku ≥ 95% điểm Opus. Chạy lại mỗi lần đổi model hoặc prompt (525 USD/tháng)</a:t>
            </a:r>
          </a:p>
        </p:txBody>
      </p:sp>
      <p:sp>
        <p:nvSpPr>
          <p:cNvPr id="9" name="TextBox 8"/>
          <p:cNvSpPr txBox="1"/>
          <p:nvPr/>
        </p:nvSpPr>
        <p:spPr>
          <a:xfrm>
            <a:off x="6217920" y="3840480"/>
            <a:ext cx="5486400" cy="2103120"/>
          </a:xfrm>
          <a:prstGeom prst="rect">
            <a:avLst/>
          </a:prstGeom>
          <a:noFill/>
        </p:spPr>
        <p:txBody>
          <a:bodyPr wrap="square">
            <a:spAutoFit/>
          </a:bodyPr>
          <a:lstStyle/>
          <a:p>
            <a:pPr algn="l">
              <a:spcAft>
                <a:spcPts val="400"/>
              </a:spcAft>
            </a:pPr>
            <a:r>
              <a:rPr sz="1200" b="1">
                <a:solidFill>
                  <a:srgbClr val="555F6B"/>
                </a:solidFill>
              </a:rPr>
              <a:t>Vì sao Haiku 5.5</a:t>
            </a:r>
          </a:p>
          <a:p>
            <a:pPr algn="l">
              <a:spcAft>
                <a:spcPts val="400"/>
              </a:spcAft>
            </a:pPr>
            <a:r>
              <a:rPr sz="1200" b="0">
                <a:solidFill>
                  <a:srgbClr val="555F6B"/>
                </a:solidFill>
              </a:rPr>
              <a:t>Rẻ: 0,10 USD/1M token vào, 0,50 USD/1M token ra; token đọc từ cache chỉ 0,01</a:t>
            </a:r>
          </a:p>
          <a:p>
            <a:pPr algn="l">
              <a:spcAft>
                <a:spcPts val="400"/>
              </a:spcAft>
            </a:pPr>
            <a:r>
              <a:rPr sz="1200" b="0">
                <a:solidFill>
                  <a:srgbClr val="555F6B"/>
                </a:solidFill>
              </a:rPr>
              <a:t>Điểm chất lượng cao nhất trong nhóm model cùng tầm giá (Artificial Analysis)</a:t>
            </a:r>
          </a:p>
          <a:p>
            <a:pPr algn="l">
              <a:spcAft>
                <a:spcPts val="400"/>
              </a:spcAft>
            </a:pPr>
            <a:r>
              <a:rPr sz="1200" b="0">
                <a:solidFill>
                  <a:srgbClr val="555F6B"/>
                </a:solidFill>
              </a:rPr>
              <a:t>Dùng Opus cho mọi cấp sẽ tốn 36.380 USD/tháng, gấp 38 lần</a:t>
            </a:r>
          </a:p>
          <a:p>
            <a:pPr algn="l">
              <a:spcAft>
                <a:spcPts val="400"/>
              </a:spcAft>
            </a:pPr>
            <a:r>
              <a:rPr sz="1200" b="0">
                <a:solidFill>
                  <a:srgbClr val="555F6B"/>
                </a:solidFill>
              </a:rPr>
              <a:t>Rủi ro: chưa có số đo độ trễ khi tắt reasoning → đo trong pilot</a:t>
            </a:r>
          </a:p>
        </p:txBody>
      </p:sp>
      <p:sp>
        <p:nvSpPr>
          <p:cNvPr id="10" name="TextBox 9"/>
          <p:cNvSpPr txBox="1"/>
          <p:nvPr/>
        </p:nvSpPr>
        <p:spPr>
          <a:xfrm>
            <a:off x="457200" y="5943600"/>
            <a:ext cx="11247120" cy="365760"/>
          </a:xfrm>
          <a:prstGeom prst="rect">
            <a:avLst/>
          </a:prstGeom>
          <a:noFill/>
        </p:spPr>
        <p:txBody>
          <a:bodyPr wrap="square">
            <a:spAutoFit/>
          </a:bodyPr>
          <a:lstStyle/>
          <a:p>
            <a:pPr algn="l">
              <a:spcAft>
                <a:spcPts val="400"/>
              </a:spcAft>
            </a:pPr>
            <a:r>
              <a:rPr sz="1100" b="0">
                <a:solidFill>
                  <a:srgbClr val="555F6B"/>
                </a:solidFill>
              </a:rPr>
              <a:t>947 USD là tiền text. Cộng 147 USD tiền ảnh ≈ dòng llm 1.093 USD ở slide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5. Mỗi lựa chọn đều rẻ hơn phương án thay thế</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Chọn phương án rẻ nhất mà vẫn đạt đủ ràng buộc H1–H8. Đơn vị: USD/tháng. Cách tính từng con số: slide 5b</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5a</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graphicFrame>
        <p:nvGraphicFramePr>
          <p:cNvPr id="7" name="Table 6"/>
          <p:cNvGraphicFramePr>
            <a:graphicFrameLocks noGrp="1"/>
          </p:cNvGraphicFramePr>
          <p:nvPr/>
        </p:nvGraphicFramePr>
        <p:xfrm>
          <a:off x="457200" y="1371600"/>
          <a:ext cx="11247120" cy="4023360"/>
        </p:xfrm>
        <a:graphic>
          <a:graphicData uri="http://schemas.openxmlformats.org/drawingml/2006/table">
            <a:tbl>
              <a:tblPr firstRow="1" bandRow="1">
                <a:tableStyleId>{5C22544A-7EE6-4342-B048-85BDC9FD1C3A}</a:tableStyleId>
              </a:tblPr>
              <a:tblGrid>
                <a:gridCol w="1554480"/>
                <a:gridCol w="2834640"/>
                <a:gridCol w="3017520"/>
                <a:gridCol w="3840480"/>
              </a:tblGrid>
              <a:tr h="502920">
                <a:tc>
                  <a:txBody>
                    <a:bodyPr/>
                    <a:lstStyle/>
                    <a:p>
                      <a:r>
                        <a:rPr sz="1200" b="1">
                          <a:solidFill>
                            <a:srgbClr val="FFFFFF"/>
                          </a:solidFill>
                        </a:rPr>
                        <a:t>Quyết định</a:t>
                      </a:r>
                    </a:p>
                  </a:txBody>
                  <a:tcPr marL="45720" marR="45720" marT="18288" marB="18288">
                    <a:solidFill>
                      <a:srgbClr val="2E6FB7"/>
                    </a:solidFill>
                  </a:tcPr>
                </a:tc>
                <a:tc>
                  <a:txBody>
                    <a:bodyPr/>
                    <a:lstStyle/>
                    <a:p>
                      <a:r>
                        <a:rPr sz="1200" b="1">
                          <a:solidFill>
                            <a:srgbClr val="FFFFFF"/>
                          </a:solidFill>
                        </a:rPr>
                        <a:t>Chọn</a:t>
                      </a:r>
                    </a:p>
                  </a:txBody>
                  <a:tcPr marL="45720" marR="45720" marT="18288" marB="18288">
                    <a:solidFill>
                      <a:srgbClr val="2E6FB7"/>
                    </a:solidFill>
                  </a:tcPr>
                </a:tc>
                <a:tc>
                  <a:txBody>
                    <a:bodyPr/>
                    <a:lstStyle/>
                    <a:p>
                      <a:r>
                        <a:rPr sz="1200" b="1">
                          <a:solidFill>
                            <a:srgbClr val="FFFFFF"/>
                          </a:solidFill>
                        </a:rPr>
                        <a:t>Phương án so sánh</a:t>
                      </a:r>
                    </a:p>
                  </a:txBody>
                  <a:tcPr marL="45720" marR="45720" marT="18288" marB="18288">
                    <a:solidFill>
                      <a:srgbClr val="2E6FB7"/>
                    </a:solidFill>
                  </a:tcPr>
                </a:tc>
                <a:tc>
                  <a:txBody>
                    <a:bodyPr/>
                    <a:lstStyle/>
                    <a:p>
                      <a:r>
                        <a:rPr sz="1200" b="1">
                          <a:solidFill>
                            <a:srgbClr val="FFFFFF"/>
                          </a:solidFill>
                        </a:rPr>
                        <a:t>Lý do</a:t>
                      </a:r>
                    </a:p>
                  </a:txBody>
                  <a:tcPr marL="45720" marR="45720" marT="18288" marB="18288">
                    <a:solidFill>
                      <a:srgbClr val="2E6FB7"/>
                    </a:solidFill>
                  </a:tcPr>
                </a:tc>
              </a:tr>
              <a:tr h="502920">
                <a:tc>
                  <a:txBody>
                    <a:bodyPr/>
                    <a:lstStyle/>
                    <a:p>
                      <a:r>
                        <a:rPr sz="1200" b="0">
                          <a:solidFill>
                            <a:srgbClr val="555F6B"/>
                          </a:solidFill>
                        </a:rPr>
                        <a:t>Cloud chính</a:t>
                      </a:r>
                    </a:p>
                  </a:txBody>
                  <a:tcPr marL="45720" marR="45720" marT="18288" marB="18288">
                    <a:solidFill>
                      <a:srgbClr val="EEF3F8"/>
                    </a:solidFill>
                  </a:tcPr>
                </a:tc>
                <a:tc>
                  <a:txBody>
                    <a:bodyPr/>
                    <a:lstStyle/>
                    <a:p>
                      <a:r>
                        <a:rPr sz="1200" b="0">
                          <a:solidFill>
                            <a:srgbClr val="555F6B"/>
                          </a:solidFill>
                        </a:rPr>
                        <a:t>GCP: 6.821 (tổng)</a:t>
                      </a:r>
                    </a:p>
                  </a:txBody>
                  <a:tcPr marL="45720" marR="45720" marT="18288" marB="18288">
                    <a:solidFill>
                      <a:srgbClr val="EEF3F8"/>
                    </a:solidFill>
                  </a:tcPr>
                </a:tc>
                <a:tc>
                  <a:txBody>
                    <a:bodyPr/>
                    <a:lstStyle/>
                    <a:p>
                      <a:r>
                        <a:rPr sz="1200" b="0">
                          <a:solidFill>
                            <a:srgbClr val="555F6B"/>
                          </a:solidFill>
                        </a:rPr>
                        <a:t>AWS 8.643 · Azure 14.484</a:t>
                      </a:r>
                    </a:p>
                  </a:txBody>
                  <a:tcPr marL="45720" marR="45720" marT="18288" marB="18288">
                    <a:solidFill>
                      <a:srgbClr val="EEF3F8"/>
                    </a:solidFill>
                  </a:tcPr>
                </a:tc>
                <a:tc>
                  <a:txBody>
                    <a:bodyPr/>
                    <a:lstStyle/>
                    <a:p>
                      <a:r>
                        <a:rPr sz="1200" b="0">
                          <a:solidFill>
                            <a:srgbClr val="555F6B"/>
                          </a:solidFill>
                        </a:rPr>
                        <a:t>Rẻ nhất; chênh lệch chủ yếu ở guardrail</a:t>
                      </a:r>
                    </a:p>
                  </a:txBody>
                  <a:tcPr marL="45720" marR="45720" marT="18288" marB="18288">
                    <a:solidFill>
                      <a:srgbClr val="EEF3F8"/>
                    </a:solidFill>
                  </a:tcPr>
                </a:tc>
              </a:tr>
              <a:tr h="502920">
                <a:tc>
                  <a:txBody>
                    <a:bodyPr/>
                    <a:lstStyle/>
                    <a:p>
                      <a:r>
                        <a:rPr sz="1200" b="0">
                          <a:solidFill>
                            <a:srgbClr val="555F6B"/>
                          </a:solidFill>
                        </a:rPr>
                        <a:t>LLM gateway</a:t>
                      </a:r>
                    </a:p>
                  </a:txBody>
                  <a:tcPr marL="45720" marR="45720" marT="18288" marB="18288">
                    <a:solidFill>
                      <a:srgbClr val="FFFFFF"/>
                    </a:solidFill>
                  </a:tcPr>
                </a:tc>
                <a:tc>
                  <a:txBody>
                    <a:bodyPr/>
                    <a:lstStyle/>
                    <a:p>
                      <a:r>
                        <a:rPr sz="1200" b="0">
                          <a:solidFill>
                            <a:srgbClr val="555F6B"/>
                          </a:solidFill>
                        </a:rPr>
                        <a:t>LiteLLM tự chạy: 0 tiền license</a:t>
                      </a:r>
                    </a:p>
                  </a:txBody>
                  <a:tcPr marL="45720" marR="45720" marT="18288" marB="18288">
                    <a:solidFill>
                      <a:srgbClr val="FFFFFF"/>
                    </a:solidFill>
                  </a:tcPr>
                </a:tc>
                <a:tc>
                  <a:txBody>
                    <a:bodyPr/>
                    <a:lstStyle/>
                    <a:p>
                      <a:r>
                        <a:rPr sz="1200" b="0">
                          <a:solidFill>
                            <a:srgbClr val="555F6B"/>
                          </a:solidFill>
                        </a:rPr>
                        <a:t>Apigee ~1.595 · Azure APIM ~700</a:t>
                      </a:r>
                    </a:p>
                  </a:txBody>
                  <a:tcPr marL="45720" marR="45720" marT="18288" marB="18288">
                    <a:solidFill>
                      <a:srgbClr val="FFFFFF"/>
                    </a:solidFill>
                  </a:tcPr>
                </a:tc>
                <a:tc>
                  <a:txBody>
                    <a:bodyPr/>
                    <a:lstStyle/>
                    <a:p>
                      <a:r>
                        <a:rPr sz="1200" b="0">
                          <a:solidFill>
                            <a:srgbClr val="555F6B"/>
                          </a:solidFill>
                        </a:rPr>
                        <a:t>Duy nhất có quota USD theo từng user và phòng ban (H8)</a:t>
                      </a:r>
                    </a:p>
                  </a:txBody>
                  <a:tcPr marL="45720" marR="45720" marT="18288" marB="18288">
                    <a:solidFill>
                      <a:srgbClr val="FFFFFF"/>
                    </a:solidFill>
                  </a:tcPr>
                </a:tc>
              </a:tr>
              <a:tr h="502920">
                <a:tc>
                  <a:txBody>
                    <a:bodyPr/>
                    <a:lstStyle/>
                    <a:p>
                      <a:r>
                        <a:rPr sz="1200" b="0">
                          <a:solidFill>
                            <a:srgbClr val="555F6B"/>
                          </a:solidFill>
                        </a:rPr>
                        <a:t>Tìm kiếm vector</a:t>
                      </a:r>
                    </a:p>
                  </a:txBody>
                  <a:tcPr marL="45720" marR="45720" marT="18288" marB="18288">
                    <a:solidFill>
                      <a:srgbClr val="EEF3F8"/>
                    </a:solidFill>
                  </a:tcPr>
                </a:tc>
                <a:tc>
                  <a:txBody>
                    <a:bodyPr/>
                    <a:lstStyle/>
                    <a:p>
                      <a:r>
                        <a:rPr sz="1200" b="0">
                          <a:solidFill>
                            <a:srgbClr val="555F6B"/>
                          </a:solidFill>
                        </a:rPr>
                        <a:t>pgvector trong Postgres: 0 thêm</a:t>
                      </a:r>
                    </a:p>
                  </a:txBody>
                  <a:tcPr marL="45720" marR="45720" marT="18288" marB="18288">
                    <a:solidFill>
                      <a:srgbClr val="EEF3F8"/>
                    </a:solidFill>
                  </a:tcPr>
                </a:tc>
                <a:tc>
                  <a:txBody>
                    <a:bodyPr/>
                    <a:lstStyle/>
                    <a:p>
                      <a:r>
                        <a:rPr sz="1200" b="0">
                          <a:solidFill>
                            <a:srgbClr val="555F6B"/>
                          </a:solidFill>
                        </a:rPr>
                        <a:t>Vertex Vector Search ~84 · OpenSearch ~413</a:t>
                      </a:r>
                    </a:p>
                  </a:txBody>
                  <a:tcPr marL="45720" marR="45720" marT="18288" marB="18288">
                    <a:solidFill>
                      <a:srgbClr val="EEF3F8"/>
                    </a:solidFill>
                  </a:tcPr>
                </a:tc>
                <a:tc>
                  <a:txBody>
                    <a:bodyPr/>
                    <a:lstStyle/>
                    <a:p>
                      <a:r>
                        <a:rPr sz="1200" b="0">
                          <a:solidFill>
                            <a:srgbClr val="555F6B"/>
                          </a:solidFill>
                        </a:rPr>
                        <a:t>Dữ liệu nhỏ; lọc quyền bằng SQL ngay trong database</a:t>
                      </a:r>
                    </a:p>
                  </a:txBody>
                  <a:tcPr marL="45720" marR="45720" marT="18288" marB="18288">
                    <a:solidFill>
                      <a:srgbClr val="EEF3F8"/>
                    </a:solidFill>
                  </a:tcPr>
                </a:tc>
              </a:tr>
              <a:tr h="502920">
                <a:tc>
                  <a:txBody>
                    <a:bodyPr/>
                    <a:lstStyle/>
                    <a:p>
                      <a:r>
                        <a:rPr sz="1200" b="0">
                          <a:solidFill>
                            <a:srgbClr val="555F6B"/>
                          </a:solidFill>
                        </a:rPr>
                        <a:t>Cất token OAuth</a:t>
                      </a:r>
                    </a:p>
                  </a:txBody>
                  <a:tcPr marL="45720" marR="45720" marT="18288" marB="18288">
                    <a:solidFill>
                      <a:srgbClr val="FFFFFF"/>
                    </a:solidFill>
                  </a:tcPr>
                </a:tc>
                <a:tc>
                  <a:txBody>
                    <a:bodyPr/>
                    <a:lstStyle/>
                    <a:p>
                      <a:r>
                        <a:rPr sz="1200" b="0">
                          <a:solidFill>
                            <a:srgbClr val="555F6B"/>
                          </a:solidFill>
                        </a:rPr>
                        <a:t>Mã hóa bằng KMS, lưu trong Postgres: ~4</a:t>
                      </a:r>
                    </a:p>
                  </a:txBody>
                  <a:tcPr marL="45720" marR="45720" marT="18288" marB="18288">
                    <a:solidFill>
                      <a:srgbClr val="FFFFFF"/>
                    </a:solidFill>
                  </a:tcPr>
                </a:tc>
                <a:tc>
                  <a:txBody>
                    <a:bodyPr/>
                    <a:lstStyle/>
                    <a:p>
                      <a:r>
                        <a:rPr sz="1200" b="0">
                          <a:solidFill>
                            <a:srgbClr val="555F6B"/>
                          </a:solidFill>
                        </a:rPr>
                        <a:t>Secret Manager (12.000 secret) ~720</a:t>
                      </a:r>
                    </a:p>
                  </a:txBody>
                  <a:tcPr marL="45720" marR="45720" marT="18288" marB="18288">
                    <a:solidFill>
                      <a:srgbClr val="FFFFFF"/>
                    </a:solidFill>
                  </a:tcPr>
                </a:tc>
                <a:tc>
                  <a:txBody>
                    <a:bodyPr/>
                    <a:lstStyle/>
                    <a:p>
                      <a:r>
                        <a:rPr sz="1200" b="0">
                          <a:solidFill>
                            <a:srgbClr val="555F6B"/>
                          </a:solidFill>
                        </a:rPr>
                        <a:t>Vẫn mã hóa và có audit, rẻ hơn 180 lần</a:t>
                      </a:r>
                    </a:p>
                  </a:txBody>
                  <a:tcPr marL="45720" marR="45720" marT="18288" marB="18288">
                    <a:solidFill>
                      <a:srgbClr val="FFFFFF"/>
                    </a:solidFill>
                  </a:tcPr>
                </a:tc>
              </a:tr>
              <a:tr h="502920">
                <a:tc>
                  <a:txBody>
                    <a:bodyPr/>
                    <a:lstStyle/>
                    <a:p>
                      <a:r>
                        <a:rPr sz="1200" b="0">
                          <a:solidFill>
                            <a:srgbClr val="555F6B"/>
                          </a:solidFill>
                        </a:rPr>
                        <a:t>Sandbox</a:t>
                      </a:r>
                    </a:p>
                  </a:txBody>
                  <a:tcPr marL="45720" marR="45720" marT="18288" marB="18288">
                    <a:solidFill>
                      <a:srgbClr val="EEF3F8"/>
                    </a:solidFill>
                  </a:tcPr>
                </a:tc>
                <a:tc>
                  <a:txBody>
                    <a:bodyPr/>
                    <a:lstStyle/>
                    <a:p>
                      <a:r>
                        <a:rPr sz="1200" b="0">
                          <a:solidFill>
                            <a:srgbClr val="555F6B"/>
                          </a:solidFill>
                        </a:rPr>
                        <a:t>GKE Sandbox (gVisor): 315</a:t>
                      </a:r>
                    </a:p>
                  </a:txBody>
                  <a:tcPr marL="45720" marR="45720" marT="18288" marB="18288">
                    <a:solidFill>
                      <a:srgbClr val="EEF3F8"/>
                    </a:solidFill>
                  </a:tcPr>
                </a:tc>
                <a:tc>
                  <a:txBody>
                    <a:bodyPr/>
                    <a:lstStyle/>
                    <a:p>
                      <a:r>
                        <a:rPr sz="1200" b="0">
                          <a:solidFill>
                            <a:srgbClr val="555F6B"/>
                          </a:solidFill>
                        </a:rPr>
                        <a:t>Agent Engine 483 · AgentCore 509</a:t>
                      </a:r>
                    </a:p>
                  </a:txBody>
                  <a:tcPr marL="45720" marR="45720" marT="18288" marB="18288">
                    <a:solidFill>
                      <a:srgbClr val="EEF3F8"/>
                    </a:solidFill>
                  </a:tcPr>
                </a:tc>
                <a:tc>
                  <a:txBody>
                    <a:bodyPr/>
                    <a:lstStyle/>
                    <a:p>
                      <a:r>
                        <a:rPr sz="1200" b="0">
                          <a:solidFill>
                            <a:srgbClr val="555F6B"/>
                          </a:solidFill>
                        </a:rPr>
                        <a:t>Có sẵn trên cụm GKE; chặn mạng ra ngoài bằng NetworkPolicy</a:t>
                      </a:r>
                    </a:p>
                  </a:txBody>
                  <a:tcPr marL="45720" marR="45720" marT="18288" marB="18288">
                    <a:solidFill>
                      <a:srgbClr val="EEF3F8"/>
                    </a:solidFill>
                  </a:tcPr>
                </a:tc>
              </a:tr>
              <a:tr h="502920">
                <a:tc>
                  <a:txBody>
                    <a:bodyPr/>
                    <a:lstStyle/>
                    <a:p>
                      <a:r>
                        <a:rPr sz="1200" b="0">
                          <a:solidFill>
                            <a:srgbClr val="555F6B"/>
                          </a:solidFill>
                        </a:rPr>
                        <a:t>Guardrail</a:t>
                      </a:r>
                    </a:p>
                  </a:txBody>
                  <a:tcPr marL="45720" marR="45720" marT="18288" marB="18288">
                    <a:solidFill>
                      <a:srgbClr val="FFFFFF"/>
                    </a:solidFill>
                  </a:tcPr>
                </a:tc>
                <a:tc>
                  <a:txBody>
                    <a:bodyPr/>
                    <a:lstStyle/>
                    <a:p>
                      <a:r>
                        <a:rPr sz="1200" b="0">
                          <a:solidFill>
                            <a:srgbClr val="555F6B"/>
                          </a:solidFill>
                        </a:rPr>
                        <a:t>Chỉ quét text mới: 281</a:t>
                      </a:r>
                    </a:p>
                  </a:txBody>
                  <a:tcPr marL="45720" marR="45720" marT="18288" marB="18288">
                    <a:solidFill>
                      <a:srgbClr val="FFFFFF"/>
                    </a:solidFill>
                  </a:tcPr>
                </a:tc>
                <a:tc>
                  <a:txBody>
                    <a:bodyPr/>
                    <a:lstStyle/>
                    <a:p>
                      <a:r>
                        <a:rPr sz="1200" b="0">
                          <a:solidFill>
                            <a:srgbClr val="555F6B"/>
                          </a:solidFill>
                        </a:rPr>
                        <a:t>Quét toàn bộ token: 1.298</a:t>
                      </a:r>
                    </a:p>
                  </a:txBody>
                  <a:tcPr marL="45720" marR="45720" marT="18288" marB="18288">
                    <a:solidFill>
                      <a:srgbClr val="FFFFFF"/>
                    </a:solidFill>
                  </a:tcPr>
                </a:tc>
                <a:tc>
                  <a:txBody>
                    <a:bodyPr/>
                    <a:lstStyle/>
                    <a:p>
                      <a:r>
                        <a:rPr sz="1200" b="0">
                          <a:solidFill>
                            <a:srgbClr val="555F6B"/>
                          </a:solidFill>
                        </a:rPr>
                        <a:t>Mỗi đoạn text chỉ quét một lần, khi vào hệ thống</a:t>
                      </a:r>
                    </a:p>
                  </a:txBody>
                  <a:tcPr marL="45720" marR="45720" marT="18288" marB="18288">
                    <a:solidFill>
                      <a:srgbClr val="FFFFFF"/>
                    </a:solidFill>
                  </a:tcPr>
                </a:tc>
              </a:tr>
              <a:tr h="502920">
                <a:tc>
                  <a:txBody>
                    <a:bodyPr/>
                    <a:lstStyle/>
                    <a:p>
                      <a:r>
                        <a:rPr sz="1200" b="0">
                          <a:solidFill>
                            <a:srgbClr val="555F6B"/>
                          </a:solidFill>
                        </a:rPr>
                        <a:t>Connector</a:t>
                      </a:r>
                    </a:p>
                  </a:txBody>
                  <a:tcPr marL="45720" marR="45720" marT="18288" marB="18288">
                    <a:solidFill>
                      <a:srgbClr val="EEF3F8"/>
                    </a:solidFill>
                  </a:tcPr>
                </a:tc>
                <a:tc>
                  <a:txBody>
                    <a:bodyPr/>
                    <a:lstStyle/>
                    <a:p>
                      <a:r>
                        <a:rPr sz="1200" b="0">
                          <a:solidFill>
                            <a:srgbClr val="555F6B"/>
                          </a:solidFill>
                        </a:rPr>
                        <a:t>Gọi API bằng OAuth của user</a:t>
                      </a:r>
                    </a:p>
                  </a:txBody>
                  <a:tcPr marL="45720" marR="45720" marT="18288" marB="18288">
                    <a:solidFill>
                      <a:srgbClr val="EEF3F8"/>
                    </a:solidFill>
                  </a:tcPr>
                </a:tc>
                <a:tc>
                  <a:txBody>
                    <a:bodyPr/>
                    <a:lstStyle/>
                    <a:p>
                      <a:r>
                        <a:rPr sz="1200" b="0">
                          <a:solidFill>
                            <a:srgbClr val="555F6B"/>
                          </a:solidFill>
                        </a:rPr>
                        <a:t>Crawl toàn bộ dữ liệu vào index</a:t>
                      </a:r>
                    </a:p>
                  </a:txBody>
                  <a:tcPr marL="45720" marR="45720" marT="18288" marB="18288">
                    <a:solidFill>
                      <a:srgbClr val="EEF3F8"/>
                    </a:solidFill>
                  </a:tcPr>
                </a:tc>
                <a:tc>
                  <a:txBody>
                    <a:bodyPr/>
                    <a:lstStyle/>
                    <a:p>
                      <a:r>
                        <a:rPr sz="1200" b="0">
                          <a:solidFill>
                            <a:srgbClr val="555F6B"/>
                          </a:solidFill>
                        </a:rPr>
                        <a:t>SaaS tự áp quyền gốc; không cần tài khoản quyền rộng</a:t>
                      </a:r>
                    </a:p>
                  </a:txBody>
                  <a:tcPr marL="45720" marR="45720" marT="18288" marB="18288">
                    <a:solidFill>
                      <a:srgbClr val="EEF3F8"/>
                    </a:solidFill>
                  </a:tcPr>
                </a:tc>
              </a:tr>
            </a:tbl>
          </a:graphicData>
        </a:graphic>
      </p:graphicFrame>
      <p:sp>
        <p:nvSpPr>
          <p:cNvPr id="8" name="TextBox 7"/>
          <p:cNvSpPr txBox="1"/>
          <p:nvPr/>
        </p:nvSpPr>
        <p:spPr>
          <a:xfrm>
            <a:off x="457200" y="5852160"/>
            <a:ext cx="11247120" cy="457200"/>
          </a:xfrm>
          <a:prstGeom prst="rect">
            <a:avLst/>
          </a:prstGeom>
          <a:noFill/>
        </p:spPr>
        <p:txBody>
          <a:bodyPr wrap="square">
            <a:spAutoFit/>
          </a:bodyPr>
          <a:lstStyle/>
          <a:p>
            <a:pPr algn="l">
              <a:spcAft>
                <a:spcPts val="400"/>
              </a:spcAft>
            </a:pPr>
            <a:r>
              <a:rPr sz="1100" b="0">
                <a:solidFill>
                  <a:srgbClr val="555F6B"/>
                </a:solidFill>
              </a:rPr>
              <a:t>Giá niêm yết tại Singapore, đọc ngày 16/10/2026. Lựa chọn model: slide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5. Cách tính: đơn giá niêm yết × khối lượng tải</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Mỗi con số ở slide 5a = đơn giá của dịch vụ × khối lượng ước lượng ở slide 1b. Đơn vị: USD/tháng; 1 tháng = 730 giờ</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5b</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graphicFrame>
        <p:nvGraphicFramePr>
          <p:cNvPr id="7" name="Table 6"/>
          <p:cNvGraphicFramePr>
            <a:graphicFrameLocks noGrp="1"/>
          </p:cNvGraphicFramePr>
          <p:nvPr/>
        </p:nvGraphicFramePr>
        <p:xfrm>
          <a:off x="457200" y="1371600"/>
          <a:ext cx="11247120" cy="3968496"/>
        </p:xfrm>
        <a:graphic>
          <a:graphicData uri="http://schemas.openxmlformats.org/drawingml/2006/table">
            <a:tbl>
              <a:tblPr firstRow="1" bandRow="1">
                <a:tableStyleId>{5C22544A-7EE6-4342-B048-85BDC9FD1C3A}</a:tableStyleId>
              </a:tblPr>
              <a:tblGrid>
                <a:gridCol w="1554480"/>
                <a:gridCol w="4480560"/>
                <a:gridCol w="5212080"/>
              </a:tblGrid>
              <a:tr h="566928">
                <a:tc>
                  <a:txBody>
                    <a:bodyPr/>
                    <a:lstStyle/>
                    <a:p>
                      <a:r>
                        <a:rPr sz="1200" b="1">
                          <a:solidFill>
                            <a:srgbClr val="FFFFFF"/>
                          </a:solidFill>
                        </a:rPr>
                        <a:t>Quyết định</a:t>
                      </a:r>
                    </a:p>
                  </a:txBody>
                  <a:tcPr marL="45720" marR="45720" marT="18288" marB="18288">
                    <a:solidFill>
                      <a:srgbClr val="2E6FB7"/>
                    </a:solidFill>
                  </a:tcPr>
                </a:tc>
                <a:tc>
                  <a:txBody>
                    <a:bodyPr/>
                    <a:lstStyle/>
                    <a:p>
                      <a:r>
                        <a:rPr sz="1200" b="1">
                          <a:solidFill>
                            <a:srgbClr val="FFFFFF"/>
                          </a:solidFill>
                        </a:rPr>
                        <a:t>Phương án chọn: cách tính</a:t>
                      </a:r>
                    </a:p>
                  </a:txBody>
                  <a:tcPr marL="45720" marR="45720" marT="18288" marB="18288">
                    <a:solidFill>
                      <a:srgbClr val="2E6FB7"/>
                    </a:solidFill>
                  </a:tcPr>
                </a:tc>
                <a:tc>
                  <a:txBody>
                    <a:bodyPr/>
                    <a:lstStyle/>
                    <a:p>
                      <a:r>
                        <a:rPr sz="1200" b="1">
                          <a:solidFill>
                            <a:srgbClr val="FFFFFF"/>
                          </a:solidFill>
                        </a:rPr>
                        <a:t>Phương án so sánh: cách tính</a:t>
                      </a:r>
                    </a:p>
                  </a:txBody>
                  <a:tcPr marL="45720" marR="45720" marT="18288" marB="18288">
                    <a:solidFill>
                      <a:srgbClr val="2E6FB7"/>
                    </a:solidFill>
                  </a:tcPr>
                </a:tc>
              </a:tr>
              <a:tr h="566928">
                <a:tc>
                  <a:txBody>
                    <a:bodyPr/>
                    <a:lstStyle/>
                    <a:p>
                      <a:r>
                        <a:rPr sz="1200" b="0">
                          <a:solidFill>
                            <a:srgbClr val="555F6B"/>
                          </a:solidFill>
                        </a:rPr>
                        <a:t>Cloud chính</a:t>
                      </a:r>
                    </a:p>
                  </a:txBody>
                  <a:tcPr marL="45720" marR="45720" marT="18288" marB="18288">
                    <a:solidFill>
                      <a:srgbClr val="EEF3F8"/>
                    </a:solidFill>
                  </a:tcPr>
                </a:tc>
                <a:tc>
                  <a:txBody>
                    <a:bodyPr/>
                    <a:lstStyle/>
                    <a:p>
                      <a:r>
                        <a:rPr sz="1200" b="0">
                          <a:solidFill>
                            <a:srgbClr val="555F6B"/>
                          </a:solidFill>
                        </a:rPr>
                        <a:t>GCP 6.821 = tổng 20 dòng của báo giá (Phụ lục A)</a:t>
                      </a:r>
                    </a:p>
                  </a:txBody>
                  <a:tcPr marL="45720" marR="45720" marT="18288" marB="18288">
                    <a:solidFill>
                      <a:srgbClr val="EEF3F8"/>
                    </a:solidFill>
                  </a:tcPr>
                </a:tc>
                <a:tc>
                  <a:txBody>
                    <a:bodyPr/>
                    <a:lstStyle/>
                    <a:p>
                      <a:r>
                        <a:rPr sz="1200" b="0">
                          <a:solidFill>
                            <a:srgbClr val="555F6B"/>
                          </a:solidFill>
                        </a:rPr>
                        <a:t>AWS 8.643, Azure 14.484: cùng khối lượng, tính theo giá của AWS, Azure. Nếu bỏ dòng governance, 3 cloud chênh nhau dưới 8%. Chênh lệch nằm ở guardrail + che PII: GCP 281, AWS ~1.910, Azure ~7.534</a:t>
                      </a:r>
                    </a:p>
                  </a:txBody>
                  <a:tcPr marL="45720" marR="45720" marT="18288" marB="18288">
                    <a:solidFill>
                      <a:srgbClr val="EEF3F8"/>
                    </a:solidFill>
                  </a:tcPr>
                </a:tc>
              </a:tr>
              <a:tr h="566928">
                <a:tc>
                  <a:txBody>
                    <a:bodyPr/>
                    <a:lstStyle/>
                    <a:p>
                      <a:r>
                        <a:rPr sz="1200" b="0">
                          <a:solidFill>
                            <a:srgbClr val="555F6B"/>
                          </a:solidFill>
                        </a:rPr>
                        <a:t>LLM gateway</a:t>
                      </a:r>
                    </a:p>
                  </a:txBody>
                  <a:tcPr marL="45720" marR="45720" marT="18288" marB="18288">
                    <a:solidFill>
                      <a:srgbClr val="FFFFFF"/>
                    </a:solidFill>
                  </a:tcPr>
                </a:tc>
                <a:tc>
                  <a:txBody>
                    <a:bodyPr/>
                    <a:lstStyle/>
                    <a:p>
                      <a:r>
                        <a:rPr sz="1200" b="0">
                          <a:solidFill>
                            <a:srgbClr val="555F6B"/>
                          </a:solidFill>
                        </a:rPr>
                        <a:t>LiteLLM là phần mềm miễn phí. 2 pod chạy trong cụm GKE, tiền máy đã nằm trong dòng compute</a:t>
                      </a:r>
                    </a:p>
                  </a:txBody>
                  <a:tcPr marL="45720" marR="45720" marT="18288" marB="18288">
                    <a:solidFill>
                      <a:srgbClr val="FFFFFF"/>
                    </a:solidFill>
                  </a:tcPr>
                </a:tc>
                <a:tc>
                  <a:txBody>
                    <a:bodyPr/>
                    <a:lstStyle/>
                    <a:p>
                      <a:r>
                        <a:rPr sz="1200" b="0">
                          <a:solidFill>
                            <a:srgbClr val="555F6B"/>
                          </a:solidFill>
                        </a:rPr>
                        <a:t>Apigee: môi trường Intermediate 1.460 + phí theo lượt gọi model (100 USD/1 triệu lượt) ≈ 1.595. Azure APIM Standard v2: 0,96 USD/giờ × 730 giờ ≈ 700</a:t>
                      </a:r>
                    </a:p>
                  </a:txBody>
                  <a:tcPr marL="45720" marR="45720" marT="18288" marB="18288">
                    <a:solidFill>
                      <a:srgbClr val="FFFFFF"/>
                    </a:solidFill>
                  </a:tcPr>
                </a:tc>
              </a:tr>
              <a:tr h="566928">
                <a:tc>
                  <a:txBody>
                    <a:bodyPr/>
                    <a:lstStyle/>
                    <a:p>
                      <a:r>
                        <a:rPr sz="1200" b="0">
                          <a:solidFill>
                            <a:srgbClr val="555F6B"/>
                          </a:solidFill>
                        </a:rPr>
                        <a:t>Tìm kiếm vector</a:t>
                      </a:r>
                    </a:p>
                  </a:txBody>
                  <a:tcPr marL="45720" marR="45720" marT="18288" marB="18288">
                    <a:solidFill>
                      <a:srgbClr val="EEF3F8"/>
                    </a:solidFill>
                  </a:tcPr>
                </a:tc>
                <a:tc>
                  <a:txBody>
                    <a:bodyPr/>
                    <a:lstStyle/>
                    <a:p>
                      <a:r>
                        <a:rPr sz="1200" b="0">
                          <a:solidFill>
                            <a:srgbClr val="555F6B"/>
                          </a:solidFill>
                        </a:rPr>
                        <a:t>pgvector là extension của Postgres, chạy trong database đã có (467 USD), chỉ tốn thêm ít dung lượng</a:t>
                      </a:r>
                    </a:p>
                  </a:txBody>
                  <a:tcPr marL="45720" marR="45720" marT="18288" marB="18288">
                    <a:solidFill>
                      <a:srgbClr val="EEF3F8"/>
                    </a:solidFill>
                  </a:tcPr>
                </a:tc>
                <a:tc>
                  <a:txBody>
                    <a:bodyPr/>
                    <a:lstStyle/>
                    <a:p>
                      <a:r>
                        <a:rPr sz="1200" b="0">
                          <a:solidFill>
                            <a:srgbClr val="555F6B"/>
                          </a:solidFill>
                        </a:rPr>
                        <a:t>Vertex Vector Search: tối thiểu 1 máy e2-standard-2 chạy 24/7 ≈ 84. OpenSearch: tối thiểu 2 OCU × 0,283 USD/giờ × 730 giờ ≈ 413</a:t>
                      </a:r>
                    </a:p>
                  </a:txBody>
                  <a:tcPr marL="45720" marR="45720" marT="18288" marB="18288">
                    <a:solidFill>
                      <a:srgbClr val="EEF3F8"/>
                    </a:solidFill>
                  </a:tcPr>
                </a:tc>
              </a:tr>
              <a:tr h="566928">
                <a:tc>
                  <a:txBody>
                    <a:bodyPr/>
                    <a:lstStyle/>
                    <a:p>
                      <a:r>
                        <a:rPr sz="1200" b="0">
                          <a:solidFill>
                            <a:srgbClr val="555F6B"/>
                          </a:solidFill>
                        </a:rPr>
                        <a:t>Cất token OAuth</a:t>
                      </a:r>
                    </a:p>
                  </a:txBody>
                  <a:tcPr marL="45720" marR="45720" marT="18288" marB="18288">
                    <a:solidFill>
                      <a:srgbClr val="FFFFFF"/>
                    </a:solidFill>
                  </a:tcPr>
                </a:tc>
                <a:tc>
                  <a:txBody>
                    <a:bodyPr/>
                    <a:lstStyle/>
                    <a:p>
                      <a:r>
                        <a:rPr sz="1200" b="0">
                          <a:solidFill>
                            <a:srgbClr val="555F6B"/>
                          </a:solidFill>
                        </a:rPr>
                        <a:t>3 khóa KMS × 0,06 + 760.000 lần mã hóa/giải mã × 0,03 USD/10.000 lần + 20 secret hệ thống ≈ 4</a:t>
                      </a:r>
                    </a:p>
                  </a:txBody>
                  <a:tcPr marL="45720" marR="45720" marT="18288" marB="18288">
                    <a:solidFill>
                      <a:srgbClr val="FFFFFF"/>
                    </a:solidFill>
                  </a:tcPr>
                </a:tc>
                <a:tc>
                  <a:txBody>
                    <a:bodyPr/>
                    <a:lstStyle/>
                    <a:p>
                      <a:r>
                        <a:rPr sz="1200" b="0">
                          <a:solidFill>
                            <a:srgbClr val="555F6B"/>
                          </a:solidFill>
                        </a:rPr>
                        <a:t>Mỗi token một secret: 2.000 user × 6 connector = 12.000 secret × 0,06 USD ≈ 720</a:t>
                      </a:r>
                    </a:p>
                  </a:txBody>
                  <a:tcPr marL="45720" marR="45720" marT="18288" marB="18288">
                    <a:solidFill>
                      <a:srgbClr val="FFFFFF"/>
                    </a:solidFill>
                  </a:tcPr>
                </a:tc>
              </a:tr>
              <a:tr h="566928">
                <a:tc>
                  <a:txBody>
                    <a:bodyPr/>
                    <a:lstStyle/>
                    <a:p>
                      <a:r>
                        <a:rPr sz="1200" b="0">
                          <a:solidFill>
                            <a:srgbClr val="555F6B"/>
                          </a:solidFill>
                        </a:rPr>
                        <a:t>Sandbox</a:t>
                      </a:r>
                    </a:p>
                  </a:txBody>
                  <a:tcPr marL="45720" marR="45720" marT="18288" marB="18288">
                    <a:solidFill>
                      <a:srgbClr val="EEF3F8"/>
                    </a:solidFill>
                  </a:tcPr>
                </a:tc>
                <a:tc>
                  <a:txBody>
                    <a:bodyPr/>
                    <a:lstStyle/>
                    <a:p>
                      <a:r>
                        <a:rPr sz="1200" b="0">
                          <a:solidFill>
                            <a:srgbClr val="555F6B"/>
                          </a:solidFill>
                        </a:rPr>
                        <a:t>140.800 lượt × 2 phút = 4.693 vCPU-giờ × 0,0549 + 9.386 GB-giờ × 0,0061 ≈ 315</a:t>
                      </a:r>
                    </a:p>
                  </a:txBody>
                  <a:tcPr marL="45720" marR="45720" marT="18288" marB="18288">
                    <a:solidFill>
                      <a:srgbClr val="EEF3F8"/>
                    </a:solidFill>
                  </a:tcPr>
                </a:tc>
                <a:tc>
                  <a:txBody>
                    <a:bodyPr/>
                    <a:lstStyle/>
                    <a:p>
                      <a:r>
                        <a:rPr sz="1200" b="0">
                          <a:solidFill>
                            <a:srgbClr val="555F6B"/>
                          </a:solidFill>
                        </a:rPr>
                        <a:t>Cùng số giờ, theo giá Agent Engine (0,085 USD/vCPU-giờ) ≈ 483; AgentCore (0,0895 USD/vCPU-giờ) ≈ 509</a:t>
                      </a:r>
                    </a:p>
                  </a:txBody>
                  <a:tcPr marL="45720" marR="45720" marT="18288" marB="18288">
                    <a:solidFill>
                      <a:srgbClr val="EEF3F8"/>
                    </a:solidFill>
                  </a:tcPr>
                </a:tc>
              </a:tr>
              <a:tr h="566928">
                <a:tc>
                  <a:txBody>
                    <a:bodyPr/>
                    <a:lstStyle/>
                    <a:p>
                      <a:r>
                        <a:rPr sz="1200" b="0">
                          <a:solidFill>
                            <a:srgbClr val="555F6B"/>
                          </a:solidFill>
                        </a:rPr>
                        <a:t>Guardrail</a:t>
                      </a:r>
                    </a:p>
                  </a:txBody>
                  <a:tcPr marL="45720" marR="45720" marT="18288" marB="18288">
                    <a:solidFill>
                      <a:srgbClr val="FFFFFF"/>
                    </a:solidFill>
                  </a:tcPr>
                </a:tc>
                <a:tc>
                  <a:txBody>
                    <a:bodyPr/>
                    <a:lstStyle/>
                    <a:p>
                      <a:r>
                        <a:rPr sz="1200" b="0">
                          <a:solidFill>
                            <a:srgbClr val="555F6B"/>
                          </a:solidFill>
                        </a:rPr>
                        <a:t>Chỉ quét text mới: 2,81 tỉ token/tháng × 0,10 USD/1 triệu token ≈ 281</a:t>
                      </a:r>
                    </a:p>
                  </a:txBody>
                  <a:tcPr marL="45720" marR="45720" marT="18288" marB="18288">
                    <a:solidFill>
                      <a:srgbClr val="FFFFFF"/>
                    </a:solidFill>
                  </a:tcPr>
                </a:tc>
                <a:tc>
                  <a:txBody>
                    <a:bodyPr/>
                    <a:lstStyle/>
                    <a:p>
                      <a:r>
                        <a:rPr sz="1200" b="0">
                          <a:solidFill>
                            <a:srgbClr val="555F6B"/>
                          </a:solidFill>
                        </a:rPr>
                        <a:t>Quét toàn bộ token: (12,19 + 0,79) tỉ token × 0,10 USD/1 triệu token ≈ 1.298</a:t>
                      </a:r>
                    </a:p>
                  </a:txBody>
                  <a:tcPr marL="45720" marR="45720" marT="18288" marB="18288">
                    <a:solidFill>
                      <a:srgbClr val="FFFFFF"/>
                    </a:solidFill>
                  </a:tcPr>
                </a:tc>
              </a:tr>
            </a:tbl>
          </a:graphicData>
        </a:graphic>
      </p:graphicFrame>
      <p:sp>
        <p:nvSpPr>
          <p:cNvPr id="8" name="TextBox 7"/>
          <p:cNvSpPr txBox="1"/>
          <p:nvPr/>
        </p:nvSpPr>
        <p:spPr>
          <a:xfrm>
            <a:off x="457200" y="5623560"/>
            <a:ext cx="11247120" cy="731520"/>
          </a:xfrm>
          <a:prstGeom prst="rect">
            <a:avLst/>
          </a:prstGeom>
          <a:noFill/>
        </p:spPr>
        <p:txBody>
          <a:bodyPr wrap="square">
            <a:spAutoFit/>
          </a:bodyPr>
          <a:lstStyle/>
          <a:p>
            <a:pPr algn="l">
              <a:spcAft>
                <a:spcPts val="400"/>
              </a:spcAft>
            </a:pPr>
            <a:r>
              <a:rPr sz="1100" b="0">
                <a:solidFill>
                  <a:srgbClr val="555F6B"/>
                </a:solidFill>
              </a:rPr>
              <a:t>Giá niêm yết tại Singapore, đọc ngày 16/10/2026, chưa VAT. Sandbox tính theo trần 2 phút/lượt nên là cận trên.</a:t>
            </a:r>
          </a:p>
          <a:p>
            <a:pPr algn="l">
              <a:spcAft>
                <a:spcPts val="400"/>
              </a:spcAft>
            </a:pPr>
            <a:r>
              <a:rPr sz="1100" b="0">
                <a:solidFill>
                  <a:srgbClr val="555F6B"/>
                </a:solidFill>
              </a:rPr>
              <a:t>Đơn giá và khối lượng của từng dòng: cột Ghi chú và Bằng chứng trong G03_baogia.xlsx.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6. Agent chỉ thấy những gì user được thấy (H2)</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Agent dùng 11 connector (Google, Microsoft, Atlassian, Notion) bằng quyền OAuth của chính user</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6</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sp>
        <p:nvSpPr>
          <p:cNvPr id="7" name="TextBox 6"/>
          <p:cNvSpPr txBox="1"/>
          <p:nvPr/>
        </p:nvSpPr>
        <p:spPr>
          <a:xfrm>
            <a:off x="457200" y="1463040"/>
            <a:ext cx="5577840" cy="4389120"/>
          </a:xfrm>
          <a:prstGeom prst="rect">
            <a:avLst/>
          </a:prstGeom>
          <a:noFill/>
        </p:spPr>
        <p:txBody>
          <a:bodyPr wrap="square">
            <a:spAutoFit/>
          </a:bodyPr>
          <a:lstStyle/>
          <a:p>
            <a:pPr algn="l">
              <a:spcAft>
                <a:spcPts val="400"/>
              </a:spcAft>
            </a:pPr>
            <a:r>
              <a:rPr sz="1500" b="1">
                <a:solidFill>
                  <a:srgbClr val="555F6B"/>
                </a:solidFill>
              </a:rPr>
              <a:t>Đăng nhập</a:t>
            </a:r>
          </a:p>
          <a:p>
            <a:pPr algn="l">
              <a:spcAft>
                <a:spcPts val="400"/>
              </a:spcAft>
            </a:pPr>
            <a:r>
              <a:rPr sz="1500" b="0">
                <a:solidFill>
                  <a:srgbClr val="555F6B"/>
                </a:solidFill>
              </a:rPr>
              <a:t>SSO bằng tài khoản tập đoàn có sẵn, bắt buộc MFA</a:t>
            </a:r>
          </a:p>
          <a:p>
            <a:pPr algn="l">
              <a:spcAft>
                <a:spcPts val="400"/>
              </a:spcAft>
            </a:pPr>
            <a:r>
              <a:rPr sz="1500" b="0">
                <a:solidFill>
                  <a:srgbClr val="555F6B"/>
                </a:solidFill>
              </a:rPr>
              <a:t>Phân quyền chức năng theo nhóm (ví dụ: chỉ IT dùng sandbox hạng lớn)</a:t>
            </a:r>
          </a:p>
          <a:p>
            <a:pPr algn="l">
              <a:spcAft>
                <a:spcPts val="400"/>
              </a:spcAft>
            </a:pPr>
            <a:r>
              <a:rPr sz="1500" b="1">
                <a:solidFill>
                  <a:srgbClr val="555F6B"/>
                </a:solidFill>
              </a:rPr>
              <a:t>Agent mượn quyền của user (OAuth)</a:t>
            </a:r>
          </a:p>
          <a:p>
            <a:pPr algn="l">
              <a:spcAft>
                <a:spcPts val="400"/>
              </a:spcAft>
            </a:pPr>
            <a:r>
              <a:rPr sz="1500" b="0">
                <a:solidFill>
                  <a:srgbClr val="555F6B"/>
                </a:solidFill>
              </a:rPr>
              <a:t>Mỗi user tự cho phép từng SaaS; mặc định chỉ quyền đọc</a:t>
            </a:r>
          </a:p>
          <a:p>
            <a:pPr algn="l">
              <a:spcAft>
                <a:spcPts val="400"/>
              </a:spcAft>
            </a:pPr>
            <a:r>
              <a:rPr sz="1500" b="0">
                <a:solidFill>
                  <a:srgbClr val="555F6B"/>
                </a:solidFill>
              </a:rPr>
              <a:t>Quyền ghi (gửi email, tạo ticket) chỉ xin khi cần</a:t>
            </a:r>
          </a:p>
          <a:p>
            <a:pPr algn="l">
              <a:spcAft>
                <a:spcPts val="400"/>
              </a:spcAft>
            </a:pPr>
            <a:r>
              <a:rPr sz="1500" b="0">
                <a:solidFill>
                  <a:srgbClr val="555F6B"/>
                </a:solidFill>
              </a:rPr>
              <a:t>Không dùng tài khoản dịch vụ có quyền rộng</a:t>
            </a:r>
          </a:p>
        </p:txBody>
      </p:sp>
      <p:sp>
        <p:nvSpPr>
          <p:cNvPr id="8" name="TextBox 7"/>
          <p:cNvSpPr txBox="1"/>
          <p:nvPr/>
        </p:nvSpPr>
        <p:spPr>
          <a:xfrm>
            <a:off x="6309360" y="1463040"/>
            <a:ext cx="5486400" cy="4389120"/>
          </a:xfrm>
          <a:prstGeom prst="rect">
            <a:avLst/>
          </a:prstGeom>
          <a:noFill/>
        </p:spPr>
        <p:txBody>
          <a:bodyPr wrap="square">
            <a:spAutoFit/>
          </a:bodyPr>
          <a:lstStyle/>
          <a:p>
            <a:pPr algn="l">
              <a:spcAft>
                <a:spcPts val="400"/>
              </a:spcAft>
            </a:pPr>
            <a:r>
              <a:rPr sz="1500" b="1">
                <a:solidFill>
                  <a:srgbClr val="555F6B"/>
                </a:solidFill>
              </a:rPr>
              <a:t>Token được cất an toàn</a:t>
            </a:r>
          </a:p>
          <a:p>
            <a:pPr algn="l">
              <a:spcAft>
                <a:spcPts val="400"/>
              </a:spcAft>
            </a:pPr>
            <a:r>
              <a:rPr sz="1500" b="0">
                <a:solidFill>
                  <a:srgbClr val="555F6B"/>
                </a:solidFill>
              </a:rPr>
              <a:t>Token OAuth được mã hóa bằng khóa trong Cloud KMS, lưu trong Postgres</a:t>
            </a:r>
          </a:p>
          <a:p>
            <a:pPr algn="l">
              <a:spcAft>
                <a:spcPts val="400"/>
              </a:spcAft>
            </a:pPr>
            <a:r>
              <a:rPr sz="1500" b="0">
                <a:solidFill>
                  <a:srgbClr val="555F6B"/>
                </a:solidFill>
              </a:rPr>
              <a:t>Chỉ worker được giải mã, và chỉ cho đúng user của request. Mỗi lần giải mã đều ghi audit</a:t>
            </a:r>
          </a:p>
          <a:p>
            <a:pPr algn="l">
              <a:spcAft>
                <a:spcPts val="400"/>
              </a:spcAft>
            </a:pPr>
            <a:r>
              <a:rPr sz="1500" b="1">
                <a:solidFill>
                  <a:srgbClr val="555F6B"/>
                </a:solidFill>
              </a:rPr>
              <a:t>Tài liệu giữ quyền gốc</a:t>
            </a:r>
          </a:p>
          <a:p>
            <a:pPr algn="l">
              <a:spcAft>
                <a:spcPts val="400"/>
              </a:spcAft>
            </a:pPr>
            <a:r>
              <a:rPr sz="1500" b="0">
                <a:solidFill>
                  <a:srgbClr val="555F6B"/>
                </a:solidFill>
              </a:rPr>
              <a:t>Mail, lịch, Jira: agent gọi search API của SaaS bằng token của user, nên SaaS tự lọc quyền</a:t>
            </a:r>
          </a:p>
          <a:p>
            <a:pPr algn="l">
              <a:spcAft>
                <a:spcPts val="400"/>
              </a:spcAft>
            </a:pPr>
            <a:r>
              <a:rPr sz="1500" b="0">
                <a:solidFill>
                  <a:srgbClr val="555F6B"/>
                </a:solidFill>
              </a:rPr>
              <a:t>Tài liệu chung đã index: mỗi đoạn ghi nhóm được xem; mọi truy vấn lọc theo nhóm của user</a:t>
            </a:r>
          </a:p>
        </p:txBody>
      </p:sp>
      <p:sp>
        <p:nvSpPr>
          <p:cNvPr id="9" name="TextBox 8"/>
          <p:cNvSpPr txBox="1"/>
          <p:nvPr/>
        </p:nvSpPr>
        <p:spPr>
          <a:xfrm>
            <a:off x="457200" y="5852160"/>
            <a:ext cx="11247120" cy="457200"/>
          </a:xfrm>
          <a:prstGeom prst="rect">
            <a:avLst/>
          </a:prstGeom>
          <a:noFill/>
        </p:spPr>
        <p:txBody>
          <a:bodyPr wrap="square">
            <a:spAutoFit/>
          </a:bodyPr>
          <a:lstStyle/>
          <a:p>
            <a:pPr algn="l">
              <a:spcAft>
                <a:spcPts val="400"/>
              </a:spcAft>
            </a:pPr>
            <a:r>
              <a:rPr sz="1100" b="0">
                <a:solidFill>
                  <a:srgbClr val="555F6B"/>
                </a:solidFill>
              </a:rPr>
              <a:t>API của 11 SaaS không tính phí theo lượt; tập đoàn đã có license SaaS. Rate limit của SaaS: slide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7. File của user A không lộ sang user B (H3)</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"Agent của A có đọc được file của B không?" Không, vì có 4 lớp chặn:</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7</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graphicFrame>
        <p:nvGraphicFramePr>
          <p:cNvPr id="7" name="Table 6"/>
          <p:cNvGraphicFramePr>
            <a:graphicFrameLocks noGrp="1"/>
          </p:cNvGraphicFramePr>
          <p:nvPr/>
        </p:nvGraphicFramePr>
        <p:xfrm>
          <a:off x="457200" y="1371600"/>
          <a:ext cx="5669280" cy="3200400"/>
        </p:xfrm>
        <a:graphic>
          <a:graphicData uri="http://schemas.openxmlformats.org/drawingml/2006/table">
            <a:tbl>
              <a:tblPr firstRow="1" bandRow="1">
                <a:tableStyleId>{5C22544A-7EE6-4342-B048-85BDC9FD1C3A}</a:tableStyleId>
              </a:tblPr>
              <a:tblGrid>
                <a:gridCol w="1188720"/>
                <a:gridCol w="4480560"/>
              </a:tblGrid>
              <a:tr h="640080">
                <a:tc>
                  <a:txBody>
                    <a:bodyPr/>
                    <a:lstStyle/>
                    <a:p>
                      <a:r>
                        <a:rPr sz="1400" b="1">
                          <a:solidFill>
                            <a:srgbClr val="FFFFFF"/>
                          </a:solidFill>
                        </a:rPr>
                        <a:t>Lớp</a:t>
                      </a:r>
                    </a:p>
                  </a:txBody>
                  <a:tcPr marL="45720" marR="45720" marT="18288" marB="18288">
                    <a:solidFill>
                      <a:srgbClr val="2E6FB7"/>
                    </a:solidFill>
                  </a:tcPr>
                </a:tc>
                <a:tc>
                  <a:txBody>
                    <a:bodyPr/>
                    <a:lstStyle/>
                    <a:p>
                      <a:r>
                        <a:rPr sz="1400" b="1">
                          <a:solidFill>
                            <a:srgbClr val="FFFFFF"/>
                          </a:solidFill>
                        </a:rPr>
                        <a:t>Cách chặn</a:t>
                      </a:r>
                    </a:p>
                  </a:txBody>
                  <a:tcPr marL="45720" marR="45720" marT="18288" marB="18288">
                    <a:solidFill>
                      <a:srgbClr val="2E6FB7"/>
                    </a:solidFill>
                  </a:tcPr>
                </a:tc>
              </a:tr>
              <a:tr h="640080">
                <a:tc>
                  <a:txBody>
                    <a:bodyPr/>
                    <a:lstStyle/>
                    <a:p>
                      <a:r>
                        <a:rPr sz="1400" b="0">
                          <a:solidFill>
                            <a:srgbClr val="555F6B"/>
                          </a:solidFill>
                        </a:rPr>
                        <a:t>Lưu trữ</a:t>
                      </a:r>
                    </a:p>
                  </a:txBody>
                  <a:tcPr marL="45720" marR="45720" marT="18288" marB="18288">
                    <a:solidFill>
                      <a:srgbClr val="EEF3F8"/>
                    </a:solidFill>
                  </a:tcPr>
                </a:tc>
                <a:tc>
                  <a:txBody>
                    <a:bodyPr/>
                    <a:lstStyle/>
                    <a:p>
                      <a:r>
                        <a:rPr sz="1400" b="0">
                          <a:solidFill>
                            <a:srgbClr val="555F6B"/>
                          </a:solidFill>
                        </a:rPr>
                        <a:t>Mỗi user một thư mục riêng; chỉ app có quyền vào bucket</a:t>
                      </a:r>
                    </a:p>
                  </a:txBody>
                  <a:tcPr marL="45720" marR="45720" marT="18288" marB="18288">
                    <a:solidFill>
                      <a:srgbClr val="EEF3F8"/>
                    </a:solidFill>
                  </a:tcPr>
                </a:tc>
              </a:tr>
              <a:tr h="640080">
                <a:tc>
                  <a:txBody>
                    <a:bodyPr/>
                    <a:lstStyle/>
                    <a:p>
                      <a:r>
                        <a:rPr sz="1400" b="0">
                          <a:solidFill>
                            <a:srgbClr val="555F6B"/>
                          </a:solidFill>
                        </a:rPr>
                        <a:t>Database</a:t>
                      </a:r>
                    </a:p>
                  </a:txBody>
                  <a:tcPr marL="45720" marR="45720" marT="18288" marB="18288">
                    <a:solidFill>
                      <a:srgbClr val="FFFFFF"/>
                    </a:solidFill>
                  </a:tcPr>
                </a:tc>
                <a:tc>
                  <a:txBody>
                    <a:bodyPr/>
                    <a:lstStyle/>
                    <a:p>
                      <a:r>
                        <a:rPr sz="1400" b="0">
                          <a:solidFill>
                            <a:srgbClr val="555F6B"/>
                          </a:solidFill>
                        </a:rPr>
                        <a:t>Postgres tự lọc dòng theo người sở hữu (Row-Level Security)</a:t>
                      </a:r>
                    </a:p>
                  </a:txBody>
                  <a:tcPr marL="45720" marR="45720" marT="18288" marB="18288">
                    <a:solidFill>
                      <a:srgbClr val="FFFFFF"/>
                    </a:solidFill>
                  </a:tcPr>
                </a:tc>
              </a:tr>
              <a:tr h="640080">
                <a:tc>
                  <a:txBody>
                    <a:bodyPr/>
                    <a:lstStyle/>
                    <a:p>
                      <a:r>
                        <a:rPr sz="1400" b="0">
                          <a:solidFill>
                            <a:srgbClr val="555F6B"/>
                          </a:solidFill>
                        </a:rPr>
                        <a:t>Tìm kiếm</a:t>
                      </a:r>
                    </a:p>
                  </a:txBody>
                  <a:tcPr marL="45720" marR="45720" marT="18288" marB="18288">
                    <a:solidFill>
                      <a:srgbClr val="EEF3F8"/>
                    </a:solidFill>
                  </a:tcPr>
                </a:tc>
                <a:tc>
                  <a:txBody>
                    <a:bodyPr/>
                    <a:lstStyle/>
                    <a:p>
                      <a:r>
                        <a:rPr sz="1400" b="0">
                          <a:solidFill>
                            <a:srgbClr val="555F6B"/>
                          </a:solidFill>
                        </a:rPr>
                        <a:t>Mọi truy vấn bắt buộc lọc theo người sở hữu hoặc nhóm</a:t>
                      </a:r>
                    </a:p>
                  </a:txBody>
                  <a:tcPr marL="45720" marR="45720" marT="18288" marB="18288">
                    <a:solidFill>
                      <a:srgbClr val="EEF3F8"/>
                    </a:solidFill>
                  </a:tcPr>
                </a:tc>
              </a:tr>
              <a:tr h="640080">
                <a:tc>
                  <a:txBody>
                    <a:bodyPr/>
                    <a:lstStyle/>
                    <a:p>
                      <a:r>
                        <a:rPr sz="1400" b="0">
                          <a:solidFill>
                            <a:srgbClr val="555F6B"/>
                          </a:solidFill>
                        </a:rPr>
                        <a:t>Connector</a:t>
                      </a:r>
                    </a:p>
                  </a:txBody>
                  <a:tcPr marL="45720" marR="45720" marT="18288" marB="18288">
                    <a:solidFill>
                      <a:srgbClr val="FFFFFF"/>
                    </a:solidFill>
                  </a:tcPr>
                </a:tc>
                <a:tc>
                  <a:txBody>
                    <a:bodyPr/>
                    <a:lstStyle/>
                    <a:p>
                      <a:r>
                        <a:rPr sz="1400" b="0">
                          <a:solidFill>
                            <a:srgbClr val="555F6B"/>
                          </a:solidFill>
                        </a:rPr>
                        <a:t>Dùng OAuth của chính user, nên không thấy dữ liệu người khác</a:t>
                      </a:r>
                    </a:p>
                  </a:txBody>
                  <a:tcPr marL="45720" marR="45720" marT="18288" marB="18288">
                    <a:solidFill>
                      <a:srgbClr val="FFFFFF"/>
                    </a:solidFill>
                  </a:tcPr>
                </a:tc>
              </a:tr>
            </a:tbl>
          </a:graphicData>
        </a:graphic>
      </p:graphicFrame>
      <p:sp>
        <p:nvSpPr>
          <p:cNvPr id="8" name="TextBox 7"/>
          <p:cNvSpPr txBox="1"/>
          <p:nvPr/>
        </p:nvSpPr>
        <p:spPr>
          <a:xfrm>
            <a:off x="6400800" y="1371600"/>
            <a:ext cx="5394960" cy="4572000"/>
          </a:xfrm>
          <a:prstGeom prst="rect">
            <a:avLst/>
          </a:prstGeom>
          <a:noFill/>
        </p:spPr>
        <p:txBody>
          <a:bodyPr wrap="square">
            <a:spAutoFit/>
          </a:bodyPr>
          <a:lstStyle/>
          <a:p>
            <a:pPr algn="l">
              <a:spcAft>
                <a:spcPts val="400"/>
              </a:spcAft>
            </a:pPr>
            <a:r>
              <a:rPr sz="1500" b="1">
                <a:solidFill>
                  <a:srgbClr val="555F6B"/>
                </a:solidFill>
              </a:rPr>
              <a:t>Sandbox: code của agent chạy trong hộp kín</a:t>
            </a:r>
          </a:p>
          <a:p>
            <a:pPr algn="l">
              <a:spcAft>
                <a:spcPts val="400"/>
              </a:spcAft>
            </a:pPr>
            <a:r>
              <a:rPr sz="1500" b="0">
                <a:solidFill>
                  <a:srgbClr val="555F6B"/>
                </a:solidFill>
              </a:rPr>
              <a:t>gVisor ngăn code chạm trực tiếp vào kernel của máy chủ</a:t>
            </a:r>
          </a:p>
          <a:p>
            <a:pPr algn="l">
              <a:spcAft>
                <a:spcPts val="400"/>
              </a:spcAft>
            </a:pPr>
            <a:r>
              <a:rPr sz="1500" b="0">
                <a:solidFill>
                  <a:srgbClr val="555F6B"/>
                </a:solidFill>
              </a:rPr>
              <a:t>Không có mạng ra ngoài: không internet, không mạng nội bộ</a:t>
            </a:r>
          </a:p>
          <a:p>
            <a:pPr algn="l">
              <a:spcAft>
                <a:spcPts val="400"/>
              </a:spcAft>
            </a:pPr>
            <a:r>
              <a:rPr sz="1500" b="0">
                <a:solidFill>
                  <a:srgbClr val="555F6B"/>
                </a:solidFill>
              </a:rPr>
              <a:t>Chỉ thấy thư mục workspace của đúng user đó</a:t>
            </a:r>
          </a:p>
          <a:p>
            <a:pPr algn="l">
              <a:spcAft>
                <a:spcPts val="400"/>
              </a:spcAft>
            </a:pPr>
            <a:r>
              <a:rPr sz="1500" b="0">
                <a:solidFill>
                  <a:srgbClr val="555F6B"/>
                </a:solidFill>
              </a:rPr>
              <a:t>Tối đa 2 phút (hạng lớn 10 phút); chạy xong hoặc hết giờ thì hủy pod</a:t>
            </a:r>
          </a:p>
          <a:p>
            <a:pPr algn="l">
              <a:spcAft>
                <a:spcPts val="400"/>
              </a:spcAft>
            </a:pPr>
            <a:r>
              <a:rPr sz="1500" b="1">
                <a:solidFill>
                  <a:srgbClr val="555F6B"/>
                </a:solidFill>
              </a:rPr>
              <a:t>Code cố thoát ra máy chủ?</a:t>
            </a:r>
          </a:p>
          <a:p>
            <a:pPr algn="l">
              <a:spcAft>
                <a:spcPts val="400"/>
              </a:spcAft>
            </a:pPr>
            <a:r>
              <a:rPr sz="1500" b="0">
                <a:solidFill>
                  <a:srgbClr val="555F6B"/>
                </a:solidFill>
              </a:rPr>
              <a:t>Bị gVisor chặn. Pod không có quyền đặc biệt và không gọi được API của cloud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8. Lệnh ẩn trong email bị chặn ở 3 chỗ (H4, H5)</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"Một email chứa lệnh ẩn: gửi toàn bộ hợp đồng ra ngoài." Lệnh này không chạy được, vì:</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8</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sp>
        <p:nvSpPr>
          <p:cNvPr id="7" name="TextBox 6"/>
          <p:cNvSpPr txBox="1"/>
          <p:nvPr/>
        </p:nvSpPr>
        <p:spPr>
          <a:xfrm>
            <a:off x="457200" y="1371600"/>
            <a:ext cx="5577840" cy="4572000"/>
          </a:xfrm>
          <a:prstGeom prst="rect">
            <a:avLst/>
          </a:prstGeom>
          <a:noFill/>
        </p:spPr>
        <p:txBody>
          <a:bodyPr wrap="square">
            <a:spAutoFit/>
          </a:bodyPr>
          <a:lstStyle/>
          <a:p>
            <a:pPr algn="l">
              <a:spcAft>
                <a:spcPts val="400"/>
              </a:spcAft>
            </a:pPr>
            <a:r>
              <a:rPr sz="1400" b="1">
                <a:solidFill>
                  <a:srgbClr val="555F6B"/>
                </a:solidFill>
              </a:rPr>
              <a:t>1. Guardrail quét nội dung</a:t>
            </a:r>
          </a:p>
          <a:p>
            <a:pPr algn="l">
              <a:spcAft>
                <a:spcPts val="400"/>
              </a:spcAft>
            </a:pPr>
            <a:r>
              <a:rPr sz="1400" b="0">
                <a:solidFill>
                  <a:srgbClr val="555F6B"/>
                </a:solidFill>
              </a:rPr>
              <a:t>Model Armor quét tin nhắn mới, nội dung từ connector và câu trả lời cuối (281 USD/tháng)</a:t>
            </a:r>
          </a:p>
          <a:p>
            <a:pPr algn="l">
              <a:spcAft>
                <a:spcPts val="400"/>
              </a:spcAft>
            </a:pPr>
            <a:r>
              <a:rPr sz="1400" b="1">
                <a:solidFill>
                  <a:srgbClr val="555F6B"/>
                </a:solidFill>
              </a:rPr>
              <a:t>2. Nội dung email chỉ là dữ liệu</a:t>
            </a:r>
          </a:p>
          <a:p>
            <a:pPr algn="l">
              <a:spcAft>
                <a:spcPts val="400"/>
              </a:spcAft>
            </a:pPr>
            <a:r>
              <a:rPr sz="1400" b="0">
                <a:solidFill>
                  <a:srgbClr val="555F6B"/>
                </a:solidFill>
              </a:rPr>
              <a:t>Nội dung từ connector được đánh dấu "không tin cậy". Chỉ yêu cầu của user mới kích hoạt được hành động ghi</a:t>
            </a:r>
          </a:p>
          <a:p>
            <a:pPr algn="l">
              <a:spcAft>
                <a:spcPts val="400"/>
              </a:spcAft>
            </a:pPr>
            <a:r>
              <a:rPr sz="1400" b="1">
                <a:solidFill>
                  <a:srgbClr val="555F6B"/>
                </a:solidFill>
              </a:rPr>
              <a:t>3. User xác nhận trước khi ghi</a:t>
            </a:r>
          </a:p>
          <a:p>
            <a:pPr algn="l">
              <a:spcAft>
                <a:spcPts val="400"/>
              </a:spcAft>
            </a:pPr>
            <a:r>
              <a:rPr sz="1400" b="0">
                <a:solidFill>
                  <a:srgbClr val="555F6B"/>
                </a:solidFill>
              </a:rPr>
              <a:t>Gửi ra ngoài, xóa, chia sẻ quyền: xác nhận từng việc. Ticket, email nháp: duyệt một lần cho cả nhóm</a:t>
            </a:r>
          </a:p>
          <a:p>
            <a:pPr algn="l">
              <a:spcAft>
                <a:spcPts val="400"/>
              </a:spcAft>
            </a:pPr>
            <a:r>
              <a:rPr sz="1400" b="0">
                <a:solidFill>
                  <a:srgbClr val="555F6B"/>
                </a:solidFill>
              </a:rPr>
              <a:t>Thêm nữa: sandbox không có mạng ra ngoài, nên code cũng không gửi được dữ liệu</a:t>
            </a:r>
          </a:p>
        </p:txBody>
      </p:sp>
      <p:sp>
        <p:nvSpPr>
          <p:cNvPr id="8" name="TextBox 7"/>
          <p:cNvSpPr txBox="1"/>
          <p:nvPr/>
        </p:nvSpPr>
        <p:spPr>
          <a:xfrm>
            <a:off x="6309360" y="1371600"/>
            <a:ext cx="5486400" cy="4572000"/>
          </a:xfrm>
          <a:prstGeom prst="rect">
            <a:avLst/>
          </a:prstGeom>
          <a:noFill/>
        </p:spPr>
        <p:txBody>
          <a:bodyPr wrap="square">
            <a:spAutoFit/>
          </a:bodyPr>
          <a:lstStyle/>
          <a:p>
            <a:pPr algn="l">
              <a:spcAft>
                <a:spcPts val="400"/>
              </a:spcAft>
            </a:pPr>
            <a:r>
              <a:rPr sz="1400" b="1">
                <a:solidFill>
                  <a:srgbClr val="555F6B"/>
                </a:solidFill>
              </a:rPr>
              <a:t>Bảo vệ dữ liệu</a:t>
            </a:r>
          </a:p>
          <a:p>
            <a:pPr algn="l">
              <a:spcAft>
                <a:spcPts val="400"/>
              </a:spcAft>
            </a:pPr>
            <a:r>
              <a:rPr sz="1400" b="0">
                <a:solidFill>
                  <a:srgbClr val="555F6B"/>
                </a:solidFill>
              </a:rPr>
              <a:t>Mã hóa khi lưu và khi truyền</a:t>
            </a:r>
          </a:p>
          <a:p>
            <a:pPr algn="l">
              <a:spcAft>
                <a:spcPts val="400"/>
              </a:spcAft>
            </a:pPr>
            <a:r>
              <a:rPr sz="1400" b="0">
                <a:solidFill>
                  <a:srgbClr val="555F6B"/>
                </a:solidFill>
              </a:rPr>
              <a:t>Che dữ liệu cá nhân (PII) trước khi gửi cho model</a:t>
            </a:r>
          </a:p>
          <a:p>
            <a:pPr algn="l">
              <a:spcAft>
                <a:spcPts val="400"/>
              </a:spcAft>
            </a:pPr>
            <a:r>
              <a:rPr sz="1400" b="0">
                <a:solidFill>
                  <a:srgbClr val="555F6B"/>
                </a:solidFill>
              </a:rPr>
              <a:t>Vertex AI không lưu và không dùng dữ liệu để huấn luyện</a:t>
            </a:r>
          </a:p>
          <a:p>
            <a:pPr algn="l">
              <a:spcAft>
                <a:spcPts val="400"/>
              </a:spcAft>
            </a:pPr>
            <a:r>
              <a:rPr sz="1400" b="0">
                <a:solidFill>
                  <a:srgbClr val="555F6B"/>
                </a:solidFill>
              </a:rPr>
              <a:t>Audit log 12 tháng: ai, lúc nào, dùng tool nào, xác nhận hành động gì</a:t>
            </a:r>
          </a:p>
          <a:p>
            <a:pPr algn="l">
              <a:spcAft>
                <a:spcPts val="400"/>
              </a:spcAft>
            </a:pPr>
            <a:r>
              <a:rPr sz="1400" b="1">
                <a:solidFill>
                  <a:srgbClr val="555F6B"/>
                </a:solidFill>
              </a:rPr>
              <a:t>Eval gate</a:t>
            </a:r>
          </a:p>
          <a:p>
            <a:pPr algn="l">
              <a:spcAft>
                <a:spcPts val="400"/>
              </a:spcAft>
            </a:pPr>
            <a:r>
              <a:rPr sz="1400" b="0">
                <a:solidFill>
                  <a:srgbClr val="555F6B"/>
                </a:solidFill>
              </a:rPr>
              <a:t>Đổi model hoặc prompt phải chạy lại bộ kiểm tra; dưới 95% thì không deploy (525 USD/tháng)</a:t>
            </a:r>
          </a:p>
        </p:txBody>
      </p:sp>
      <p:sp>
        <p:nvSpPr>
          <p:cNvPr id="9" name="TextBox 8"/>
          <p:cNvSpPr txBox="1"/>
          <p:nvPr/>
        </p:nvSpPr>
        <p:spPr>
          <a:xfrm>
            <a:off x="457200" y="5852160"/>
            <a:ext cx="11247120" cy="457200"/>
          </a:xfrm>
          <a:prstGeom prst="rect">
            <a:avLst/>
          </a:prstGeom>
          <a:noFill/>
        </p:spPr>
        <p:txBody>
          <a:bodyPr wrap="square">
            <a:spAutoFit/>
          </a:bodyPr>
          <a:lstStyle/>
          <a:p>
            <a:pPr algn="l">
              <a:spcAft>
                <a:spcPts val="400"/>
              </a:spcAft>
            </a:pPr>
            <a:r>
              <a:rPr sz="1100" b="0">
                <a:solidFill>
                  <a:srgbClr val="555F6B"/>
                </a:solidFill>
              </a:rPr>
              <a:t>Dòng governance ở slide 11 = 281 USD guardrail + 525 USD eval = 806 USD/tháng. Thời hạn lưu khác: chat 12 tháng, file tạm 30 ngày, prompt log 30 ngày (đã che PII).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9. Mất 1 zone: tự chuyển trong 1–2 phút (H7)</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Đề yêu cầu: chạy 99,5% giờ hành chính, khôi phục trong 4 giờ (RTO), mất tối đa 1 giờ dữ liệu (RPO)</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9</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graphicFrame>
        <p:nvGraphicFramePr>
          <p:cNvPr id="7" name="Table 6"/>
          <p:cNvGraphicFramePr>
            <a:graphicFrameLocks noGrp="1"/>
          </p:cNvGraphicFramePr>
          <p:nvPr/>
        </p:nvGraphicFramePr>
        <p:xfrm>
          <a:off x="457200" y="1371600"/>
          <a:ext cx="6400800" cy="3291840"/>
        </p:xfrm>
        <a:graphic>
          <a:graphicData uri="http://schemas.openxmlformats.org/drawingml/2006/table">
            <a:tbl>
              <a:tblPr firstRow="1" bandRow="1">
                <a:tableStyleId>{5C22544A-7EE6-4342-B048-85BDC9FD1C3A}</a:tableStyleId>
              </a:tblPr>
              <a:tblGrid>
                <a:gridCol w="1737360"/>
                <a:gridCol w="2194560"/>
                <a:gridCol w="2468880"/>
              </a:tblGrid>
              <a:tr h="411480">
                <a:tc>
                  <a:txBody>
                    <a:bodyPr/>
                    <a:lstStyle/>
                    <a:p>
                      <a:r>
                        <a:rPr sz="1100" b="1">
                          <a:solidFill>
                            <a:srgbClr val="FFFFFF"/>
                          </a:solidFill>
                        </a:rPr>
                        <a:t>Thành phần</a:t>
                      </a:r>
                    </a:p>
                  </a:txBody>
                  <a:tcPr marL="45720" marR="45720" marT="18288" marB="18288">
                    <a:solidFill>
                      <a:srgbClr val="2E6FB7"/>
                    </a:solidFill>
                  </a:tcPr>
                </a:tc>
                <a:tc>
                  <a:txBody>
                    <a:bodyPr/>
                    <a:lstStyle/>
                    <a:p>
                      <a:r>
                        <a:rPr sz="1100" b="1">
                          <a:solidFill>
                            <a:srgbClr val="FFFFFF"/>
                          </a:solidFill>
                        </a:rPr>
                        <a:t>Chạy liên tục (HA)</a:t>
                      </a:r>
                    </a:p>
                  </a:txBody>
                  <a:tcPr marL="45720" marR="45720" marT="18288" marB="18288">
                    <a:solidFill>
                      <a:srgbClr val="2E6FB7"/>
                    </a:solidFill>
                  </a:tcPr>
                </a:tc>
                <a:tc>
                  <a:txBody>
                    <a:bodyPr/>
                    <a:lstStyle/>
                    <a:p>
                      <a:r>
                        <a:rPr sz="1100" b="1">
                          <a:solidFill>
                            <a:srgbClr val="FFFFFF"/>
                          </a:solidFill>
                        </a:rPr>
                        <a:t>Backup, khôi phục (DR)</a:t>
                      </a:r>
                    </a:p>
                  </a:txBody>
                  <a:tcPr marL="45720" marR="45720" marT="18288" marB="18288">
                    <a:solidFill>
                      <a:srgbClr val="2E6FB7"/>
                    </a:solidFill>
                  </a:tcPr>
                </a:tc>
              </a:tr>
              <a:tr h="411480">
                <a:tc>
                  <a:txBody>
                    <a:bodyPr/>
                    <a:lstStyle/>
                    <a:p>
                      <a:r>
                        <a:rPr sz="1100" b="0">
                          <a:solidFill>
                            <a:srgbClr val="555F6B"/>
                          </a:solidFill>
                        </a:rPr>
                        <a:t>Tường lửa, cân bằng tải</a:t>
                      </a:r>
                    </a:p>
                  </a:txBody>
                  <a:tcPr marL="45720" marR="45720" marT="18288" marB="18288">
                    <a:solidFill>
                      <a:srgbClr val="EEF3F8"/>
                    </a:solidFill>
                  </a:tcPr>
                </a:tc>
                <a:tc>
                  <a:txBody>
                    <a:bodyPr/>
                    <a:lstStyle/>
                    <a:p>
                      <a:r>
                        <a:rPr sz="1100" b="0">
                          <a:solidFill>
                            <a:srgbClr val="555F6B"/>
                          </a:solidFill>
                        </a:rPr>
                        <a:t>Managed, đa zone</a:t>
                      </a:r>
                    </a:p>
                  </a:txBody>
                  <a:tcPr marL="45720" marR="45720" marT="18288" marB="18288">
                    <a:solidFill>
                      <a:srgbClr val="EEF3F8"/>
                    </a:solidFill>
                  </a:tcPr>
                </a:tc>
                <a:tc>
                  <a:txBody>
                    <a:bodyPr/>
                    <a:lstStyle/>
                    <a:p>
                      <a:r>
                        <a:rPr sz="1100" b="0">
                          <a:solidFill>
                            <a:srgbClr val="555F6B"/>
                          </a:solidFill>
                        </a:rPr>
                        <a:t>—</a:t>
                      </a:r>
                    </a:p>
                  </a:txBody>
                  <a:tcPr marL="45720" marR="45720" marT="18288" marB="18288">
                    <a:solidFill>
                      <a:srgbClr val="EEF3F8"/>
                    </a:solidFill>
                  </a:tcPr>
                </a:tc>
              </a:tr>
              <a:tr h="411480">
                <a:tc>
                  <a:txBody>
                    <a:bodyPr/>
                    <a:lstStyle/>
                    <a:p>
                      <a:r>
                        <a:rPr sz="1100" b="0">
                          <a:solidFill>
                            <a:srgbClr val="555F6B"/>
                          </a:solidFill>
                        </a:rPr>
                        <a:t>Cụm GKE</a:t>
                      </a:r>
                    </a:p>
                  </a:txBody>
                  <a:tcPr marL="45720" marR="45720" marT="18288" marB="18288">
                    <a:solidFill>
                      <a:srgbClr val="FFFFFF"/>
                    </a:solidFill>
                  </a:tcPr>
                </a:tc>
                <a:tc>
                  <a:txBody>
                    <a:bodyPr/>
                    <a:lstStyle/>
                    <a:p>
                      <a:r>
                        <a:rPr sz="1100" b="0">
                          <a:solidFill>
                            <a:srgbClr val="555F6B"/>
                          </a:solidFill>
                        </a:rPr>
                        <a:t>Mỗi pod 2 bản ở 2 zone</a:t>
                      </a:r>
                    </a:p>
                  </a:txBody>
                  <a:tcPr marL="45720" marR="45720" marT="18288" marB="18288">
                    <a:solidFill>
                      <a:srgbClr val="FFFFFF"/>
                    </a:solidFill>
                  </a:tcPr>
                </a:tc>
                <a:tc>
                  <a:txBody>
                    <a:bodyPr/>
                    <a:lstStyle/>
                    <a:p>
                      <a:r>
                        <a:rPr sz="1100" b="0">
                          <a:solidFill>
                            <a:srgbClr val="555F6B"/>
                          </a:solidFill>
                        </a:rPr>
                        <a:t>Dựng lại bằng Terraform</a:t>
                      </a:r>
                    </a:p>
                  </a:txBody>
                  <a:tcPr marL="45720" marR="45720" marT="18288" marB="18288">
                    <a:solidFill>
                      <a:srgbClr val="FFFFFF"/>
                    </a:solidFill>
                  </a:tcPr>
                </a:tc>
              </a:tr>
              <a:tr h="411480">
                <a:tc>
                  <a:txBody>
                    <a:bodyPr/>
                    <a:lstStyle/>
                    <a:p>
                      <a:r>
                        <a:rPr sz="1100" b="0">
                          <a:solidFill>
                            <a:srgbClr val="555F6B"/>
                          </a:solidFill>
                        </a:rPr>
                        <a:t>LiteLLM, web, worker</a:t>
                      </a:r>
                    </a:p>
                  </a:txBody>
                  <a:tcPr marL="45720" marR="45720" marT="18288" marB="18288">
                    <a:solidFill>
                      <a:srgbClr val="EEF3F8"/>
                    </a:solidFill>
                  </a:tcPr>
                </a:tc>
                <a:tc>
                  <a:txBody>
                    <a:bodyPr/>
                    <a:lstStyle/>
                    <a:p>
                      <a:r>
                        <a:rPr sz="1100" b="0">
                          <a:solidFill>
                            <a:srgbClr val="555F6B"/>
                          </a:solidFill>
                        </a:rPr>
                        <a:t>2 bản, 2 zone</a:t>
                      </a:r>
                    </a:p>
                  </a:txBody>
                  <a:tcPr marL="45720" marR="45720" marT="18288" marB="18288">
                    <a:solidFill>
                      <a:srgbClr val="EEF3F8"/>
                    </a:solidFill>
                  </a:tcPr>
                </a:tc>
                <a:tc>
                  <a:txBody>
                    <a:bodyPr/>
                    <a:lstStyle/>
                    <a:p>
                      <a:r>
                        <a:rPr sz="1100" b="0">
                          <a:solidFill>
                            <a:srgbClr val="555F6B"/>
                          </a:solidFill>
                        </a:rPr>
                        <a:t>Image lưu trong Artifact Registry</a:t>
                      </a:r>
                    </a:p>
                  </a:txBody>
                  <a:tcPr marL="45720" marR="45720" marT="18288" marB="18288">
                    <a:solidFill>
                      <a:srgbClr val="EEF3F8"/>
                    </a:solidFill>
                  </a:tcPr>
                </a:tc>
              </a:tr>
              <a:tr h="411480">
                <a:tc>
                  <a:txBody>
                    <a:bodyPr/>
                    <a:lstStyle/>
                    <a:p>
                      <a:r>
                        <a:rPr sz="1100" b="0">
                          <a:solidFill>
                            <a:srgbClr val="555F6B"/>
                          </a:solidFill>
                        </a:rPr>
                        <a:t>Postgres (Cloud SQL)</a:t>
                      </a:r>
                    </a:p>
                  </a:txBody>
                  <a:tcPr marL="45720" marR="45720" marT="18288" marB="18288">
                    <a:solidFill>
                      <a:srgbClr val="FFFFFF"/>
                    </a:solidFill>
                  </a:tcPr>
                </a:tc>
                <a:tc>
                  <a:txBody>
                    <a:bodyPr/>
                    <a:lstStyle/>
                    <a:p>
                      <a:r>
                        <a:rPr sz="1100" b="0">
                          <a:solidFill>
                            <a:srgbClr val="555F6B"/>
                          </a:solidFill>
                        </a:rPr>
                        <a:t>Bản dự phòng ở zone khác, tự chuyển</a:t>
                      </a:r>
                    </a:p>
                  </a:txBody>
                  <a:tcPr marL="45720" marR="45720" marT="18288" marB="18288">
                    <a:solidFill>
                      <a:srgbClr val="FFFFFF"/>
                    </a:solidFill>
                  </a:tcPr>
                </a:tc>
                <a:tc>
                  <a:txBody>
                    <a:bodyPr/>
                    <a:lstStyle/>
                    <a:p>
                      <a:r>
                        <a:rPr sz="1100" b="0">
                          <a:solidFill>
                            <a:srgbClr val="555F6B"/>
                          </a:solidFill>
                        </a:rPr>
                        <a:t>Backup hằng ngày, khôi phục về thời điểm bất kỳ; bản sao ở Jakarta</a:t>
                      </a:r>
                    </a:p>
                  </a:txBody>
                  <a:tcPr marL="45720" marR="45720" marT="18288" marB="18288">
                    <a:solidFill>
                      <a:srgbClr val="FFFFFF"/>
                    </a:solidFill>
                  </a:tcPr>
                </a:tc>
              </a:tr>
              <a:tr h="411480">
                <a:tc>
                  <a:txBody>
                    <a:bodyPr/>
                    <a:lstStyle/>
                    <a:p>
                      <a:r>
                        <a:rPr sz="1100" b="0">
                          <a:solidFill>
                            <a:srgbClr val="555F6B"/>
                          </a:solidFill>
                        </a:rPr>
                        <a:t>Cache</a:t>
                      </a:r>
                    </a:p>
                  </a:txBody>
                  <a:tcPr marL="45720" marR="45720" marT="18288" marB="18288">
                    <a:solidFill>
                      <a:srgbClr val="EEF3F8"/>
                    </a:solidFill>
                  </a:tcPr>
                </a:tc>
                <a:tc>
                  <a:txBody>
                    <a:bodyPr/>
                    <a:lstStyle/>
                    <a:p>
                      <a:r>
                        <a:rPr sz="1100" b="0">
                          <a:solidFill>
                            <a:srgbClr val="555F6B"/>
                          </a:solidFill>
                        </a:rPr>
                        <a:t>Bản chính + bản phụ</a:t>
                      </a:r>
                    </a:p>
                  </a:txBody>
                  <a:tcPr marL="45720" marR="45720" marT="18288" marB="18288">
                    <a:solidFill>
                      <a:srgbClr val="EEF3F8"/>
                    </a:solidFill>
                  </a:tcPr>
                </a:tc>
                <a:tc>
                  <a:txBody>
                    <a:bodyPr/>
                    <a:lstStyle/>
                    <a:p>
                      <a:r>
                        <a:rPr sz="1100" b="0">
                          <a:solidFill>
                            <a:srgbClr val="555F6B"/>
                          </a:solidFill>
                        </a:rPr>
                        <a:t>Không cần (chỉ dữ liệu tạm)</a:t>
                      </a:r>
                    </a:p>
                  </a:txBody>
                  <a:tcPr marL="45720" marR="45720" marT="18288" marB="18288">
                    <a:solidFill>
                      <a:srgbClr val="EEF3F8"/>
                    </a:solidFill>
                  </a:tcPr>
                </a:tc>
              </a:tr>
              <a:tr h="411480">
                <a:tc>
                  <a:txBody>
                    <a:bodyPr/>
                    <a:lstStyle/>
                    <a:p>
                      <a:r>
                        <a:rPr sz="1100" b="0">
                          <a:solidFill>
                            <a:srgbClr val="555F6B"/>
                          </a:solidFill>
                        </a:rPr>
                        <a:t>File workspace</a:t>
                      </a:r>
                    </a:p>
                  </a:txBody>
                  <a:tcPr marL="45720" marR="45720" marT="18288" marB="18288">
                    <a:solidFill>
                      <a:srgbClr val="FFFFFF"/>
                    </a:solidFill>
                  </a:tcPr>
                </a:tc>
                <a:tc>
                  <a:txBody>
                    <a:bodyPr/>
                    <a:lstStyle/>
                    <a:p>
                      <a:r>
                        <a:rPr sz="1100" b="0">
                          <a:solidFill>
                            <a:srgbClr val="555F6B"/>
                          </a:solidFill>
                        </a:rPr>
                        <a:t>Đa zone</a:t>
                      </a:r>
                    </a:p>
                  </a:txBody>
                  <a:tcPr marL="45720" marR="45720" marT="18288" marB="18288">
                    <a:solidFill>
                      <a:srgbClr val="FFFFFF"/>
                    </a:solidFill>
                  </a:tcPr>
                </a:tc>
                <a:tc>
                  <a:txBody>
                    <a:bodyPr/>
                    <a:lstStyle/>
                    <a:p>
                      <a:r>
                        <a:rPr sz="1100" b="0">
                          <a:solidFill>
                            <a:srgbClr val="555F6B"/>
                          </a:solidFill>
                        </a:rPr>
                        <a:t>Lưu ở 2 region</a:t>
                      </a:r>
                    </a:p>
                  </a:txBody>
                  <a:tcPr marL="45720" marR="45720" marT="18288" marB="18288">
                    <a:solidFill>
                      <a:srgbClr val="FFFFFF"/>
                    </a:solidFill>
                  </a:tcPr>
                </a:tc>
              </a:tr>
              <a:tr h="411480">
                <a:tc>
                  <a:txBody>
                    <a:bodyPr/>
                    <a:lstStyle/>
                    <a:p>
                      <a:r>
                        <a:rPr sz="1100" b="0">
                          <a:solidFill>
                            <a:srgbClr val="555F6B"/>
                          </a:solidFill>
                        </a:rPr>
                        <a:t>Vertex AI</a:t>
                      </a:r>
                    </a:p>
                  </a:txBody>
                  <a:tcPr marL="45720" marR="45720" marT="18288" marB="18288">
                    <a:solidFill>
                      <a:srgbClr val="EEF3F8"/>
                    </a:solidFill>
                  </a:tcPr>
                </a:tc>
                <a:tc>
                  <a:txBody>
                    <a:bodyPr/>
                    <a:lstStyle/>
                    <a:p>
                      <a:r>
                        <a:rPr sz="1100" b="0">
                          <a:solidFill>
                            <a:srgbClr val="555F6B"/>
                          </a:solidFill>
                        </a:rPr>
                        <a:t>Endpoint global</a:t>
                      </a:r>
                    </a:p>
                  </a:txBody>
                  <a:tcPr marL="45720" marR="45720" marT="18288" marB="18288">
                    <a:solidFill>
                      <a:srgbClr val="EEF3F8"/>
                    </a:solidFill>
                  </a:tcPr>
                </a:tc>
                <a:tc>
                  <a:txBody>
                    <a:bodyPr/>
                    <a:lstStyle/>
                    <a:p>
                      <a:r>
                        <a:rPr sz="1100" b="0">
                          <a:solidFill>
                            <a:srgbClr val="555F6B"/>
                          </a:solidFill>
                        </a:rPr>
                        <a:t>Model dự phòng qua LiteLLM</a:t>
                      </a:r>
                    </a:p>
                  </a:txBody>
                  <a:tcPr marL="45720" marR="45720" marT="18288" marB="18288">
                    <a:solidFill>
                      <a:srgbClr val="EEF3F8"/>
                    </a:solidFill>
                  </a:tcPr>
                </a:tc>
              </a:tr>
            </a:tbl>
          </a:graphicData>
        </a:graphic>
      </p:graphicFrame>
      <p:sp>
        <p:nvSpPr>
          <p:cNvPr id="8" name="TextBox 7"/>
          <p:cNvSpPr txBox="1"/>
          <p:nvPr/>
        </p:nvSpPr>
        <p:spPr>
          <a:xfrm>
            <a:off x="7132320" y="1371600"/>
            <a:ext cx="4663440" cy="4754880"/>
          </a:xfrm>
          <a:prstGeom prst="rect">
            <a:avLst/>
          </a:prstGeom>
          <a:noFill/>
        </p:spPr>
        <p:txBody>
          <a:bodyPr wrap="square">
            <a:spAutoFit/>
          </a:bodyPr>
          <a:lstStyle/>
          <a:p>
            <a:pPr algn="l">
              <a:spcAft>
                <a:spcPts val="400"/>
              </a:spcAft>
            </a:pPr>
            <a:r>
              <a:rPr sz="1200" b="1">
                <a:solidFill>
                  <a:srgbClr val="555F6B"/>
                </a:solidFill>
              </a:rPr>
              <a:t>Khi mất 1 zone lúc 10:00</a:t>
            </a:r>
          </a:p>
          <a:p>
            <a:pPr algn="l">
              <a:spcAft>
                <a:spcPts val="400"/>
              </a:spcAft>
            </a:pPr>
            <a:r>
              <a:rPr sz="1200" b="0">
                <a:solidFill>
                  <a:srgbClr val="555F6B"/>
                </a:solidFill>
              </a:rPr>
              <a:t>Cân bằng tải chuyển traffic sang zone còn lại; GKE tạo thêm pod</a:t>
            </a:r>
          </a:p>
          <a:p>
            <a:pPr algn="l">
              <a:spcAft>
                <a:spcPts val="400"/>
              </a:spcAft>
            </a:pPr>
            <a:r>
              <a:rPr sz="1200" b="0">
                <a:solidFill>
                  <a:srgbClr val="555F6B"/>
                </a:solidFill>
              </a:rPr>
              <a:t>Postgres tự chuyển sang bản dự phòng trong vài chục giây đến 1–2 phút</a:t>
            </a:r>
          </a:p>
          <a:p>
            <a:pPr algn="l">
              <a:spcAft>
                <a:spcPts val="400"/>
              </a:spcAft>
            </a:pPr>
            <a:r>
              <a:rPr sz="1200" b="0">
                <a:solidFill>
                  <a:srgbClr val="555F6B"/>
                </a:solidFill>
              </a:rPr>
              <a:t>Vài request lỗi, user gửi lại được; dữ liệu đã lưu không mất</a:t>
            </a:r>
          </a:p>
          <a:p>
            <a:pPr algn="l">
              <a:spcAft>
                <a:spcPts val="400"/>
              </a:spcAft>
            </a:pPr>
            <a:r>
              <a:rPr sz="1200" b="1">
                <a:solidFill>
                  <a:srgbClr val="555F6B"/>
                </a:solidFill>
              </a:rPr>
              <a:t>Khi mất cả region Singapore</a:t>
            </a:r>
          </a:p>
          <a:p>
            <a:pPr algn="l">
              <a:spcAft>
                <a:spcPts val="400"/>
              </a:spcAft>
            </a:pPr>
            <a:r>
              <a:rPr sz="1200" b="0">
                <a:solidFill>
                  <a:srgbClr val="555F6B"/>
                </a:solidFill>
              </a:rPr>
              <a:t>Dựng lại ở Jakarta bằng Terraform và backup đã sao chép: ≤ 4 giờ, mất ≤ 1 giờ dữ liệu</a:t>
            </a:r>
          </a:p>
          <a:p>
            <a:pPr algn="l">
              <a:spcAft>
                <a:spcPts val="400"/>
              </a:spcAft>
            </a:pPr>
            <a:r>
              <a:rPr sz="1200" b="1">
                <a:solidFill>
                  <a:srgbClr val="555F6B"/>
                </a:solidFill>
              </a:rPr>
              <a:t>Diễn tập và chi phí</a:t>
            </a:r>
          </a:p>
          <a:p>
            <a:pPr algn="l">
              <a:spcAft>
                <a:spcPts val="400"/>
              </a:spcAft>
            </a:pPr>
            <a:r>
              <a:rPr sz="1200" b="0">
                <a:solidFill>
                  <a:srgbClr val="555F6B"/>
                </a:solidFill>
              </a:rPr>
              <a:t>Thử khôi phục DB mỗi quý, dựng region DR mỗi 6 tháng. backup_dr: 164 USD/tháng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10. Mỗi user có quota USD; vượt thì hạ cấp (H8)</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LiteLLM ghi chi phí của từng user và phòng ban, nên mỗi tháng biết ai tiêu bao nhiêu và chặn được khi vượt</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10</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sp>
        <p:nvSpPr>
          <p:cNvPr id="7" name="TextBox 6"/>
          <p:cNvSpPr txBox="1"/>
          <p:nvPr/>
        </p:nvSpPr>
        <p:spPr>
          <a:xfrm>
            <a:off x="457200" y="1371600"/>
            <a:ext cx="5577840" cy="4572000"/>
          </a:xfrm>
          <a:prstGeom prst="rect">
            <a:avLst/>
          </a:prstGeom>
          <a:noFill/>
        </p:spPr>
        <p:txBody>
          <a:bodyPr wrap="square">
            <a:spAutoFit/>
          </a:bodyPr>
          <a:lstStyle/>
          <a:p>
            <a:pPr algn="l">
              <a:spcAft>
                <a:spcPts val="400"/>
              </a:spcAft>
            </a:pPr>
            <a:r>
              <a:rPr sz="1300" b="1">
                <a:solidFill>
                  <a:srgbClr val="555F6B"/>
                </a:solidFill>
              </a:rPr>
              <a:t>Cảnh báo chính</a:t>
            </a:r>
          </a:p>
          <a:p>
            <a:pPr algn="l">
              <a:spcAft>
                <a:spcPts val="400"/>
              </a:spcAft>
            </a:pPr>
            <a:r>
              <a:rPr sz="1300" b="0">
                <a:solidFill>
                  <a:srgbClr val="555F6B"/>
                </a:solidFill>
              </a:rPr>
              <a:t>Chậm: p95 thời gian tới token đầu tiên &gt; 3 giây trong 10 phút</a:t>
            </a:r>
          </a:p>
          <a:p>
            <a:pPr algn="l">
              <a:spcAft>
                <a:spcPts val="400"/>
              </a:spcAft>
            </a:pPr>
            <a:r>
              <a:rPr sz="1300" b="0">
                <a:solidFill>
                  <a:srgbClr val="555F6B"/>
                </a:solidFill>
              </a:rPr>
              <a:t>Agent chạy quá 10 phút; tỉ lệ lỗi &gt; 2%</a:t>
            </a:r>
          </a:p>
          <a:p>
            <a:pPr algn="l">
              <a:spcAft>
                <a:spcPts val="400"/>
              </a:spcAft>
            </a:pPr>
            <a:r>
              <a:rPr sz="1300" b="0">
                <a:solidFill>
                  <a:srgbClr val="555F6B"/>
                </a:solidFill>
              </a:rPr>
              <a:t>Cache hit &lt; 50%, tức chi phí LLM sắp tăng</a:t>
            </a:r>
          </a:p>
          <a:p>
            <a:pPr algn="l">
              <a:spcAft>
                <a:spcPts val="400"/>
              </a:spcAft>
            </a:pPr>
            <a:r>
              <a:rPr sz="1300" b="0">
                <a:solidFill>
                  <a:srgbClr val="555F6B"/>
                </a:solidFill>
              </a:rPr>
              <a:t>Chi tiêu trong ngày vượt dự báo 20%</a:t>
            </a:r>
          </a:p>
          <a:p>
            <a:pPr algn="l">
              <a:spcAft>
                <a:spcPts val="400"/>
              </a:spcAft>
            </a:pPr>
            <a:r>
              <a:rPr sz="1300" b="1">
                <a:solidFill>
                  <a:srgbClr val="555F6B"/>
                </a:solidFill>
              </a:rPr>
              <a:t>Dashboard</a:t>
            </a:r>
          </a:p>
          <a:p>
            <a:pPr algn="l">
              <a:spcAft>
                <a:spcPts val="400"/>
              </a:spcAft>
            </a:pPr>
            <a:r>
              <a:rPr sz="1300" b="0">
                <a:solidFill>
                  <a:srgbClr val="555F6B"/>
                </a:solidFill>
              </a:rPr>
              <a:t>Token và USD theo user, phòng ban, model, cấp</a:t>
            </a:r>
          </a:p>
          <a:p>
            <a:pPr algn="l">
              <a:spcAft>
                <a:spcPts val="400"/>
              </a:spcAft>
            </a:pPr>
            <a:r>
              <a:rPr sz="1300" b="0">
                <a:solidFill>
                  <a:srgbClr val="555F6B"/>
                </a:solidFill>
              </a:rPr>
              <a:t>Số lần guardrail chặn, số hành động ghi bị user từ chối</a:t>
            </a:r>
          </a:p>
        </p:txBody>
      </p:sp>
      <p:graphicFrame>
        <p:nvGraphicFramePr>
          <p:cNvPr id="8" name="Table 7"/>
          <p:cNvGraphicFramePr>
            <a:graphicFrameLocks noGrp="1"/>
          </p:cNvGraphicFramePr>
          <p:nvPr/>
        </p:nvGraphicFramePr>
        <p:xfrm>
          <a:off x="6309360" y="1371600"/>
          <a:ext cx="5486400" cy="2286000"/>
        </p:xfrm>
        <a:graphic>
          <a:graphicData uri="http://schemas.openxmlformats.org/drawingml/2006/table">
            <a:tbl>
              <a:tblPr firstRow="1" bandRow="1">
                <a:tableStyleId>{5C22544A-7EE6-4342-B048-85BDC9FD1C3A}</a:tableStyleId>
              </a:tblPr>
              <a:tblGrid>
                <a:gridCol w="2011680"/>
                <a:gridCol w="3474720"/>
              </a:tblGrid>
              <a:tr h="457200">
                <a:tc>
                  <a:txBody>
                    <a:bodyPr/>
                    <a:lstStyle/>
                    <a:p>
                      <a:r>
                        <a:rPr sz="1200" b="1">
                          <a:solidFill>
                            <a:srgbClr val="FFFFFF"/>
                          </a:solidFill>
                        </a:rPr>
                        <a:t>Mức dùng quota tháng</a:t>
                      </a:r>
                    </a:p>
                  </a:txBody>
                  <a:tcPr marL="45720" marR="45720" marT="18288" marB="18288">
                    <a:solidFill>
                      <a:srgbClr val="2E6FB7"/>
                    </a:solidFill>
                  </a:tcPr>
                </a:tc>
                <a:tc>
                  <a:txBody>
                    <a:bodyPr/>
                    <a:lstStyle/>
                    <a:p>
                      <a:r>
                        <a:rPr sz="1200" b="1">
                          <a:solidFill>
                            <a:srgbClr val="FFFFFF"/>
                          </a:solidFill>
                        </a:rPr>
                        <a:t>Hành động</a:t>
                      </a:r>
                    </a:p>
                  </a:txBody>
                  <a:tcPr marL="45720" marR="45720" marT="18288" marB="18288">
                    <a:solidFill>
                      <a:srgbClr val="2E6FB7"/>
                    </a:solidFill>
                  </a:tcPr>
                </a:tc>
              </a:tr>
              <a:tr h="457200">
                <a:tc>
                  <a:txBody>
                    <a:bodyPr/>
                    <a:lstStyle/>
                    <a:p>
                      <a:r>
                        <a:rPr sz="1200" b="0">
                          <a:solidFill>
                            <a:srgbClr val="555F6B"/>
                          </a:solidFill>
                        </a:rPr>
                        <a:t>80%</a:t>
                      </a:r>
                    </a:p>
                  </a:txBody>
                  <a:tcPr marL="45720" marR="45720" marT="18288" marB="18288">
                    <a:solidFill>
                      <a:srgbClr val="EEF3F8"/>
                    </a:solidFill>
                  </a:tcPr>
                </a:tc>
                <a:tc>
                  <a:txBody>
                    <a:bodyPr/>
                    <a:lstStyle/>
                    <a:p>
                      <a:r>
                        <a:rPr sz="1200" b="0">
                          <a:solidFill>
                            <a:srgbClr val="555F6B"/>
                          </a:solidFill>
                        </a:rPr>
                        <a:t>Cảnh báo user; báo trưởng phòng nếu là quota phòng</a:t>
                      </a:r>
                    </a:p>
                  </a:txBody>
                  <a:tcPr marL="45720" marR="45720" marT="18288" marB="18288">
                    <a:solidFill>
                      <a:srgbClr val="EEF3F8"/>
                    </a:solidFill>
                  </a:tcPr>
                </a:tc>
              </a:tr>
              <a:tr h="457200">
                <a:tc>
                  <a:txBody>
                    <a:bodyPr/>
                    <a:lstStyle/>
                    <a:p>
                      <a:r>
                        <a:rPr sz="1200" b="0">
                          <a:solidFill>
                            <a:srgbClr val="555F6B"/>
                          </a:solidFill>
                        </a:rPr>
                        <a:t>100%</a:t>
                      </a:r>
                    </a:p>
                  </a:txBody>
                  <a:tcPr marL="45720" marR="45720" marT="18288" marB="18288">
                    <a:solidFill>
                      <a:srgbClr val="FFFFFF"/>
                    </a:solidFill>
                  </a:tcPr>
                </a:tc>
                <a:tc>
                  <a:txBody>
                    <a:bodyPr/>
                    <a:lstStyle/>
                    <a:p>
                      <a:r>
                        <a:rPr sz="1200" b="0">
                          <a:solidFill>
                            <a:srgbClr val="555F6B"/>
                          </a:solidFill>
                        </a:rPr>
                        <a:t>Hạ cấp: cấp 1–2 chỉ dùng model rẻ nhất; khóa cấp 4–5</a:t>
                      </a:r>
                    </a:p>
                  </a:txBody>
                  <a:tcPr marL="45720" marR="45720" marT="18288" marB="18288">
                    <a:solidFill>
                      <a:srgbClr val="FFFFFF"/>
                    </a:solidFill>
                  </a:tcPr>
                </a:tc>
              </a:tr>
              <a:tr h="457200">
                <a:tc>
                  <a:txBody>
                    <a:bodyPr/>
                    <a:lstStyle/>
                    <a:p>
                      <a:r>
                        <a:rPr sz="1200" b="0">
                          <a:solidFill>
                            <a:srgbClr val="555F6B"/>
                          </a:solidFill>
                        </a:rPr>
                        <a:t>120%</a:t>
                      </a:r>
                    </a:p>
                  </a:txBody>
                  <a:tcPr marL="45720" marR="45720" marT="18288" marB="18288">
                    <a:solidFill>
                      <a:srgbClr val="EEF3F8"/>
                    </a:solidFill>
                  </a:tcPr>
                </a:tc>
                <a:tc>
                  <a:txBody>
                    <a:bodyPr/>
                    <a:lstStyle/>
                    <a:p>
                      <a:r>
                        <a:rPr sz="1200" b="0">
                          <a:solidFill>
                            <a:srgbClr val="555F6B"/>
                          </a:solidFill>
                        </a:rPr>
                        <a:t>Chặn đến đầu tháng sau, trừ khi trưởng phòng duyệt</a:t>
                      </a:r>
                    </a:p>
                  </a:txBody>
                  <a:tcPr marL="45720" marR="45720" marT="18288" marB="18288">
                    <a:solidFill>
                      <a:srgbClr val="EEF3F8"/>
                    </a:solidFill>
                  </a:tcPr>
                </a:tc>
              </a:tr>
              <a:tr h="457200">
                <a:tc>
                  <a:txBody>
                    <a:bodyPr/>
                    <a:lstStyle/>
                    <a:p>
                      <a:r>
                        <a:rPr sz="1200" b="0">
                          <a:solidFill>
                            <a:srgbClr val="555F6B"/>
                          </a:solidFill>
                        </a:rPr>
                        <a:t>90% ngân sách hệ thống</a:t>
                      </a:r>
                    </a:p>
                  </a:txBody>
                  <a:tcPr marL="45720" marR="45720" marT="18288" marB="18288">
                    <a:solidFill>
                      <a:srgbClr val="FFFFFF"/>
                    </a:solidFill>
                  </a:tcPr>
                </a:tc>
                <a:tc>
                  <a:txBody>
                    <a:bodyPr/>
                    <a:lstStyle/>
                    <a:p>
                      <a:r>
                        <a:rPr sz="1200" b="0">
                          <a:solidFill>
                            <a:srgbClr val="555F6B"/>
                          </a:solidFill>
                        </a:rPr>
                        <a:t>Cảnh báo nhóm FinOps và ban IT</a:t>
                      </a:r>
                    </a:p>
                  </a:txBody>
                  <a:tcPr marL="45720" marR="45720" marT="18288" marB="18288">
                    <a:solidFill>
                      <a:srgbClr val="FFFFFF"/>
                    </a:solidFill>
                  </a:tcPr>
                </a:tc>
              </a:tr>
            </a:tbl>
          </a:graphicData>
        </a:graphic>
      </p:graphicFrame>
      <p:sp>
        <p:nvSpPr>
          <p:cNvPr id="9" name="TextBox 8"/>
          <p:cNvSpPr txBox="1"/>
          <p:nvPr/>
        </p:nvSpPr>
        <p:spPr>
          <a:xfrm>
            <a:off x="6309360" y="3931920"/>
            <a:ext cx="5486400" cy="2103120"/>
          </a:xfrm>
          <a:prstGeom prst="rect">
            <a:avLst/>
          </a:prstGeom>
          <a:noFill/>
        </p:spPr>
        <p:txBody>
          <a:bodyPr wrap="square">
            <a:spAutoFit/>
          </a:bodyPr>
          <a:lstStyle/>
          <a:p>
            <a:pPr algn="l">
              <a:spcAft>
                <a:spcPts val="400"/>
              </a:spcAft>
            </a:pPr>
            <a:r>
              <a:rPr sz="1200" b="1">
                <a:solidFill>
                  <a:srgbClr val="555F6B"/>
                </a:solidFill>
              </a:rPr>
              <a:t>Quota đặt bao nhiêu?</a:t>
            </a:r>
          </a:p>
          <a:p>
            <a:pPr algn="l">
              <a:spcAft>
                <a:spcPts val="400"/>
              </a:spcAft>
            </a:pPr>
            <a:r>
              <a:rPr sz="1200" b="0">
                <a:solidFill>
                  <a:srgbClr val="555F6B"/>
                </a:solidFill>
              </a:rPr>
              <a:t>Chi phí theo lượt dùng (LLM + guardrail + sandbox) ≈ 1,11 USD/user/tháng</a:t>
            </a:r>
          </a:p>
          <a:p>
            <a:pPr algn="l">
              <a:spcAft>
                <a:spcPts val="400"/>
              </a:spcAft>
            </a:pPr>
            <a:r>
              <a:rPr sz="1200" b="0">
                <a:solidFill>
                  <a:srgbClr val="555F6B"/>
                </a:solidFill>
              </a:rPr>
              <a:t>Quota mặc định: 3 USD/user/tháng, gần 3 lần mức trung bình, đủ cho người dùng nhiều</a:t>
            </a:r>
          </a:p>
          <a:p>
            <a:pPr algn="l">
              <a:spcAft>
                <a:spcPts val="400"/>
              </a:spcAft>
            </a:pPr>
            <a:r>
              <a:rPr sz="1200" b="0">
                <a:solidFill>
                  <a:srgbClr val="555F6B"/>
                </a:solidFill>
              </a:rPr>
              <a:t>Báo cáo hằng tháng theo phòng ban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11. Chi phí: một nửa là nhân sự, LLM chỉ 16%</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Tổng 6.821,44 USD/tháng, tức 3,41 USD/DAU. Bảng dưới giải thích vì sao mỗi khoản ra con số này</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11a</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graphicFrame>
        <p:nvGraphicFramePr>
          <p:cNvPr id="7" name="Table 6"/>
          <p:cNvGraphicFramePr>
            <a:graphicFrameLocks noGrp="1"/>
          </p:cNvGraphicFramePr>
          <p:nvPr/>
        </p:nvGraphicFramePr>
        <p:xfrm>
          <a:off x="457200" y="1371600"/>
          <a:ext cx="11247120" cy="4352544"/>
        </p:xfrm>
        <a:graphic>
          <a:graphicData uri="http://schemas.openxmlformats.org/drawingml/2006/table">
            <a:tbl>
              <a:tblPr firstRow="1" bandRow="1">
                <a:tableStyleId>{5C22544A-7EE6-4342-B048-85BDC9FD1C3A}</a:tableStyleId>
              </a:tblPr>
              <a:tblGrid>
                <a:gridCol w="1645920"/>
                <a:gridCol w="1005840"/>
                <a:gridCol w="640080"/>
                <a:gridCol w="4297680"/>
                <a:gridCol w="3657600"/>
              </a:tblGrid>
              <a:tr h="621792">
                <a:tc>
                  <a:txBody>
                    <a:bodyPr/>
                    <a:lstStyle/>
                    <a:p>
                      <a:r>
                        <a:rPr sz="1100" b="1">
                          <a:solidFill>
                            <a:srgbClr val="FFFFFF"/>
                          </a:solidFill>
                        </a:rPr>
                        <a:t>Khoản</a:t>
                      </a:r>
                    </a:p>
                  </a:txBody>
                  <a:tcPr marL="45720" marR="45720" marT="18288" marB="18288">
                    <a:solidFill>
                      <a:srgbClr val="2E6FB7"/>
                    </a:solidFill>
                  </a:tcPr>
                </a:tc>
                <a:tc>
                  <a:txBody>
                    <a:bodyPr/>
                    <a:lstStyle/>
                    <a:p>
                      <a:r>
                        <a:rPr sz="1100" b="1">
                          <a:solidFill>
                            <a:srgbClr val="FFFFFF"/>
                          </a:solidFill>
                        </a:rPr>
                        <a:t>USD/tháng</a:t>
                      </a:r>
                    </a:p>
                  </a:txBody>
                  <a:tcPr marL="45720" marR="45720" marT="18288" marB="18288">
                    <a:solidFill>
                      <a:srgbClr val="2E6FB7"/>
                    </a:solidFill>
                  </a:tcPr>
                </a:tc>
                <a:tc>
                  <a:txBody>
                    <a:bodyPr/>
                    <a:lstStyle/>
                    <a:p>
                      <a:r>
                        <a:rPr sz="1100" b="1">
                          <a:solidFill>
                            <a:srgbClr val="FFFFFF"/>
                          </a:solidFill>
                        </a:rPr>
                        <a:t>%</a:t>
                      </a:r>
                    </a:p>
                  </a:txBody>
                  <a:tcPr marL="45720" marR="45720" marT="18288" marB="18288">
                    <a:solidFill>
                      <a:srgbClr val="2E6FB7"/>
                    </a:solidFill>
                  </a:tcPr>
                </a:tc>
                <a:tc>
                  <a:txBody>
                    <a:bodyPr/>
                    <a:lstStyle/>
                    <a:p>
                      <a:r>
                        <a:rPr sz="1100" b="1">
                          <a:solidFill>
                            <a:srgbClr val="FFFFFF"/>
                          </a:solidFill>
                        </a:rPr>
                        <a:t>Cách tính</a:t>
                      </a:r>
                    </a:p>
                  </a:txBody>
                  <a:tcPr marL="45720" marR="45720" marT="18288" marB="18288">
                    <a:solidFill>
                      <a:srgbClr val="2E6FB7"/>
                    </a:solidFill>
                  </a:tcPr>
                </a:tc>
                <a:tc>
                  <a:txBody>
                    <a:bodyPr/>
                    <a:lstStyle/>
                    <a:p>
                      <a:r>
                        <a:rPr sz="1100" b="1">
                          <a:solidFill>
                            <a:srgbClr val="FFFFFF"/>
                          </a:solidFill>
                        </a:rPr>
                        <a:t>Vì sao lớn hay nhỏ</a:t>
                      </a:r>
                    </a:p>
                  </a:txBody>
                  <a:tcPr marL="45720" marR="45720" marT="18288" marB="18288">
                    <a:solidFill>
                      <a:srgbClr val="2E6FB7"/>
                    </a:solidFill>
                  </a:tcPr>
                </a:tc>
              </a:tr>
              <a:tr h="621792">
                <a:tc>
                  <a:txBody>
                    <a:bodyPr/>
                    <a:lstStyle/>
                    <a:p>
                      <a:r>
                        <a:rPr sz="1100" b="0">
                          <a:solidFill>
                            <a:srgbClr val="555F6B"/>
                          </a:solidFill>
                        </a:rPr>
                        <a:t>ops_labor (nhân sự)</a:t>
                      </a:r>
                    </a:p>
                  </a:txBody>
                  <a:tcPr marL="45720" marR="45720" marT="18288" marB="18288">
                    <a:solidFill>
                      <a:srgbClr val="EEF3F8"/>
                    </a:solidFill>
                  </a:tcPr>
                </a:tc>
                <a:tc>
                  <a:txBody>
                    <a:bodyPr/>
                    <a:lstStyle/>
                    <a:p>
                      <a:r>
                        <a:rPr sz="1100" b="0">
                          <a:solidFill>
                            <a:srgbClr val="555F6B"/>
                          </a:solidFill>
                        </a:rPr>
                        <a:t>3.400</a:t>
                      </a:r>
                    </a:p>
                  </a:txBody>
                  <a:tcPr marL="45720" marR="45720" marT="18288" marB="18288">
                    <a:solidFill>
                      <a:srgbClr val="EEF3F8"/>
                    </a:solidFill>
                  </a:tcPr>
                </a:tc>
                <a:tc>
                  <a:txBody>
                    <a:bodyPr/>
                    <a:lstStyle/>
                    <a:p>
                      <a:r>
                        <a:rPr sz="1100" b="0">
                          <a:solidFill>
                            <a:srgbClr val="555F6B"/>
                          </a:solidFill>
                        </a:rPr>
                        <a:t>50%</a:t>
                      </a:r>
                    </a:p>
                  </a:txBody>
                  <a:tcPr marL="45720" marR="45720" marT="18288" marB="18288">
                    <a:solidFill>
                      <a:srgbClr val="EEF3F8"/>
                    </a:solidFill>
                  </a:tcPr>
                </a:tc>
                <a:tc>
                  <a:txBody>
                    <a:bodyPr/>
                    <a:lstStyle/>
                    <a:p>
                      <a:r>
                        <a:rPr sz="1100" b="0">
                          <a:solidFill>
                            <a:srgbClr val="555F6B"/>
                          </a:solidFill>
                        </a:rPr>
                        <a:t>2 kỹ sư trực luân phiên: SRE 5–8 năm (53,85 triệu VND) + AI/MLOps 3–4 năm (34,1 triệu VND) = 87,95 triệu VND ÷ 25.870 VND/USD</a:t>
                      </a:r>
                    </a:p>
                  </a:txBody>
                  <a:tcPr marL="45720" marR="45720" marT="18288" marB="18288">
                    <a:solidFill>
                      <a:srgbClr val="EEF3F8"/>
                    </a:solidFill>
                  </a:tcPr>
                </a:tc>
                <a:tc>
                  <a:txBody>
                    <a:bodyPr/>
                    <a:lstStyle/>
                    <a:p>
                      <a:r>
                        <a:rPr sz="1100" b="0">
                          <a:solidFill>
                            <a:srgbClr val="555F6B"/>
                          </a:solidFill>
                        </a:rPr>
                        <a:t>Lớn nhất vì cố định: cần người trực để giữ 99,5% (H7), vận hành LiteLLM và eval. Không giảm khi ít người dùng</a:t>
                      </a:r>
                    </a:p>
                  </a:txBody>
                  <a:tcPr marL="45720" marR="45720" marT="18288" marB="18288">
                    <a:solidFill>
                      <a:srgbClr val="EEF3F8"/>
                    </a:solidFill>
                  </a:tcPr>
                </a:tc>
              </a:tr>
              <a:tr h="621792">
                <a:tc>
                  <a:txBody>
                    <a:bodyPr/>
                    <a:lstStyle/>
                    <a:p>
                      <a:r>
                        <a:rPr sz="1100" b="0">
                          <a:solidFill>
                            <a:srgbClr val="555F6B"/>
                          </a:solidFill>
                        </a:rPr>
                        <a:t>llm</a:t>
                      </a:r>
                    </a:p>
                  </a:txBody>
                  <a:tcPr marL="45720" marR="45720" marT="18288" marB="18288">
                    <a:solidFill>
                      <a:srgbClr val="FFFFFF"/>
                    </a:solidFill>
                  </a:tcPr>
                </a:tc>
                <a:tc>
                  <a:txBody>
                    <a:bodyPr/>
                    <a:lstStyle/>
                    <a:p>
                      <a:r>
                        <a:rPr sz="1100" b="0">
                          <a:solidFill>
                            <a:srgbClr val="555F6B"/>
                          </a:solidFill>
                        </a:rPr>
                        <a:t>1.093</a:t>
                      </a:r>
                    </a:p>
                  </a:txBody>
                  <a:tcPr marL="45720" marR="45720" marT="18288" marB="18288">
                    <a:solidFill>
                      <a:srgbClr val="FFFFFF"/>
                    </a:solidFill>
                  </a:tcPr>
                </a:tc>
                <a:tc>
                  <a:txBody>
                    <a:bodyPr/>
                    <a:lstStyle/>
                    <a:p>
                      <a:r>
                        <a:rPr sz="1100" b="0">
                          <a:solidFill>
                            <a:srgbClr val="555F6B"/>
                          </a:solidFill>
                        </a:rPr>
                        <a:t>16%</a:t>
                      </a:r>
                    </a:p>
                  </a:txBody>
                  <a:tcPr marL="45720" marR="45720" marT="18288" marB="18288">
                    <a:solidFill>
                      <a:srgbClr val="FFFFFF"/>
                    </a:solidFill>
                  </a:tcPr>
                </a:tc>
                <a:tc>
                  <a:txBody>
                    <a:bodyPr/>
                    <a:lstStyle/>
                    <a:p>
                      <a:r>
                        <a:rPr sz="1100" b="0">
                          <a:solidFill>
                            <a:srgbClr val="555F6B"/>
                          </a:solidFill>
                        </a:rPr>
                        <a:t>Lượt × số lần gọi model × token × giá. Cấp 1: 386 · cấp 2: 288 · cấp 3: 161 · cấp 4: 105 · cấp 5: 7 + ảnh 147 (4.312 ảnh × 0,034)</a:t>
                      </a:r>
                    </a:p>
                  </a:txBody>
                  <a:tcPr marL="45720" marR="45720" marT="18288" marB="18288">
                    <a:solidFill>
                      <a:srgbClr val="FFFFFF"/>
                    </a:solidFill>
                  </a:tcPr>
                </a:tc>
                <a:tc>
                  <a:txBody>
                    <a:bodyPr/>
                    <a:lstStyle/>
                    <a:p>
                      <a:r>
                        <a:rPr sz="1100" b="0">
                          <a:solidFill>
                            <a:srgbClr val="555F6B"/>
                          </a:solidFill>
                        </a:rPr>
                        <a:t>Nhỏ vì Haiku rẻ (0,10 USD/1M token vào) và 61% token vào đọc từ cache với giá 0,01</a:t>
                      </a:r>
                    </a:p>
                  </a:txBody>
                  <a:tcPr marL="45720" marR="45720" marT="18288" marB="18288">
                    <a:solidFill>
                      <a:srgbClr val="FFFFFF"/>
                    </a:solidFill>
                  </a:tcPr>
                </a:tc>
              </a:tr>
              <a:tr h="621792">
                <a:tc>
                  <a:txBody>
                    <a:bodyPr/>
                    <a:lstStyle/>
                    <a:p>
                      <a:r>
                        <a:rPr sz="1100" b="0">
                          <a:solidFill>
                            <a:srgbClr val="555F6B"/>
                          </a:solidFill>
                        </a:rPr>
                        <a:t>governance</a:t>
                      </a:r>
                    </a:p>
                  </a:txBody>
                  <a:tcPr marL="45720" marR="45720" marT="18288" marB="18288">
                    <a:solidFill>
                      <a:srgbClr val="EEF3F8"/>
                    </a:solidFill>
                  </a:tcPr>
                </a:tc>
                <a:tc>
                  <a:txBody>
                    <a:bodyPr/>
                    <a:lstStyle/>
                    <a:p>
                      <a:r>
                        <a:rPr sz="1100" b="0">
                          <a:solidFill>
                            <a:srgbClr val="555F6B"/>
                          </a:solidFill>
                        </a:rPr>
                        <a:t>806</a:t>
                      </a:r>
                    </a:p>
                  </a:txBody>
                  <a:tcPr marL="45720" marR="45720" marT="18288" marB="18288">
                    <a:solidFill>
                      <a:srgbClr val="EEF3F8"/>
                    </a:solidFill>
                  </a:tcPr>
                </a:tc>
                <a:tc>
                  <a:txBody>
                    <a:bodyPr/>
                    <a:lstStyle/>
                    <a:p>
                      <a:r>
                        <a:rPr sz="1100" b="0">
                          <a:solidFill>
                            <a:srgbClr val="555F6B"/>
                          </a:solidFill>
                        </a:rPr>
                        <a:t>12%</a:t>
                      </a:r>
                    </a:p>
                  </a:txBody>
                  <a:tcPr marL="45720" marR="45720" marT="18288" marB="18288">
                    <a:solidFill>
                      <a:srgbClr val="EEF3F8"/>
                    </a:solidFill>
                  </a:tcPr>
                </a:tc>
                <a:tc>
                  <a:txBody>
                    <a:bodyPr/>
                    <a:lstStyle/>
                    <a:p>
                      <a:r>
                        <a:rPr sz="1100" b="0">
                          <a:solidFill>
                            <a:srgbClr val="555F6B"/>
                          </a:solidFill>
                        </a:rPr>
                        <a:t>Guardrail: 2,81 tỉ token × 0,10 USD/1M = 281. Eval gate: 4 lần/tháng × 5 cấp × 100 nhiệm vụ = 525</a:t>
                      </a:r>
                    </a:p>
                  </a:txBody>
                  <a:tcPr marL="45720" marR="45720" marT="18288" marB="18288">
                    <a:solidFill>
                      <a:srgbClr val="EEF3F8"/>
                    </a:solidFill>
                  </a:tcPr>
                </a:tc>
                <a:tc>
                  <a:txBody>
                    <a:bodyPr/>
                    <a:lstStyle/>
                    <a:p>
                      <a:r>
                        <a:rPr sz="1100" b="0">
                          <a:solidFill>
                            <a:srgbClr val="555F6B"/>
                          </a:solidFill>
                        </a:rPr>
                        <a:t>Eval đắt hơn guardrail vì Opus 5.5 vừa làm bài mẫu vừa chấm điểm</a:t>
                      </a:r>
                    </a:p>
                  </a:txBody>
                  <a:tcPr marL="45720" marR="45720" marT="18288" marB="18288">
                    <a:solidFill>
                      <a:srgbClr val="EEF3F8"/>
                    </a:solidFill>
                  </a:tcPr>
                </a:tc>
              </a:tr>
              <a:tr h="621792">
                <a:tc>
                  <a:txBody>
                    <a:bodyPr/>
                    <a:lstStyle/>
                    <a:p>
                      <a:r>
                        <a:rPr sz="1100" b="0">
                          <a:solidFill>
                            <a:srgbClr val="555F6B"/>
                          </a:solidFill>
                        </a:rPr>
                        <a:t>database</a:t>
                      </a:r>
                    </a:p>
                  </a:txBody>
                  <a:tcPr marL="45720" marR="45720" marT="18288" marB="18288">
                    <a:solidFill>
                      <a:srgbClr val="FFFFFF"/>
                    </a:solidFill>
                  </a:tcPr>
                </a:tc>
                <a:tc>
                  <a:txBody>
                    <a:bodyPr/>
                    <a:lstStyle/>
                    <a:p>
                      <a:r>
                        <a:rPr sz="1100" b="0">
                          <a:solidFill>
                            <a:srgbClr val="555F6B"/>
                          </a:solidFill>
                        </a:rPr>
                        <a:t>467</a:t>
                      </a:r>
                    </a:p>
                  </a:txBody>
                  <a:tcPr marL="45720" marR="45720" marT="18288" marB="18288">
                    <a:solidFill>
                      <a:srgbClr val="FFFFFF"/>
                    </a:solidFill>
                  </a:tcPr>
                </a:tc>
                <a:tc>
                  <a:txBody>
                    <a:bodyPr/>
                    <a:lstStyle/>
                    <a:p>
                      <a:r>
                        <a:rPr sz="1100" b="0">
                          <a:solidFill>
                            <a:srgbClr val="555F6B"/>
                          </a:solidFill>
                        </a:rPr>
                        <a:t>7%</a:t>
                      </a:r>
                    </a:p>
                  </a:txBody>
                  <a:tcPr marL="45720" marR="45720" marT="18288" marB="18288">
                    <a:solidFill>
                      <a:srgbClr val="FFFFFF"/>
                    </a:solidFill>
                  </a:tcPr>
                </a:tc>
                <a:tc>
                  <a:txBody>
                    <a:bodyPr/>
                    <a:lstStyle/>
                    <a:p>
                      <a:r>
                        <a:rPr sz="1100" b="0">
                          <a:solidFill>
                            <a:srgbClr val="555F6B"/>
                          </a:solidFill>
                        </a:rPr>
                        <a:t>Postgres HA 2 vCPU, 13 GB × 730 giờ = 355 · SSD 150 GB = 71 · database staging = 41</a:t>
                      </a:r>
                    </a:p>
                  </a:txBody>
                  <a:tcPr marL="45720" marR="45720" marT="18288" marB="18288">
                    <a:solidFill>
                      <a:srgbClr val="FFFFFF"/>
                    </a:solidFill>
                  </a:tcPr>
                </a:tc>
                <a:tc>
                  <a:txBody>
                    <a:bodyPr/>
                    <a:lstStyle/>
                    <a:p>
                      <a:r>
                        <a:rPr sz="1100" b="0">
                          <a:solidFill>
                            <a:srgbClr val="555F6B"/>
                          </a:solidFill>
                        </a:rPr>
                        <a:t>Chạy 24/7, có bản dự phòng ở zone khác. Chứa luôn vector và token, nên không cần dịch vụ riêng</a:t>
                      </a:r>
                    </a:p>
                  </a:txBody>
                  <a:tcPr marL="45720" marR="45720" marT="18288" marB="18288">
                    <a:solidFill>
                      <a:srgbClr val="FFFFFF"/>
                    </a:solidFill>
                  </a:tcPr>
                </a:tc>
              </a:tr>
              <a:tr h="621792">
                <a:tc>
                  <a:txBody>
                    <a:bodyPr/>
                    <a:lstStyle/>
                    <a:p>
                      <a:r>
                        <a:rPr sz="1100" b="0">
                          <a:solidFill>
                            <a:srgbClr val="555F6B"/>
                          </a:solidFill>
                        </a:rPr>
                        <a:t>sandbox</a:t>
                      </a:r>
                    </a:p>
                  </a:txBody>
                  <a:tcPr marL="45720" marR="45720" marT="18288" marB="18288">
                    <a:solidFill>
                      <a:srgbClr val="EEF3F8"/>
                    </a:solidFill>
                  </a:tcPr>
                </a:tc>
                <a:tc>
                  <a:txBody>
                    <a:bodyPr/>
                    <a:lstStyle/>
                    <a:p>
                      <a:r>
                        <a:rPr sz="1100" b="0">
                          <a:solidFill>
                            <a:srgbClr val="555F6B"/>
                          </a:solidFill>
                        </a:rPr>
                        <a:t>315</a:t>
                      </a:r>
                    </a:p>
                  </a:txBody>
                  <a:tcPr marL="45720" marR="45720" marT="18288" marB="18288">
                    <a:solidFill>
                      <a:srgbClr val="EEF3F8"/>
                    </a:solidFill>
                  </a:tcPr>
                </a:tc>
                <a:tc>
                  <a:txBody>
                    <a:bodyPr/>
                    <a:lstStyle/>
                    <a:p>
                      <a:r>
                        <a:rPr sz="1100" b="0">
                          <a:solidFill>
                            <a:srgbClr val="555F6B"/>
                          </a:solidFill>
                        </a:rPr>
                        <a:t>5%</a:t>
                      </a:r>
                    </a:p>
                  </a:txBody>
                  <a:tcPr marL="45720" marR="45720" marT="18288" marB="18288">
                    <a:solidFill>
                      <a:srgbClr val="EEF3F8"/>
                    </a:solidFill>
                  </a:tcPr>
                </a:tc>
                <a:tc>
                  <a:txBody>
                    <a:bodyPr/>
                    <a:lstStyle/>
                    <a:p>
                      <a:r>
                        <a:rPr sz="1100" b="0">
                          <a:solidFill>
                            <a:srgbClr val="555F6B"/>
                          </a:solidFill>
                        </a:rPr>
                        <a:t>140.800 lượt × 2 phút = 4.693 vCPU-giờ × 0,0549 + 9.386 GB-giờ × 0,0061</a:t>
                      </a:r>
                    </a:p>
                  </a:txBody>
                  <a:tcPr marL="45720" marR="45720" marT="18288" marB="18288">
                    <a:solidFill>
                      <a:srgbClr val="EEF3F8"/>
                    </a:solidFill>
                  </a:tcPr>
                </a:tc>
                <a:tc>
                  <a:txBody>
                    <a:bodyPr/>
                    <a:lstStyle/>
                    <a:p>
                      <a:r>
                        <a:rPr sz="1100" b="0">
                          <a:solidFill>
                            <a:srgbClr val="555F6B"/>
                          </a:solidFill>
                        </a:rPr>
                        <a:t>Là cận trên: thời gian chạy thật chưa đo, nên mỗi lượt tính đủ 2 phút tối đa</a:t>
                      </a:r>
                    </a:p>
                  </a:txBody>
                  <a:tcPr marL="45720" marR="45720" marT="18288" marB="18288">
                    <a:solidFill>
                      <a:srgbClr val="EEF3F8"/>
                    </a:solidFill>
                  </a:tcPr>
                </a:tc>
              </a:tr>
              <a:tr h="621792">
                <a:tc>
                  <a:txBody>
                    <a:bodyPr/>
                    <a:lstStyle/>
                    <a:p>
                      <a:r>
                        <a:rPr sz="1100" b="0">
                          <a:solidFill>
                            <a:srgbClr val="555F6B"/>
                          </a:solidFill>
                        </a:rPr>
                        <a:t>10 khoản còn lại</a:t>
                      </a:r>
                    </a:p>
                  </a:txBody>
                  <a:tcPr marL="45720" marR="45720" marT="18288" marB="18288">
                    <a:solidFill>
                      <a:srgbClr val="FFFFFF"/>
                    </a:solidFill>
                  </a:tcPr>
                </a:tc>
                <a:tc>
                  <a:txBody>
                    <a:bodyPr/>
                    <a:lstStyle/>
                    <a:p>
                      <a:r>
                        <a:rPr sz="1100" b="0">
                          <a:solidFill>
                            <a:srgbClr val="555F6B"/>
                          </a:solidFill>
                        </a:rPr>
                        <a:t>741</a:t>
                      </a:r>
                    </a:p>
                  </a:txBody>
                  <a:tcPr marL="45720" marR="45720" marT="18288" marB="18288">
                    <a:solidFill>
                      <a:srgbClr val="FFFFFF"/>
                    </a:solidFill>
                  </a:tcPr>
                </a:tc>
                <a:tc>
                  <a:txBody>
                    <a:bodyPr/>
                    <a:lstStyle/>
                    <a:p>
                      <a:r>
                        <a:rPr sz="1100" b="0">
                          <a:solidFill>
                            <a:srgbClr val="555F6B"/>
                          </a:solidFill>
                        </a:rPr>
                        <a:t>11%</a:t>
                      </a:r>
                    </a:p>
                  </a:txBody>
                  <a:tcPr marL="45720" marR="45720" marT="18288" marB="18288">
                    <a:solidFill>
                      <a:srgbClr val="FFFFFF"/>
                    </a:solidFill>
                  </a:tcPr>
                </a:tc>
                <a:tc>
                  <a:txBody>
                    <a:bodyPr/>
                    <a:lstStyle/>
                    <a:p>
                      <a:r>
                        <a:rPr sz="1100" b="0">
                          <a:solidFill>
                            <a:srgbClr val="555F6B"/>
                          </a:solidFill>
                        </a:rPr>
                        <a:t>compute 284 · backup_dr 164 · object_storage 83 · network 64 · cache_queue 56 · …</a:t>
                      </a:r>
                    </a:p>
                  </a:txBody>
                  <a:tcPr marL="45720" marR="45720" marT="18288" marB="18288">
                    <a:solidFill>
                      <a:srgbClr val="FFFFFF"/>
                    </a:solidFill>
                  </a:tcPr>
                </a:tc>
                <a:tc>
                  <a:txBody>
                    <a:bodyPr/>
                    <a:lstStyle/>
                    <a:p>
                      <a:r>
                        <a:rPr sz="1100" b="0">
                          <a:solidFill>
                            <a:srgbClr val="555F6B"/>
                          </a:solidFill>
                        </a:rPr>
                        <a:t>Hạ tầng gọn: 1 cụm GKE, 1 region, phần lớn chỉ chạy đủ trong giờ hành chính</a:t>
                      </a:r>
                    </a:p>
                  </a:txBody>
                  <a:tcPr marL="45720" marR="45720" marT="18288" marB="18288">
                    <a:solidFill>
                      <a:srgbClr val="FFFFFF"/>
                    </a:solidFill>
                  </a:tcPr>
                </a:tc>
              </a:tr>
            </a:tbl>
          </a:graphicData>
        </a:graphic>
      </p:graphicFrame>
      <p:sp>
        <p:nvSpPr>
          <p:cNvPr id="8" name="TextBox 7"/>
          <p:cNvSpPr txBox="1"/>
          <p:nvPr/>
        </p:nvSpPr>
        <p:spPr>
          <a:xfrm>
            <a:off x="457200" y="5897880"/>
            <a:ext cx="11247120" cy="457200"/>
          </a:xfrm>
          <a:prstGeom prst="rect">
            <a:avLst/>
          </a:prstGeom>
          <a:noFill/>
        </p:spPr>
        <p:txBody>
          <a:bodyPr wrap="square">
            <a:spAutoFit/>
          </a:bodyPr>
          <a:lstStyle/>
          <a:p>
            <a:pPr algn="l">
              <a:spcAft>
                <a:spcPts val="400"/>
              </a:spcAft>
            </a:pPr>
            <a:r>
              <a:rPr sz="1100" b="0">
                <a:solidFill>
                  <a:srgbClr val="555F6B"/>
                </a:solidFill>
              </a:rPr>
              <a:t>Đơn giá và bằng chứng từng dòng: Phụ lục A và G03_baogia.xlsx. Không dùng free tier, credit hay giá khuyến mãi.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11. Đòn bẩy: mỗi lựa chọn tiết kiệm bao nhiêu</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Tiết kiệm = chi phí của phương án thay thế − chi phí của phương án nhóm chọn. Đơn vị: USD/tháng</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11b</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graphicFrame>
        <p:nvGraphicFramePr>
          <p:cNvPr id="7" name="Table 6"/>
          <p:cNvGraphicFramePr>
            <a:graphicFrameLocks noGrp="1"/>
          </p:cNvGraphicFramePr>
          <p:nvPr/>
        </p:nvGraphicFramePr>
        <p:xfrm>
          <a:off x="457200" y="1371600"/>
          <a:ext cx="11247120" cy="4114800"/>
        </p:xfrm>
        <a:graphic>
          <a:graphicData uri="http://schemas.openxmlformats.org/drawingml/2006/table">
            <a:tbl>
              <a:tblPr firstRow="1" bandRow="1">
                <a:tableStyleId>{5C22544A-7EE6-4342-B048-85BDC9FD1C3A}</a:tableStyleId>
              </a:tblPr>
              <a:tblGrid>
                <a:gridCol w="3474720"/>
                <a:gridCol w="1188720"/>
                <a:gridCol w="6583680"/>
              </a:tblGrid>
              <a:tr h="457200">
                <a:tc>
                  <a:txBody>
                    <a:bodyPr/>
                    <a:lstStyle/>
                    <a:p>
                      <a:r>
                        <a:rPr sz="1200" b="1">
                          <a:solidFill>
                            <a:srgbClr val="FFFFFF"/>
                          </a:solidFill>
                        </a:rPr>
                        <a:t>Đòn bẩy</a:t>
                      </a:r>
                    </a:p>
                  </a:txBody>
                  <a:tcPr marL="45720" marR="45720" marT="18288" marB="18288">
                    <a:solidFill>
                      <a:srgbClr val="2E6FB7"/>
                    </a:solidFill>
                  </a:tcPr>
                </a:tc>
                <a:tc>
                  <a:txBody>
                    <a:bodyPr/>
                    <a:lstStyle/>
                    <a:p>
                      <a:r>
                        <a:rPr sz="1200" b="1">
                          <a:solidFill>
                            <a:srgbClr val="FFFFFF"/>
                          </a:solidFill>
                        </a:rPr>
                        <a:t>Tiết kiệm</a:t>
                      </a:r>
                    </a:p>
                  </a:txBody>
                  <a:tcPr marL="45720" marR="45720" marT="18288" marB="18288">
                    <a:solidFill>
                      <a:srgbClr val="2E6FB7"/>
                    </a:solidFill>
                  </a:tcPr>
                </a:tc>
                <a:tc>
                  <a:txBody>
                    <a:bodyPr/>
                    <a:lstStyle/>
                    <a:p>
                      <a:r>
                        <a:rPr sz="1200" b="1">
                          <a:solidFill>
                            <a:srgbClr val="FFFFFF"/>
                          </a:solidFill>
                        </a:rPr>
                        <a:t>Cách tính</a:t>
                      </a:r>
                    </a:p>
                  </a:txBody>
                  <a:tcPr marL="45720" marR="45720" marT="18288" marB="18288">
                    <a:solidFill>
                      <a:srgbClr val="2E6FB7"/>
                    </a:solidFill>
                  </a:tcPr>
                </a:tc>
              </a:tr>
              <a:tr h="457200">
                <a:tc>
                  <a:txBody>
                    <a:bodyPr/>
                    <a:lstStyle/>
                    <a:p>
                      <a:r>
                        <a:rPr sz="1200" b="0">
                          <a:solidFill>
                            <a:srgbClr val="555F6B"/>
                          </a:solidFill>
                        </a:rPr>
                        <a:t>Haiku cho cả 5 cấp, thay Sonnet ở cấp 3–4</a:t>
                      </a:r>
                    </a:p>
                  </a:txBody>
                  <a:tcPr marL="45720" marR="45720" marT="18288" marB="18288">
                    <a:solidFill>
                      <a:srgbClr val="EEF3F8"/>
                    </a:solidFill>
                  </a:tcPr>
                </a:tc>
                <a:tc>
                  <a:txBody>
                    <a:bodyPr/>
                    <a:lstStyle/>
                    <a:p>
                      <a:r>
                        <a:rPr sz="1200" b="0">
                          <a:solidFill>
                            <a:srgbClr val="555F6B"/>
                          </a:solidFill>
                        </a:rPr>
                        <a:t>4.705</a:t>
                      </a:r>
                    </a:p>
                  </a:txBody>
                  <a:tcPr marL="45720" marR="45720" marT="18288" marB="18288">
                    <a:solidFill>
                      <a:srgbClr val="EEF3F8"/>
                    </a:solidFill>
                  </a:tcPr>
                </a:tc>
                <a:tc>
                  <a:txBody>
                    <a:bodyPr/>
                    <a:lstStyle/>
                    <a:p>
                      <a:r>
                        <a:rPr sz="1200" b="0">
                          <a:solidFill>
                            <a:srgbClr val="555F6B"/>
                          </a:solidFill>
                        </a:rPr>
                        <a:t>Sonnet cho cấp 3 tốn thêm 2.939, cấp 4 tốn thêm 1.766. Eval gate kiểm tra Haiku vẫn đạt ≥ 95% điểm Opus</a:t>
                      </a:r>
                    </a:p>
                  </a:txBody>
                  <a:tcPr marL="45720" marR="45720" marT="18288" marB="18288">
                    <a:solidFill>
                      <a:srgbClr val="EEF3F8"/>
                    </a:solidFill>
                  </a:tcPr>
                </a:tc>
              </a:tr>
              <a:tr h="457200">
                <a:tc>
                  <a:txBody>
                    <a:bodyPr/>
                    <a:lstStyle/>
                    <a:p>
                      <a:r>
                        <a:rPr sz="1200" b="0">
                          <a:solidFill>
                            <a:srgbClr val="555F6B"/>
                          </a:solidFill>
                        </a:rPr>
                        <a:t>LiteLLM thay Apigee</a:t>
                      </a:r>
                    </a:p>
                  </a:txBody>
                  <a:tcPr marL="45720" marR="45720" marT="18288" marB="18288">
                    <a:solidFill>
                      <a:srgbClr val="FFFFFF"/>
                    </a:solidFill>
                  </a:tcPr>
                </a:tc>
                <a:tc>
                  <a:txBody>
                    <a:bodyPr/>
                    <a:lstStyle/>
                    <a:p>
                      <a:r>
                        <a:rPr sz="1200" b="0">
                          <a:solidFill>
                            <a:srgbClr val="555F6B"/>
                          </a:solidFill>
                        </a:rPr>
                        <a:t>~1.595</a:t>
                      </a:r>
                    </a:p>
                  </a:txBody>
                  <a:tcPr marL="45720" marR="45720" marT="18288" marB="18288">
                    <a:solidFill>
                      <a:srgbClr val="FFFFFF"/>
                    </a:solidFill>
                  </a:tcPr>
                </a:tc>
                <a:tc>
                  <a:txBody>
                    <a:bodyPr/>
                    <a:lstStyle/>
                    <a:p>
                      <a:r>
                        <a:rPr sz="1200" b="0">
                          <a:solidFill>
                            <a:srgbClr val="555F6B"/>
                          </a:solidFill>
                        </a:rPr>
                        <a:t>Apigee: môi trường Intermediate 1.460 + phí theo lượt gọi. LiteLLM miễn phí, chạy trong compute</a:t>
                      </a:r>
                    </a:p>
                  </a:txBody>
                  <a:tcPr marL="45720" marR="45720" marT="18288" marB="18288">
                    <a:solidFill>
                      <a:srgbClr val="FFFFFF"/>
                    </a:solidFill>
                  </a:tcPr>
                </a:tc>
              </a:tr>
              <a:tr h="457200">
                <a:tc>
                  <a:txBody>
                    <a:bodyPr/>
                    <a:lstStyle/>
                    <a:p>
                      <a:r>
                        <a:rPr sz="1200" b="0">
                          <a:solidFill>
                            <a:srgbClr val="555F6B"/>
                          </a:solidFill>
                        </a:rPr>
                        <a:t>Guardrail chỉ quét text mới</a:t>
                      </a:r>
                    </a:p>
                  </a:txBody>
                  <a:tcPr marL="45720" marR="45720" marT="18288" marB="18288">
                    <a:solidFill>
                      <a:srgbClr val="EEF3F8"/>
                    </a:solidFill>
                  </a:tcPr>
                </a:tc>
                <a:tc>
                  <a:txBody>
                    <a:bodyPr/>
                    <a:lstStyle/>
                    <a:p>
                      <a:r>
                        <a:rPr sz="1200" b="0">
                          <a:solidFill>
                            <a:srgbClr val="555F6B"/>
                          </a:solidFill>
                        </a:rPr>
                        <a:t>1.018</a:t>
                      </a:r>
                    </a:p>
                  </a:txBody>
                  <a:tcPr marL="45720" marR="45720" marT="18288" marB="18288">
                    <a:solidFill>
                      <a:srgbClr val="EEF3F8"/>
                    </a:solidFill>
                  </a:tcPr>
                </a:tc>
                <a:tc>
                  <a:txBody>
                    <a:bodyPr/>
                    <a:lstStyle/>
                    <a:p>
                      <a:r>
                        <a:rPr sz="1200" b="0">
                          <a:solidFill>
                            <a:srgbClr val="555F6B"/>
                          </a:solidFill>
                        </a:rPr>
                        <a:t>Quét toàn bộ 12,98 tỉ token = 1.298 − quét 2,81 tỉ token mới = 281</a:t>
                      </a:r>
                    </a:p>
                  </a:txBody>
                  <a:tcPr marL="45720" marR="45720" marT="18288" marB="18288">
                    <a:solidFill>
                      <a:srgbClr val="EEF3F8"/>
                    </a:solidFill>
                  </a:tcPr>
                </a:tc>
              </a:tr>
              <a:tr h="457200">
                <a:tc>
                  <a:txBody>
                    <a:bodyPr/>
                    <a:lstStyle/>
                    <a:p>
                      <a:r>
                        <a:rPr sz="1200" b="0">
                          <a:solidFill>
                            <a:srgbClr val="555F6B"/>
                          </a:solidFill>
                        </a:rPr>
                        <a:t>Cất token bằng KMS trong Postgres</a:t>
                      </a:r>
                    </a:p>
                  </a:txBody>
                  <a:tcPr marL="45720" marR="45720" marT="18288" marB="18288">
                    <a:solidFill>
                      <a:srgbClr val="FFFFFF"/>
                    </a:solidFill>
                  </a:tcPr>
                </a:tc>
                <a:tc>
                  <a:txBody>
                    <a:bodyPr/>
                    <a:lstStyle/>
                    <a:p>
                      <a:r>
                        <a:rPr sz="1200" b="0">
                          <a:solidFill>
                            <a:srgbClr val="555F6B"/>
                          </a:solidFill>
                        </a:rPr>
                        <a:t>~716</a:t>
                      </a:r>
                    </a:p>
                  </a:txBody>
                  <a:tcPr marL="45720" marR="45720" marT="18288" marB="18288">
                    <a:solidFill>
                      <a:srgbClr val="FFFFFF"/>
                    </a:solidFill>
                  </a:tcPr>
                </a:tc>
                <a:tc>
                  <a:txBody>
                    <a:bodyPr/>
                    <a:lstStyle/>
                    <a:p>
                      <a:r>
                        <a:rPr sz="1200" b="0">
                          <a:solidFill>
                            <a:srgbClr val="555F6B"/>
                          </a:solidFill>
                        </a:rPr>
                        <a:t>12.000 secret × 0,06 = 720 − KMS ≈ 4</a:t>
                      </a:r>
                    </a:p>
                  </a:txBody>
                  <a:tcPr marL="45720" marR="45720" marT="18288" marB="18288">
                    <a:solidFill>
                      <a:srgbClr val="FFFFFF"/>
                    </a:solidFill>
                  </a:tcPr>
                </a:tc>
              </a:tr>
              <a:tr h="457200">
                <a:tc>
                  <a:txBody>
                    <a:bodyPr/>
                    <a:lstStyle/>
                    <a:p>
                      <a:r>
                        <a:rPr sz="1200" b="0">
                          <a:solidFill>
                            <a:srgbClr val="555F6B"/>
                          </a:solidFill>
                        </a:rPr>
                        <a:t>Prompt caching</a:t>
                      </a:r>
                    </a:p>
                  </a:txBody>
                  <a:tcPr marL="45720" marR="45720" marT="18288" marB="18288">
                    <a:solidFill>
                      <a:srgbClr val="EEF3F8"/>
                    </a:solidFill>
                  </a:tcPr>
                </a:tc>
                <a:tc>
                  <a:txBody>
                    <a:bodyPr/>
                    <a:lstStyle/>
                    <a:p>
                      <a:r>
                        <a:rPr sz="1200" b="0">
                          <a:solidFill>
                            <a:srgbClr val="555F6B"/>
                          </a:solidFill>
                        </a:rPr>
                        <a:t>670</a:t>
                      </a:r>
                    </a:p>
                  </a:txBody>
                  <a:tcPr marL="45720" marR="45720" marT="18288" marB="18288">
                    <a:solidFill>
                      <a:srgbClr val="EEF3F8"/>
                    </a:solidFill>
                  </a:tcPr>
                </a:tc>
                <a:tc>
                  <a:txBody>
                    <a:bodyPr/>
                    <a:lstStyle/>
                    <a:p>
                      <a:r>
                        <a:rPr sz="1200" b="0">
                          <a:solidFill>
                            <a:srgbClr val="555F6B"/>
                          </a:solidFill>
                        </a:rPr>
                        <a:t>7,44 tỉ token vào đọc từ cache × (0,10 − 0,01) USD/1M token</a:t>
                      </a:r>
                    </a:p>
                  </a:txBody>
                  <a:tcPr marL="45720" marR="45720" marT="18288" marB="18288">
                    <a:solidFill>
                      <a:srgbClr val="EEF3F8"/>
                    </a:solidFill>
                  </a:tcPr>
                </a:tc>
              </a:tr>
              <a:tr h="457200">
                <a:tc>
                  <a:txBody>
                    <a:bodyPr/>
                    <a:lstStyle/>
                    <a:p>
                      <a:r>
                        <a:rPr sz="1200" b="0">
                          <a:solidFill>
                            <a:srgbClr val="555F6B"/>
                          </a:solidFill>
                        </a:rPr>
                        <a:t>Ngoài giờ chỉ chạy 1 pod mỗi loại</a:t>
                      </a:r>
                    </a:p>
                  </a:txBody>
                  <a:tcPr marL="45720" marR="45720" marT="18288" marB="18288">
                    <a:solidFill>
                      <a:srgbClr val="FFFFFF"/>
                    </a:solidFill>
                  </a:tcPr>
                </a:tc>
                <a:tc>
                  <a:txBody>
                    <a:bodyPr/>
                    <a:lstStyle/>
                    <a:p>
                      <a:r>
                        <a:rPr sz="1200" b="0">
                          <a:solidFill>
                            <a:srgbClr val="555F6B"/>
                          </a:solidFill>
                        </a:rPr>
                        <a:t>109</a:t>
                      </a:r>
                    </a:p>
                  </a:txBody>
                  <a:tcPr marL="45720" marR="45720" marT="18288" marB="18288">
                    <a:solidFill>
                      <a:srgbClr val="FFFFFF"/>
                    </a:solidFill>
                  </a:tcPr>
                </a:tc>
                <a:tc>
                  <a:txBody>
                    <a:bodyPr/>
                    <a:lstStyle/>
                    <a:p>
                      <a:r>
                        <a:rPr sz="1200" b="0">
                          <a:solidFill>
                            <a:srgbClr val="555F6B"/>
                          </a:solidFill>
                        </a:rPr>
                        <a:t>510 giờ ngoài giờ × 3 loại pod: 1.530 vCPU-giờ × 0,0549 + 4.080 GB-giờ × 0,0061</a:t>
                      </a:r>
                    </a:p>
                  </a:txBody>
                  <a:tcPr marL="45720" marR="45720" marT="18288" marB="18288">
                    <a:solidFill>
                      <a:srgbClr val="FFFFFF"/>
                    </a:solidFill>
                  </a:tcPr>
                </a:tc>
              </a:tr>
              <a:tr h="457200">
                <a:tc>
                  <a:txBody>
                    <a:bodyPr/>
                    <a:lstStyle/>
                    <a:p>
                      <a:r>
                        <a:rPr sz="1200" b="0">
                          <a:solidFill>
                            <a:srgbClr val="555F6B"/>
                          </a:solidFill>
                        </a:rPr>
                        <a:t>pgvector trong Postgres</a:t>
                      </a:r>
                    </a:p>
                  </a:txBody>
                  <a:tcPr marL="45720" marR="45720" marT="18288" marB="18288">
                    <a:solidFill>
                      <a:srgbClr val="EEF3F8"/>
                    </a:solidFill>
                  </a:tcPr>
                </a:tc>
                <a:tc>
                  <a:txBody>
                    <a:bodyPr/>
                    <a:lstStyle/>
                    <a:p>
                      <a:r>
                        <a:rPr sz="1200" b="0">
                          <a:solidFill>
                            <a:srgbClr val="555F6B"/>
                          </a:solidFill>
                        </a:rPr>
                        <a:t>~84</a:t>
                      </a:r>
                    </a:p>
                  </a:txBody>
                  <a:tcPr marL="45720" marR="45720" marT="18288" marB="18288">
                    <a:solidFill>
                      <a:srgbClr val="EEF3F8"/>
                    </a:solidFill>
                  </a:tcPr>
                </a:tc>
                <a:tc>
                  <a:txBody>
                    <a:bodyPr/>
                    <a:lstStyle/>
                    <a:p>
                      <a:r>
                        <a:rPr sz="1200" b="0">
                          <a:solidFill>
                            <a:srgbClr val="555F6B"/>
                          </a:solidFill>
                        </a:rPr>
                        <a:t>Vertex Vector Search cần tối thiểu 1 máy chạy 24/7</a:t>
                      </a:r>
                    </a:p>
                  </a:txBody>
                  <a:tcPr marL="45720" marR="45720" marT="18288" marB="18288">
                    <a:solidFill>
                      <a:srgbClr val="EEF3F8"/>
                    </a:solidFill>
                  </a:tcPr>
                </a:tc>
              </a:tr>
              <a:tr h="457200">
                <a:tc>
                  <a:txBody>
                    <a:bodyPr/>
                    <a:lstStyle/>
                    <a:p>
                      <a:r>
                        <a:rPr sz="1200" b="0">
                          <a:solidFill>
                            <a:srgbClr val="555F6B"/>
                          </a:solidFill>
                        </a:rPr>
                        <a:t>Staging dùng chung cụm GKE</a:t>
                      </a:r>
                    </a:p>
                  </a:txBody>
                  <a:tcPr marL="45720" marR="45720" marT="18288" marB="18288">
                    <a:solidFill>
                      <a:srgbClr val="FFFFFF"/>
                    </a:solidFill>
                  </a:tcPr>
                </a:tc>
                <a:tc>
                  <a:txBody>
                    <a:bodyPr/>
                    <a:lstStyle/>
                    <a:p>
                      <a:r>
                        <a:rPr sz="1200" b="0">
                          <a:solidFill>
                            <a:srgbClr val="555F6B"/>
                          </a:solidFill>
                        </a:rPr>
                        <a:t>73</a:t>
                      </a:r>
                    </a:p>
                  </a:txBody>
                  <a:tcPr marL="45720" marR="45720" marT="18288" marB="18288">
                    <a:solidFill>
                      <a:srgbClr val="FFFFFF"/>
                    </a:solidFill>
                  </a:tcPr>
                </a:tc>
                <a:tc>
                  <a:txBody>
                    <a:bodyPr/>
                    <a:lstStyle/>
                    <a:p>
                      <a:r>
                        <a:rPr sz="1200" b="0">
                          <a:solidFill>
                            <a:srgbClr val="555F6B"/>
                          </a:solidFill>
                        </a:rPr>
                        <a:t>Cụm riêng mất thêm phí quản lý: 0,10 USD/giờ × 730 giờ</a:t>
                      </a:r>
                    </a:p>
                  </a:txBody>
                  <a:tcPr marL="45720" marR="45720" marT="18288" marB="18288">
                    <a:solidFill>
                      <a:srgbClr val="FFFFFF"/>
                    </a:solidFill>
                  </a:tcPr>
                </a:tc>
              </a:tr>
            </a:tbl>
          </a:graphicData>
        </a:graphic>
      </p:graphicFrame>
      <p:sp>
        <p:nvSpPr>
          <p:cNvPr id="8" name="TextBox 7"/>
          <p:cNvSpPr txBox="1"/>
          <p:nvPr/>
        </p:nvSpPr>
        <p:spPr>
          <a:xfrm>
            <a:off x="457200" y="5577840"/>
            <a:ext cx="11247120" cy="731520"/>
          </a:xfrm>
          <a:prstGeom prst="rect">
            <a:avLst/>
          </a:prstGeom>
          <a:noFill/>
        </p:spPr>
        <p:txBody>
          <a:bodyPr wrap="square">
            <a:spAutoFit/>
          </a:bodyPr>
          <a:lstStyle/>
          <a:p>
            <a:pPr algn="l">
              <a:spcAft>
                <a:spcPts val="400"/>
              </a:spcAft>
            </a:pPr>
            <a:r>
              <a:rPr sz="1100" b="0">
                <a:solidFill>
                  <a:srgbClr val="555F6B"/>
                </a:solidFill>
              </a:rPr>
              <a:t>Mỗi dòng so với một phương án thay thế riêng, nên không cộng dồn các dòng.</a:t>
            </a:r>
          </a:p>
          <a:p>
            <a:pPr algn="l">
              <a:spcAft>
                <a:spcPts val="400"/>
              </a:spcAft>
            </a:pPr>
            <a:r>
              <a:rPr sz="1100" b="0">
                <a:solidFill>
                  <a:srgbClr val="555F6B"/>
                </a:solidFill>
              </a:rPr>
              <a:t>Chưa tính phí ghi cache của Claude (ước tính vài %). Không mua gói support. Không có dòng dự phòng.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12. Rủi ro lớn nhất: Haiku không đạt eval ở cấp 3–4</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Khi đó chi phí lên 11.526 USD/tháng. Nhóm đã tính sẵn; LiteLLM đổi model bằng 1 dòng cấu hình</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12</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graphicFrame>
        <p:nvGraphicFramePr>
          <p:cNvPr id="7" name="Table 6"/>
          <p:cNvGraphicFramePr>
            <a:graphicFrameLocks noGrp="1"/>
          </p:cNvGraphicFramePr>
          <p:nvPr/>
        </p:nvGraphicFramePr>
        <p:xfrm>
          <a:off x="457200" y="1371600"/>
          <a:ext cx="5760720" cy="2688336"/>
        </p:xfrm>
        <a:graphic>
          <a:graphicData uri="http://schemas.openxmlformats.org/drawingml/2006/table">
            <a:tbl>
              <a:tblPr firstRow="1" bandRow="1">
                <a:tableStyleId>{5C22544A-7EE6-4342-B048-85BDC9FD1C3A}</a:tableStyleId>
              </a:tblPr>
              <a:tblGrid>
                <a:gridCol w="3017520"/>
                <a:gridCol w="1371600"/>
                <a:gridCol w="1371600"/>
              </a:tblGrid>
              <a:tr h="384048">
                <a:tc>
                  <a:txBody>
                    <a:bodyPr/>
                    <a:lstStyle/>
                    <a:p>
                      <a:r>
                        <a:rPr sz="1200" b="1">
                          <a:solidFill>
                            <a:srgbClr val="FFFFFF"/>
                          </a:solidFill>
                        </a:rPr>
                        <a:t>Kịch bản</a:t>
                      </a:r>
                    </a:p>
                  </a:txBody>
                  <a:tcPr marL="45720" marR="45720" marT="18288" marB="18288">
                    <a:solidFill>
                      <a:srgbClr val="2E6FB7"/>
                    </a:solidFill>
                  </a:tcPr>
                </a:tc>
                <a:tc>
                  <a:txBody>
                    <a:bodyPr/>
                    <a:lstStyle/>
                    <a:p>
                      <a:r>
                        <a:rPr sz="1200" b="1">
                          <a:solidFill>
                            <a:srgbClr val="FFFFFF"/>
                          </a:solidFill>
                        </a:rPr>
                        <a:t>USD/tháng</a:t>
                      </a:r>
                    </a:p>
                  </a:txBody>
                  <a:tcPr marL="45720" marR="45720" marT="18288" marB="18288">
                    <a:solidFill>
                      <a:srgbClr val="2E6FB7"/>
                    </a:solidFill>
                  </a:tcPr>
                </a:tc>
                <a:tc>
                  <a:txBody>
                    <a:bodyPr/>
                    <a:lstStyle/>
                    <a:p>
                      <a:r>
                        <a:rPr sz="1200" b="1">
                          <a:solidFill>
                            <a:srgbClr val="FFFFFF"/>
                          </a:solidFill>
                        </a:rPr>
                        <a:t>USD/DAU</a:t>
                      </a:r>
                    </a:p>
                  </a:txBody>
                  <a:tcPr marL="45720" marR="45720" marT="18288" marB="18288">
                    <a:solidFill>
                      <a:srgbClr val="2E6FB7"/>
                    </a:solidFill>
                  </a:tcPr>
                </a:tc>
              </a:tr>
              <a:tr h="384048">
                <a:tc>
                  <a:txBody>
                    <a:bodyPr/>
                    <a:lstStyle/>
                    <a:p>
                      <a:r>
                        <a:rPr sz="1200" b="0">
                          <a:solidFill>
                            <a:srgbClr val="555F6B"/>
                          </a:solidFill>
                        </a:rPr>
                        <a:t>Cơ sở (2.000 DAU)</a:t>
                      </a:r>
                    </a:p>
                  </a:txBody>
                  <a:tcPr marL="45720" marR="45720" marT="18288" marB="18288">
                    <a:solidFill>
                      <a:srgbClr val="EEF3F8"/>
                    </a:solidFill>
                  </a:tcPr>
                </a:tc>
                <a:tc>
                  <a:txBody>
                    <a:bodyPr/>
                    <a:lstStyle/>
                    <a:p>
                      <a:r>
                        <a:rPr sz="1200" b="0">
                          <a:solidFill>
                            <a:srgbClr val="555F6B"/>
                          </a:solidFill>
                        </a:rPr>
                        <a:t>6.821</a:t>
                      </a:r>
                    </a:p>
                  </a:txBody>
                  <a:tcPr marL="45720" marR="45720" marT="18288" marB="18288">
                    <a:solidFill>
                      <a:srgbClr val="EEF3F8"/>
                    </a:solidFill>
                  </a:tcPr>
                </a:tc>
                <a:tc>
                  <a:txBody>
                    <a:bodyPr/>
                    <a:lstStyle/>
                    <a:p>
                      <a:r>
                        <a:rPr sz="1200" b="0">
                          <a:solidFill>
                            <a:srgbClr val="555F6B"/>
                          </a:solidFill>
                        </a:rPr>
                        <a:t>3,41</a:t>
                      </a:r>
                    </a:p>
                  </a:txBody>
                  <a:tcPr marL="45720" marR="45720" marT="18288" marB="18288">
                    <a:solidFill>
                      <a:srgbClr val="EEF3F8"/>
                    </a:solidFill>
                  </a:tcPr>
                </a:tc>
              </a:tr>
              <a:tr h="384048">
                <a:tc>
                  <a:txBody>
                    <a:bodyPr/>
                    <a:lstStyle/>
                    <a:p>
                      <a:r>
                        <a:rPr sz="1200" b="0">
                          <a:solidFill>
                            <a:srgbClr val="555F6B"/>
                          </a:solidFill>
                        </a:rPr>
                        <a:t>DAU gấp đôi = 4.000</a:t>
                      </a:r>
                    </a:p>
                  </a:txBody>
                  <a:tcPr marL="45720" marR="45720" marT="18288" marB="18288">
                    <a:solidFill>
                      <a:srgbClr val="FFFFFF"/>
                    </a:solidFill>
                  </a:tcPr>
                </a:tc>
                <a:tc>
                  <a:txBody>
                    <a:bodyPr/>
                    <a:lstStyle/>
                    <a:p>
                      <a:r>
                        <a:rPr sz="1200" b="0">
                          <a:solidFill>
                            <a:srgbClr val="555F6B"/>
                          </a:solidFill>
                        </a:rPr>
                        <a:t>8.826</a:t>
                      </a:r>
                    </a:p>
                  </a:txBody>
                  <a:tcPr marL="45720" marR="45720" marT="18288" marB="18288">
                    <a:solidFill>
                      <a:srgbClr val="FFFFFF"/>
                    </a:solidFill>
                  </a:tcPr>
                </a:tc>
                <a:tc>
                  <a:txBody>
                    <a:bodyPr/>
                    <a:lstStyle/>
                    <a:p>
                      <a:r>
                        <a:rPr sz="1200" b="0">
                          <a:solidFill>
                            <a:srgbClr val="555F6B"/>
                          </a:solidFill>
                        </a:rPr>
                        <a:t>2,21</a:t>
                      </a:r>
                    </a:p>
                  </a:txBody>
                  <a:tcPr marL="45720" marR="45720" marT="18288" marB="18288">
                    <a:solidFill>
                      <a:srgbClr val="FFFFFF"/>
                    </a:solidFill>
                  </a:tcPr>
                </a:tc>
              </a:tr>
              <a:tr h="384048">
                <a:tc>
                  <a:txBody>
                    <a:bodyPr/>
                    <a:lstStyle/>
                    <a:p>
                      <a:r>
                        <a:rPr sz="1200" b="0">
                          <a:solidFill>
                            <a:srgbClr val="555F6B"/>
                          </a:solidFill>
                        </a:rPr>
                        <a:t>Giá token +30%</a:t>
                      </a:r>
                    </a:p>
                  </a:txBody>
                  <a:tcPr marL="45720" marR="45720" marT="18288" marB="18288">
                    <a:solidFill>
                      <a:srgbClr val="EEF3F8"/>
                    </a:solidFill>
                  </a:tcPr>
                </a:tc>
                <a:tc>
                  <a:txBody>
                    <a:bodyPr/>
                    <a:lstStyle/>
                    <a:p>
                      <a:r>
                        <a:rPr sz="1200" b="0">
                          <a:solidFill>
                            <a:srgbClr val="555F6B"/>
                          </a:solidFill>
                        </a:rPr>
                        <a:t>7.263</a:t>
                      </a:r>
                    </a:p>
                  </a:txBody>
                  <a:tcPr marL="45720" marR="45720" marT="18288" marB="18288">
                    <a:solidFill>
                      <a:srgbClr val="EEF3F8"/>
                    </a:solidFill>
                  </a:tcPr>
                </a:tc>
                <a:tc>
                  <a:txBody>
                    <a:bodyPr/>
                    <a:lstStyle/>
                    <a:p>
                      <a:r>
                        <a:rPr sz="1200" b="0">
                          <a:solidFill>
                            <a:srgbClr val="555F6B"/>
                          </a:solidFill>
                        </a:rPr>
                        <a:t>3,63</a:t>
                      </a:r>
                    </a:p>
                  </a:txBody>
                  <a:tcPr marL="45720" marR="45720" marT="18288" marB="18288">
                    <a:solidFill>
                      <a:srgbClr val="EEF3F8"/>
                    </a:solidFill>
                  </a:tcPr>
                </a:tc>
              </a:tr>
              <a:tr h="384048">
                <a:tc>
                  <a:txBody>
                    <a:bodyPr/>
                    <a:lstStyle/>
                    <a:p>
                      <a:r>
                        <a:rPr sz="1200" b="0">
                          <a:solidFill>
                            <a:srgbClr val="555F6B"/>
                          </a:solidFill>
                        </a:rPr>
                        <a:t>Giá token −50%</a:t>
                      </a:r>
                    </a:p>
                  </a:txBody>
                  <a:tcPr marL="45720" marR="45720" marT="18288" marB="18288">
                    <a:solidFill>
                      <a:srgbClr val="FFFFFF"/>
                    </a:solidFill>
                  </a:tcPr>
                </a:tc>
                <a:tc>
                  <a:txBody>
                    <a:bodyPr/>
                    <a:lstStyle/>
                    <a:p>
                      <a:r>
                        <a:rPr sz="1200" b="0">
                          <a:solidFill>
                            <a:srgbClr val="555F6B"/>
                          </a:solidFill>
                        </a:rPr>
                        <a:t>6.085</a:t>
                      </a:r>
                    </a:p>
                  </a:txBody>
                  <a:tcPr marL="45720" marR="45720" marT="18288" marB="18288">
                    <a:solidFill>
                      <a:srgbClr val="FFFFFF"/>
                    </a:solidFill>
                  </a:tcPr>
                </a:tc>
                <a:tc>
                  <a:txBody>
                    <a:bodyPr/>
                    <a:lstStyle/>
                    <a:p>
                      <a:r>
                        <a:rPr sz="1200" b="0">
                          <a:solidFill>
                            <a:srgbClr val="555F6B"/>
                          </a:solidFill>
                        </a:rPr>
                        <a:t>3,04</a:t>
                      </a:r>
                    </a:p>
                  </a:txBody>
                  <a:tcPr marL="45720" marR="45720" marT="18288" marB="18288">
                    <a:solidFill>
                      <a:srgbClr val="FFFFFF"/>
                    </a:solidFill>
                  </a:tcPr>
                </a:tc>
              </a:tr>
              <a:tr h="384048">
                <a:tc>
                  <a:txBody>
                    <a:bodyPr/>
                    <a:lstStyle/>
                    <a:p>
                      <a:r>
                        <a:rPr sz="1200" b="0">
                          <a:solidFill>
                            <a:srgbClr val="555F6B"/>
                          </a:solidFill>
                        </a:rPr>
                        <a:t>Cấp 3–4 phải nâng lên Sonnet 5.5</a:t>
                      </a:r>
                    </a:p>
                  </a:txBody>
                  <a:tcPr marL="45720" marR="45720" marT="18288" marB="18288">
                    <a:solidFill>
                      <a:srgbClr val="EEF3F8"/>
                    </a:solidFill>
                  </a:tcPr>
                </a:tc>
                <a:tc>
                  <a:txBody>
                    <a:bodyPr/>
                    <a:lstStyle/>
                    <a:p>
                      <a:r>
                        <a:rPr sz="1200" b="0">
                          <a:solidFill>
                            <a:srgbClr val="555F6B"/>
                          </a:solidFill>
                        </a:rPr>
                        <a:t>11.526</a:t>
                      </a:r>
                    </a:p>
                  </a:txBody>
                  <a:tcPr marL="45720" marR="45720" marT="18288" marB="18288">
                    <a:solidFill>
                      <a:srgbClr val="EEF3F8"/>
                    </a:solidFill>
                  </a:tcPr>
                </a:tc>
                <a:tc>
                  <a:txBody>
                    <a:bodyPr/>
                    <a:lstStyle/>
                    <a:p>
                      <a:r>
                        <a:rPr sz="1200" b="0">
                          <a:solidFill>
                            <a:srgbClr val="555F6B"/>
                          </a:solidFill>
                        </a:rPr>
                        <a:t>5,76</a:t>
                      </a:r>
                    </a:p>
                  </a:txBody>
                  <a:tcPr marL="45720" marR="45720" marT="18288" marB="18288">
                    <a:solidFill>
                      <a:srgbClr val="EEF3F8"/>
                    </a:solidFill>
                  </a:tcPr>
                </a:tc>
              </a:tr>
              <a:tr h="384048">
                <a:tc>
                  <a:txBody>
                    <a:bodyPr/>
                    <a:lstStyle/>
                    <a:p>
                      <a:r>
                        <a:rPr sz="1200" b="0">
                          <a:solidFill>
                            <a:srgbClr val="555F6B"/>
                          </a:solidFill>
                        </a:rPr>
                        <a:t>Workspace đầy 20 TB</a:t>
                      </a:r>
                    </a:p>
                  </a:txBody>
                  <a:tcPr marL="45720" marR="45720" marT="18288" marB="18288">
                    <a:solidFill>
                      <a:srgbClr val="FFFFFF"/>
                    </a:solidFill>
                  </a:tcPr>
                </a:tc>
                <a:tc>
                  <a:txBody>
                    <a:bodyPr/>
                    <a:lstStyle/>
                    <a:p>
                      <a:r>
                        <a:rPr sz="1200" b="0">
                          <a:solidFill>
                            <a:srgbClr val="555F6B"/>
                          </a:solidFill>
                        </a:rPr>
                        <a:t>+ ~704</a:t>
                      </a:r>
                    </a:p>
                  </a:txBody>
                  <a:tcPr marL="45720" marR="45720" marT="18288" marB="18288">
                    <a:solidFill>
                      <a:srgbClr val="FFFFFF"/>
                    </a:solidFill>
                  </a:tcPr>
                </a:tc>
                <a:tc>
                  <a:txBody>
                    <a:bodyPr/>
                    <a:lstStyle/>
                    <a:p>
                      <a:r>
                        <a:rPr sz="1200" b="0">
                          <a:solidFill>
                            <a:srgbClr val="555F6B"/>
                          </a:solidFill>
                        </a:rPr>
                        <a:t>—</a:t>
                      </a:r>
                    </a:p>
                  </a:txBody>
                  <a:tcPr marL="45720" marR="45720" marT="18288" marB="18288">
                    <a:solidFill>
                      <a:srgbClr val="FFFFFF"/>
                    </a:solidFill>
                  </a:tcPr>
                </a:tc>
              </a:tr>
            </a:tbl>
          </a:graphicData>
        </a:graphic>
      </p:graphicFrame>
      <p:sp>
        <p:nvSpPr>
          <p:cNvPr id="8" name="TextBox 7"/>
          <p:cNvSpPr txBox="1"/>
          <p:nvPr/>
        </p:nvSpPr>
        <p:spPr>
          <a:xfrm>
            <a:off x="457200" y="4297680"/>
            <a:ext cx="5760720" cy="1828800"/>
          </a:xfrm>
          <a:prstGeom prst="rect">
            <a:avLst/>
          </a:prstGeom>
          <a:noFill/>
        </p:spPr>
        <p:txBody>
          <a:bodyPr wrap="square">
            <a:spAutoFit/>
          </a:bodyPr>
          <a:lstStyle/>
          <a:p>
            <a:pPr algn="l">
              <a:spcAft>
                <a:spcPts val="400"/>
              </a:spcAft>
            </a:pPr>
            <a:r>
              <a:rPr sz="1200" b="1">
                <a:solidFill>
                  <a:srgbClr val="555F6B"/>
                </a:solidFill>
              </a:rPr>
              <a:t>Khi DAU gấp đôi, USD/DAU giảm</a:t>
            </a:r>
          </a:p>
          <a:p>
            <a:pPr algn="l">
              <a:spcAft>
                <a:spcPts val="400"/>
              </a:spcAft>
            </a:pPr>
            <a:r>
              <a:rPr sz="1200" b="0">
                <a:solidFill>
                  <a:srgbClr val="555F6B"/>
                </a:solidFill>
              </a:rPr>
              <a:t>Tăng theo lượt dùng: LLM, guardrail, sandbox, lưu trữ, log</a:t>
            </a:r>
          </a:p>
          <a:p>
            <a:pPr algn="l">
              <a:spcAft>
                <a:spcPts val="400"/>
              </a:spcAft>
            </a:pPr>
            <a:r>
              <a:rPr sz="1200" b="0">
                <a:solidFill>
                  <a:srgbClr val="555F6B"/>
                </a:solidFill>
              </a:rPr>
              <a:t>Gần như cố định: 2 kỹ sư, cụm GKE, database, cache, cân bằng tải</a:t>
            </a:r>
          </a:p>
          <a:p>
            <a:pPr algn="l">
              <a:spcAft>
                <a:spcPts val="400"/>
              </a:spcAft>
            </a:pPr>
            <a:r>
              <a:rPr sz="1200" b="0">
                <a:solidFill>
                  <a:srgbClr val="555F6B"/>
                </a:solidFill>
              </a:rPr>
              <a:t>Chỉ xét tự host GPU khi tiền token vượt chi phí chạy ≥ 2 GPU 24/7 cộng vận hành</a:t>
            </a:r>
          </a:p>
        </p:txBody>
      </p:sp>
      <p:sp>
        <p:nvSpPr>
          <p:cNvPr id="9" name="TextBox 8"/>
          <p:cNvSpPr txBox="1"/>
          <p:nvPr/>
        </p:nvSpPr>
        <p:spPr>
          <a:xfrm>
            <a:off x="6492240" y="1371600"/>
            <a:ext cx="5303520" cy="4754880"/>
          </a:xfrm>
          <a:prstGeom prst="rect">
            <a:avLst/>
          </a:prstGeom>
          <a:noFill/>
        </p:spPr>
        <p:txBody>
          <a:bodyPr wrap="square">
            <a:spAutoFit/>
          </a:bodyPr>
          <a:lstStyle/>
          <a:p>
            <a:pPr algn="l">
              <a:spcAft>
                <a:spcPts val="400"/>
              </a:spcAft>
            </a:pPr>
            <a:r>
              <a:rPr sz="1200" b="1">
                <a:solidFill>
                  <a:srgbClr val="555F6B"/>
                </a:solidFill>
              </a:rPr>
              <a:t>Các rủi ro khác và cách xử lý</a:t>
            </a:r>
          </a:p>
          <a:p>
            <a:pPr algn="l">
              <a:spcAft>
                <a:spcPts val="400"/>
              </a:spcAft>
            </a:pPr>
            <a:r>
              <a:rPr sz="1200" b="0">
                <a:solidFill>
                  <a:srgbClr val="555F6B"/>
                </a:solidFill>
              </a:rPr>
              <a:t>Token thực tế khác giả định: nhóm dùng 13 tỉ token/tháng, khoảng có thể là 4,6–42,8 tỉ → đo trong pilot 2–4 tuần</a:t>
            </a:r>
          </a:p>
          <a:p>
            <a:pPr algn="l">
              <a:spcAft>
                <a:spcPts val="400"/>
              </a:spcAft>
            </a:pPr>
            <a:r>
              <a:rPr sz="1200" b="0">
                <a:solidFill>
                  <a:srgbClr val="555F6B"/>
                </a:solidFill>
              </a:rPr>
              <a:t>Luật bảo vệ dữ liệu cá nhân (Nghị định 13/2023): Vertex AI dùng endpoint global → dữ liệu nhạy cảm dùng model chạy tại Singapore</a:t>
            </a:r>
          </a:p>
          <a:p>
            <a:pPr algn="l">
              <a:spcAft>
                <a:spcPts val="400"/>
              </a:spcAft>
            </a:pPr>
            <a:r>
              <a:rPr sz="1200" b="0">
                <a:solidFill>
                  <a:srgbClr val="555F6B"/>
                </a:solidFill>
              </a:rPr>
              <a:t>LiteLLM là open source, không có SLA → 2 kỹ sư trực, cố định phiên bản, test trên staging</a:t>
            </a:r>
          </a:p>
          <a:p>
            <a:pPr algn="l">
              <a:spcAft>
                <a:spcPts val="400"/>
              </a:spcAft>
            </a:pPr>
            <a:r>
              <a:rPr sz="1200" b="0">
                <a:solidFill>
                  <a:srgbClr val="555F6B"/>
                </a:solidFill>
              </a:rPr>
              <a:t>Rate limit Jira/Confluence dùng chung cho cả app (65.000 điểm/giờ) → hàng đợi và thử lại</a:t>
            </a:r>
          </a:p>
          <a:p>
            <a:pPr algn="l">
              <a:spcAft>
                <a:spcPts val="400"/>
              </a:spcAft>
            </a:pPr>
            <a:r>
              <a:rPr sz="1200" b="0">
                <a:solidFill>
                  <a:srgbClr val="555F6B"/>
                </a:solidFill>
              </a:rPr>
              <a:t>Google dự kiến tính phí API Workspace từ cuối 2026 (chưa công bố giá)</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Phụ lục A. Báo giá theo component (USD/tháng)</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Chi tiết từng dòng (đơn giá × số lượng, kèm bằng chứng) nằm trong G03_baogia.xlsx</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A</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graphicFrame>
        <p:nvGraphicFramePr>
          <p:cNvPr id="7" name="Table 6"/>
          <p:cNvGraphicFramePr>
            <a:graphicFrameLocks noGrp="1"/>
          </p:cNvGraphicFramePr>
          <p:nvPr/>
        </p:nvGraphicFramePr>
        <p:xfrm>
          <a:off x="457200" y="1371600"/>
          <a:ext cx="5486400" cy="4224528"/>
        </p:xfrm>
        <a:graphic>
          <a:graphicData uri="http://schemas.openxmlformats.org/drawingml/2006/table">
            <a:tbl>
              <a:tblPr firstRow="1" bandRow="1">
                <a:tableStyleId>{5C22544A-7EE6-4342-B048-85BDC9FD1C3A}</a:tableStyleId>
              </a:tblPr>
              <a:tblGrid>
                <a:gridCol w="3200400"/>
                <a:gridCol w="2286000"/>
              </a:tblGrid>
              <a:tr h="384048">
                <a:tc>
                  <a:txBody>
                    <a:bodyPr/>
                    <a:lstStyle/>
                    <a:p>
                      <a:r>
                        <a:rPr sz="1200" b="1">
                          <a:solidFill>
                            <a:srgbClr val="FFFFFF"/>
                          </a:solidFill>
                        </a:rPr>
                        <a:t>Component</a:t>
                      </a:r>
                    </a:p>
                  </a:txBody>
                  <a:tcPr marL="45720" marR="45720" marT="18288" marB="18288">
                    <a:solidFill>
                      <a:srgbClr val="2E6FB7"/>
                    </a:solidFill>
                  </a:tcPr>
                </a:tc>
                <a:tc>
                  <a:txBody>
                    <a:bodyPr/>
                    <a:lstStyle/>
                    <a:p>
                      <a:r>
                        <a:rPr sz="1200" b="1">
                          <a:solidFill>
                            <a:srgbClr val="FFFFFF"/>
                          </a:solidFill>
                        </a:rPr>
                        <a:t>USD/tháng</a:t>
                      </a:r>
                    </a:p>
                  </a:txBody>
                  <a:tcPr marL="45720" marR="45720" marT="18288" marB="18288">
                    <a:solidFill>
                      <a:srgbClr val="2E6FB7"/>
                    </a:solidFill>
                  </a:tcPr>
                </a:tc>
              </a:tr>
              <a:tr h="384048">
                <a:tc>
                  <a:txBody>
                    <a:bodyPr/>
                    <a:lstStyle/>
                    <a:p>
                      <a:r>
                        <a:rPr sz="1200" b="0">
                          <a:solidFill>
                            <a:srgbClr val="555F6B"/>
                          </a:solidFill>
                        </a:rPr>
                        <a:t>compute</a:t>
                      </a:r>
                    </a:p>
                  </a:txBody>
                  <a:tcPr marL="45720" marR="45720" marT="18288" marB="18288">
                    <a:solidFill>
                      <a:srgbClr val="EEF3F8"/>
                    </a:solidFill>
                  </a:tcPr>
                </a:tc>
                <a:tc>
                  <a:txBody>
                    <a:bodyPr/>
                    <a:lstStyle/>
                    <a:p>
                      <a:r>
                        <a:rPr sz="1200" b="0">
                          <a:solidFill>
                            <a:srgbClr val="555F6B"/>
                          </a:solidFill>
                        </a:rPr>
                        <a:t>284,15</a:t>
                      </a:r>
                    </a:p>
                  </a:txBody>
                  <a:tcPr marL="45720" marR="45720" marT="18288" marB="18288">
                    <a:solidFill>
                      <a:srgbClr val="EEF3F8"/>
                    </a:solidFill>
                  </a:tcPr>
                </a:tc>
              </a:tr>
              <a:tr h="384048">
                <a:tc>
                  <a:txBody>
                    <a:bodyPr/>
                    <a:lstStyle/>
                    <a:p>
                      <a:r>
                        <a:rPr sz="1200" b="0">
                          <a:solidFill>
                            <a:srgbClr val="555F6B"/>
                          </a:solidFill>
                        </a:rPr>
                        <a:t>llm</a:t>
                      </a:r>
                    </a:p>
                  </a:txBody>
                  <a:tcPr marL="45720" marR="45720" marT="18288" marB="18288">
                    <a:solidFill>
                      <a:srgbClr val="FFFFFF"/>
                    </a:solidFill>
                  </a:tcPr>
                </a:tc>
                <a:tc>
                  <a:txBody>
                    <a:bodyPr/>
                    <a:lstStyle/>
                    <a:p>
                      <a:r>
                        <a:rPr sz="1200" b="0">
                          <a:solidFill>
                            <a:srgbClr val="555F6B"/>
                          </a:solidFill>
                        </a:rPr>
                        <a:t>1.093,34</a:t>
                      </a:r>
                    </a:p>
                  </a:txBody>
                  <a:tcPr marL="45720" marR="45720" marT="18288" marB="18288">
                    <a:solidFill>
                      <a:srgbClr val="FFFFFF"/>
                    </a:solidFill>
                  </a:tcPr>
                </a:tc>
              </a:tr>
              <a:tr h="384048">
                <a:tc>
                  <a:txBody>
                    <a:bodyPr/>
                    <a:lstStyle/>
                    <a:p>
                      <a:r>
                        <a:rPr sz="1200" b="0">
                          <a:solidFill>
                            <a:srgbClr val="555F6B"/>
                          </a:solidFill>
                        </a:rPr>
                        <a:t>embedding</a:t>
                      </a:r>
                    </a:p>
                  </a:txBody>
                  <a:tcPr marL="45720" marR="45720" marT="18288" marB="18288">
                    <a:solidFill>
                      <a:srgbClr val="EEF3F8"/>
                    </a:solidFill>
                  </a:tcPr>
                </a:tc>
                <a:tc>
                  <a:txBody>
                    <a:bodyPr/>
                    <a:lstStyle/>
                    <a:p>
                      <a:r>
                        <a:rPr sz="1200" b="0">
                          <a:solidFill>
                            <a:srgbClr val="555F6B"/>
                          </a:solidFill>
                        </a:rPr>
                        <a:t>19,50</a:t>
                      </a:r>
                    </a:p>
                  </a:txBody>
                  <a:tcPr marL="45720" marR="45720" marT="18288" marB="18288">
                    <a:solidFill>
                      <a:srgbClr val="EEF3F8"/>
                    </a:solidFill>
                  </a:tcPr>
                </a:tc>
              </a:tr>
              <a:tr h="384048">
                <a:tc>
                  <a:txBody>
                    <a:bodyPr/>
                    <a:lstStyle/>
                    <a:p>
                      <a:r>
                        <a:rPr sz="1200" b="0">
                          <a:solidFill>
                            <a:srgbClr val="555F6B"/>
                          </a:solidFill>
                        </a:rPr>
                        <a:t>gateway</a:t>
                      </a:r>
                    </a:p>
                  </a:txBody>
                  <a:tcPr marL="45720" marR="45720" marT="18288" marB="18288">
                    <a:solidFill>
                      <a:srgbClr val="FFFFFF"/>
                    </a:solidFill>
                  </a:tcPr>
                </a:tc>
                <a:tc>
                  <a:txBody>
                    <a:bodyPr/>
                    <a:lstStyle/>
                    <a:p>
                      <a:r>
                        <a:rPr sz="1200" b="0">
                          <a:solidFill>
                            <a:srgbClr val="555F6B"/>
                          </a:solidFill>
                        </a:rPr>
                        <a:t>0,00</a:t>
                      </a:r>
                    </a:p>
                  </a:txBody>
                  <a:tcPr marL="45720" marR="45720" marT="18288" marB="18288">
                    <a:solidFill>
                      <a:srgbClr val="FFFFFF"/>
                    </a:solidFill>
                  </a:tcPr>
                </a:tc>
              </a:tr>
              <a:tr h="384048">
                <a:tc>
                  <a:txBody>
                    <a:bodyPr/>
                    <a:lstStyle/>
                    <a:p>
                      <a:r>
                        <a:rPr sz="1200" b="0">
                          <a:solidFill>
                            <a:srgbClr val="555F6B"/>
                          </a:solidFill>
                        </a:rPr>
                        <a:t>load_balancer</a:t>
                      </a:r>
                    </a:p>
                  </a:txBody>
                  <a:tcPr marL="45720" marR="45720" marT="18288" marB="18288">
                    <a:solidFill>
                      <a:srgbClr val="EEF3F8"/>
                    </a:solidFill>
                  </a:tcPr>
                </a:tc>
                <a:tc>
                  <a:txBody>
                    <a:bodyPr/>
                    <a:lstStyle/>
                    <a:p>
                      <a:r>
                        <a:rPr sz="1200" b="0">
                          <a:solidFill>
                            <a:srgbClr val="555F6B"/>
                          </a:solidFill>
                        </a:rPr>
                        <a:t>29,44</a:t>
                      </a:r>
                    </a:p>
                  </a:txBody>
                  <a:tcPr marL="45720" marR="45720" marT="18288" marB="18288">
                    <a:solidFill>
                      <a:srgbClr val="EEF3F8"/>
                    </a:solidFill>
                  </a:tcPr>
                </a:tc>
              </a:tr>
              <a:tr h="384048">
                <a:tc>
                  <a:txBody>
                    <a:bodyPr/>
                    <a:lstStyle/>
                    <a:p>
                      <a:r>
                        <a:rPr sz="1200" b="0">
                          <a:solidFill>
                            <a:srgbClr val="555F6B"/>
                          </a:solidFill>
                        </a:rPr>
                        <a:t>authn</a:t>
                      </a:r>
                    </a:p>
                  </a:txBody>
                  <a:tcPr marL="45720" marR="45720" marT="18288" marB="18288">
                    <a:solidFill>
                      <a:srgbClr val="FFFFFF"/>
                    </a:solidFill>
                  </a:tcPr>
                </a:tc>
                <a:tc>
                  <a:txBody>
                    <a:bodyPr/>
                    <a:lstStyle/>
                    <a:p>
                      <a:r>
                        <a:rPr sz="1200" b="0">
                          <a:solidFill>
                            <a:srgbClr val="555F6B"/>
                          </a:solidFill>
                        </a:rPr>
                        <a:t>0,00</a:t>
                      </a:r>
                    </a:p>
                  </a:txBody>
                  <a:tcPr marL="45720" marR="45720" marT="18288" marB="18288">
                    <a:solidFill>
                      <a:srgbClr val="FFFFFF"/>
                    </a:solidFill>
                  </a:tcPr>
                </a:tc>
              </a:tr>
              <a:tr h="384048">
                <a:tc>
                  <a:txBody>
                    <a:bodyPr/>
                    <a:lstStyle/>
                    <a:p>
                      <a:r>
                        <a:rPr sz="1200" b="0">
                          <a:solidFill>
                            <a:srgbClr val="555F6B"/>
                          </a:solidFill>
                        </a:rPr>
                        <a:t>authz</a:t>
                      </a:r>
                    </a:p>
                  </a:txBody>
                  <a:tcPr marL="45720" marR="45720" marT="18288" marB="18288">
                    <a:solidFill>
                      <a:srgbClr val="EEF3F8"/>
                    </a:solidFill>
                  </a:tcPr>
                </a:tc>
                <a:tc>
                  <a:txBody>
                    <a:bodyPr/>
                    <a:lstStyle/>
                    <a:p>
                      <a:r>
                        <a:rPr sz="1200" b="0">
                          <a:solidFill>
                            <a:srgbClr val="555F6B"/>
                          </a:solidFill>
                        </a:rPr>
                        <a:t>0,00</a:t>
                      </a:r>
                    </a:p>
                  </a:txBody>
                  <a:tcPr marL="45720" marR="45720" marT="18288" marB="18288">
                    <a:solidFill>
                      <a:srgbClr val="EEF3F8"/>
                    </a:solidFill>
                  </a:tcPr>
                </a:tc>
              </a:tr>
              <a:tr h="384048">
                <a:tc>
                  <a:txBody>
                    <a:bodyPr/>
                    <a:lstStyle/>
                    <a:p>
                      <a:r>
                        <a:rPr sz="1200" b="0">
                          <a:solidFill>
                            <a:srgbClr val="555F6B"/>
                          </a:solidFill>
                        </a:rPr>
                        <a:t>database</a:t>
                      </a:r>
                    </a:p>
                  </a:txBody>
                  <a:tcPr marL="45720" marR="45720" marT="18288" marB="18288">
                    <a:solidFill>
                      <a:srgbClr val="FFFFFF"/>
                    </a:solidFill>
                  </a:tcPr>
                </a:tc>
                <a:tc>
                  <a:txBody>
                    <a:bodyPr/>
                    <a:lstStyle/>
                    <a:p>
                      <a:r>
                        <a:rPr sz="1200" b="0">
                          <a:solidFill>
                            <a:srgbClr val="555F6B"/>
                          </a:solidFill>
                        </a:rPr>
                        <a:t>466,71</a:t>
                      </a:r>
                    </a:p>
                  </a:txBody>
                  <a:tcPr marL="45720" marR="45720" marT="18288" marB="18288">
                    <a:solidFill>
                      <a:srgbClr val="FFFFFF"/>
                    </a:solidFill>
                  </a:tcPr>
                </a:tc>
              </a:tr>
              <a:tr h="384048">
                <a:tc>
                  <a:txBody>
                    <a:bodyPr/>
                    <a:lstStyle/>
                    <a:p>
                      <a:r>
                        <a:rPr sz="1200" b="0">
                          <a:solidFill>
                            <a:srgbClr val="555F6B"/>
                          </a:solidFill>
                        </a:rPr>
                        <a:t>vector_db</a:t>
                      </a:r>
                    </a:p>
                  </a:txBody>
                  <a:tcPr marL="45720" marR="45720" marT="18288" marB="18288">
                    <a:solidFill>
                      <a:srgbClr val="EEF3F8"/>
                    </a:solidFill>
                  </a:tcPr>
                </a:tc>
                <a:tc>
                  <a:txBody>
                    <a:bodyPr/>
                    <a:lstStyle/>
                    <a:p>
                      <a:r>
                        <a:rPr sz="1200" b="0">
                          <a:solidFill>
                            <a:srgbClr val="555F6B"/>
                          </a:solidFill>
                        </a:rPr>
                        <a:t>0,00</a:t>
                      </a:r>
                    </a:p>
                  </a:txBody>
                  <a:tcPr marL="45720" marR="45720" marT="18288" marB="18288">
                    <a:solidFill>
                      <a:srgbClr val="EEF3F8"/>
                    </a:solidFill>
                  </a:tcPr>
                </a:tc>
              </a:tr>
              <a:tr h="384048">
                <a:tc>
                  <a:txBody>
                    <a:bodyPr/>
                    <a:lstStyle/>
                    <a:p>
                      <a:r>
                        <a:rPr sz="1200" b="0">
                          <a:solidFill>
                            <a:srgbClr val="555F6B"/>
                          </a:solidFill>
                        </a:rPr>
                        <a:t>object_storage</a:t>
                      </a:r>
                    </a:p>
                  </a:txBody>
                  <a:tcPr marL="45720" marR="45720" marT="18288" marB="18288">
                    <a:solidFill>
                      <a:srgbClr val="FFFFFF"/>
                    </a:solidFill>
                  </a:tcPr>
                </a:tc>
                <a:tc>
                  <a:txBody>
                    <a:bodyPr/>
                    <a:lstStyle/>
                    <a:p>
                      <a:r>
                        <a:rPr sz="1200" b="0">
                          <a:solidFill>
                            <a:srgbClr val="555F6B"/>
                          </a:solidFill>
                        </a:rPr>
                        <a:t>82,80</a:t>
                      </a:r>
                    </a:p>
                  </a:txBody>
                  <a:tcPr marL="45720" marR="45720" marT="18288" marB="18288">
                    <a:solidFill>
                      <a:srgbClr val="FFFFFF"/>
                    </a:solidFill>
                  </a:tcPr>
                </a:tc>
              </a:tr>
            </a:tbl>
          </a:graphicData>
        </a:graphic>
      </p:graphicFrame>
      <p:graphicFrame>
        <p:nvGraphicFramePr>
          <p:cNvPr id="8" name="Table 7"/>
          <p:cNvGraphicFramePr>
            <a:graphicFrameLocks noGrp="1"/>
          </p:cNvGraphicFramePr>
          <p:nvPr/>
        </p:nvGraphicFramePr>
        <p:xfrm>
          <a:off x="6309360" y="1371600"/>
          <a:ext cx="5486400" cy="4608576"/>
        </p:xfrm>
        <a:graphic>
          <a:graphicData uri="http://schemas.openxmlformats.org/drawingml/2006/table">
            <a:tbl>
              <a:tblPr firstRow="1" bandRow="1">
                <a:tableStyleId>{5C22544A-7EE6-4342-B048-85BDC9FD1C3A}</a:tableStyleId>
              </a:tblPr>
              <a:tblGrid>
                <a:gridCol w="3200400"/>
                <a:gridCol w="2286000"/>
              </a:tblGrid>
              <a:tr h="384048">
                <a:tc>
                  <a:txBody>
                    <a:bodyPr/>
                    <a:lstStyle/>
                    <a:p>
                      <a:r>
                        <a:rPr sz="1200" b="1">
                          <a:solidFill>
                            <a:srgbClr val="FFFFFF"/>
                          </a:solidFill>
                        </a:rPr>
                        <a:t>Component</a:t>
                      </a:r>
                    </a:p>
                  </a:txBody>
                  <a:tcPr marL="45720" marR="45720" marT="18288" marB="18288">
                    <a:solidFill>
                      <a:srgbClr val="2E6FB7"/>
                    </a:solidFill>
                  </a:tcPr>
                </a:tc>
                <a:tc>
                  <a:txBody>
                    <a:bodyPr/>
                    <a:lstStyle/>
                    <a:p>
                      <a:r>
                        <a:rPr sz="1200" b="1">
                          <a:solidFill>
                            <a:srgbClr val="FFFFFF"/>
                          </a:solidFill>
                        </a:rPr>
                        <a:t>USD/tháng</a:t>
                      </a:r>
                    </a:p>
                  </a:txBody>
                  <a:tcPr marL="45720" marR="45720" marT="18288" marB="18288">
                    <a:solidFill>
                      <a:srgbClr val="2E6FB7"/>
                    </a:solidFill>
                  </a:tcPr>
                </a:tc>
              </a:tr>
              <a:tr h="384048">
                <a:tc>
                  <a:txBody>
                    <a:bodyPr/>
                    <a:lstStyle/>
                    <a:p>
                      <a:r>
                        <a:rPr sz="1200" b="0">
                          <a:solidFill>
                            <a:srgbClr val="555F6B"/>
                          </a:solidFill>
                        </a:rPr>
                        <a:t>cache_queue</a:t>
                      </a:r>
                    </a:p>
                  </a:txBody>
                  <a:tcPr marL="45720" marR="45720" marT="18288" marB="18288">
                    <a:solidFill>
                      <a:srgbClr val="EEF3F8"/>
                    </a:solidFill>
                  </a:tcPr>
                </a:tc>
                <a:tc>
                  <a:txBody>
                    <a:bodyPr/>
                    <a:lstStyle/>
                    <a:p>
                      <a:r>
                        <a:rPr sz="1200" b="0">
                          <a:solidFill>
                            <a:srgbClr val="555F6B"/>
                          </a:solidFill>
                        </a:rPr>
                        <a:t>55,75</a:t>
                      </a:r>
                    </a:p>
                  </a:txBody>
                  <a:tcPr marL="45720" marR="45720" marT="18288" marB="18288">
                    <a:solidFill>
                      <a:srgbClr val="EEF3F8"/>
                    </a:solidFill>
                  </a:tcPr>
                </a:tc>
              </a:tr>
              <a:tr h="384048">
                <a:tc>
                  <a:txBody>
                    <a:bodyPr/>
                    <a:lstStyle/>
                    <a:p>
                      <a:r>
                        <a:rPr sz="1200" b="0">
                          <a:solidFill>
                            <a:srgbClr val="555F6B"/>
                          </a:solidFill>
                        </a:rPr>
                        <a:t>sandbox</a:t>
                      </a:r>
                    </a:p>
                  </a:txBody>
                  <a:tcPr marL="45720" marR="45720" marT="18288" marB="18288">
                    <a:solidFill>
                      <a:srgbClr val="FFFFFF"/>
                    </a:solidFill>
                  </a:tcPr>
                </a:tc>
                <a:tc>
                  <a:txBody>
                    <a:bodyPr/>
                    <a:lstStyle/>
                    <a:p>
                      <a:r>
                        <a:rPr sz="1200" b="0">
                          <a:solidFill>
                            <a:srgbClr val="555F6B"/>
                          </a:solidFill>
                        </a:rPr>
                        <a:t>314,64</a:t>
                      </a:r>
                    </a:p>
                  </a:txBody>
                  <a:tcPr marL="45720" marR="45720" marT="18288" marB="18288">
                    <a:solidFill>
                      <a:srgbClr val="FFFFFF"/>
                    </a:solidFill>
                  </a:tcPr>
                </a:tc>
              </a:tr>
              <a:tr h="384048">
                <a:tc>
                  <a:txBody>
                    <a:bodyPr/>
                    <a:lstStyle/>
                    <a:p>
                      <a:r>
                        <a:rPr sz="1200" b="0">
                          <a:solidFill>
                            <a:srgbClr val="555F6B"/>
                          </a:solidFill>
                        </a:rPr>
                        <a:t>connectors</a:t>
                      </a:r>
                    </a:p>
                  </a:txBody>
                  <a:tcPr marL="45720" marR="45720" marT="18288" marB="18288">
                    <a:solidFill>
                      <a:srgbClr val="EEF3F8"/>
                    </a:solidFill>
                  </a:tcPr>
                </a:tc>
                <a:tc>
                  <a:txBody>
                    <a:bodyPr/>
                    <a:lstStyle/>
                    <a:p>
                      <a:r>
                        <a:rPr sz="1200" b="0">
                          <a:solidFill>
                            <a:srgbClr val="555F6B"/>
                          </a:solidFill>
                        </a:rPr>
                        <a:t>0,00</a:t>
                      </a:r>
                    </a:p>
                  </a:txBody>
                  <a:tcPr marL="45720" marR="45720" marT="18288" marB="18288">
                    <a:solidFill>
                      <a:srgbClr val="EEF3F8"/>
                    </a:solidFill>
                  </a:tcPr>
                </a:tc>
              </a:tr>
              <a:tr h="384048">
                <a:tc>
                  <a:txBody>
                    <a:bodyPr/>
                    <a:lstStyle/>
                    <a:p>
                      <a:r>
                        <a:rPr sz="1200" b="0">
                          <a:solidFill>
                            <a:srgbClr val="555F6B"/>
                          </a:solidFill>
                        </a:rPr>
                        <a:t>secrets_kms</a:t>
                      </a:r>
                    </a:p>
                  </a:txBody>
                  <a:tcPr marL="45720" marR="45720" marT="18288" marB="18288">
                    <a:solidFill>
                      <a:srgbClr val="FFFFFF"/>
                    </a:solidFill>
                  </a:tcPr>
                </a:tc>
                <a:tc>
                  <a:txBody>
                    <a:bodyPr/>
                    <a:lstStyle/>
                    <a:p>
                      <a:r>
                        <a:rPr sz="1200" b="0">
                          <a:solidFill>
                            <a:srgbClr val="555F6B"/>
                          </a:solidFill>
                        </a:rPr>
                        <a:t>3,96</a:t>
                      </a:r>
                    </a:p>
                  </a:txBody>
                  <a:tcPr marL="45720" marR="45720" marT="18288" marB="18288">
                    <a:solidFill>
                      <a:srgbClr val="FFFFFF"/>
                    </a:solidFill>
                  </a:tcPr>
                </a:tc>
              </a:tr>
              <a:tr h="384048">
                <a:tc>
                  <a:txBody>
                    <a:bodyPr/>
                    <a:lstStyle/>
                    <a:p>
                      <a:r>
                        <a:rPr sz="1200" b="0">
                          <a:solidFill>
                            <a:srgbClr val="555F6B"/>
                          </a:solidFill>
                        </a:rPr>
                        <a:t>backup_dr</a:t>
                      </a:r>
                    </a:p>
                  </a:txBody>
                  <a:tcPr marL="45720" marR="45720" marT="18288" marB="18288">
                    <a:solidFill>
                      <a:srgbClr val="EEF3F8"/>
                    </a:solidFill>
                  </a:tcPr>
                </a:tc>
                <a:tc>
                  <a:txBody>
                    <a:bodyPr/>
                    <a:lstStyle/>
                    <a:p>
                      <a:r>
                        <a:rPr sz="1200" b="0">
                          <a:solidFill>
                            <a:srgbClr val="555F6B"/>
                          </a:solidFill>
                        </a:rPr>
                        <a:t>164,40</a:t>
                      </a:r>
                    </a:p>
                  </a:txBody>
                  <a:tcPr marL="45720" marR="45720" marT="18288" marB="18288">
                    <a:solidFill>
                      <a:srgbClr val="EEF3F8"/>
                    </a:solidFill>
                  </a:tcPr>
                </a:tc>
              </a:tr>
              <a:tr h="384048">
                <a:tc>
                  <a:txBody>
                    <a:bodyPr/>
                    <a:lstStyle/>
                    <a:p>
                      <a:r>
                        <a:rPr sz="1200" b="0">
                          <a:solidFill>
                            <a:srgbClr val="555F6B"/>
                          </a:solidFill>
                        </a:rPr>
                        <a:t>monitoring</a:t>
                      </a:r>
                    </a:p>
                  </a:txBody>
                  <a:tcPr marL="45720" marR="45720" marT="18288" marB="18288">
                    <a:solidFill>
                      <a:srgbClr val="FFFFFF"/>
                    </a:solidFill>
                  </a:tcPr>
                </a:tc>
                <a:tc>
                  <a:txBody>
                    <a:bodyPr/>
                    <a:lstStyle/>
                    <a:p>
                      <a:r>
                        <a:rPr sz="1200" b="0">
                          <a:solidFill>
                            <a:srgbClr val="555F6B"/>
                          </a:solidFill>
                        </a:rPr>
                        <a:t>22,51</a:t>
                      </a:r>
                    </a:p>
                  </a:txBody>
                  <a:tcPr marL="45720" marR="45720" marT="18288" marB="18288">
                    <a:solidFill>
                      <a:srgbClr val="FFFFFF"/>
                    </a:solidFill>
                  </a:tcPr>
                </a:tc>
              </a:tr>
              <a:tr h="384048">
                <a:tc>
                  <a:txBody>
                    <a:bodyPr/>
                    <a:lstStyle/>
                    <a:p>
                      <a:r>
                        <a:rPr sz="1200" b="0">
                          <a:solidFill>
                            <a:srgbClr val="555F6B"/>
                          </a:solidFill>
                        </a:rPr>
                        <a:t>governance</a:t>
                      </a:r>
                    </a:p>
                  </a:txBody>
                  <a:tcPr marL="45720" marR="45720" marT="18288" marB="18288">
                    <a:solidFill>
                      <a:srgbClr val="EEF3F8"/>
                    </a:solidFill>
                  </a:tcPr>
                </a:tc>
                <a:tc>
                  <a:txBody>
                    <a:bodyPr/>
                    <a:lstStyle/>
                    <a:p>
                      <a:r>
                        <a:rPr sz="1200" b="0">
                          <a:solidFill>
                            <a:srgbClr val="555F6B"/>
                          </a:solidFill>
                        </a:rPr>
                        <a:t>805,98</a:t>
                      </a:r>
                    </a:p>
                  </a:txBody>
                  <a:tcPr marL="45720" marR="45720" marT="18288" marB="18288">
                    <a:solidFill>
                      <a:srgbClr val="EEF3F8"/>
                    </a:solidFill>
                  </a:tcPr>
                </a:tc>
              </a:tr>
              <a:tr h="384048">
                <a:tc>
                  <a:txBody>
                    <a:bodyPr/>
                    <a:lstStyle/>
                    <a:p>
                      <a:r>
                        <a:rPr sz="1200" b="0">
                          <a:solidFill>
                            <a:srgbClr val="555F6B"/>
                          </a:solidFill>
                        </a:rPr>
                        <a:t>network</a:t>
                      </a:r>
                    </a:p>
                  </a:txBody>
                  <a:tcPr marL="45720" marR="45720" marT="18288" marB="18288">
                    <a:solidFill>
                      <a:srgbClr val="FFFFFF"/>
                    </a:solidFill>
                  </a:tcPr>
                </a:tc>
                <a:tc>
                  <a:txBody>
                    <a:bodyPr/>
                    <a:lstStyle/>
                    <a:p>
                      <a:r>
                        <a:rPr sz="1200" b="0">
                          <a:solidFill>
                            <a:srgbClr val="555F6B"/>
                          </a:solidFill>
                        </a:rPr>
                        <a:t>64,26</a:t>
                      </a:r>
                    </a:p>
                  </a:txBody>
                  <a:tcPr marL="45720" marR="45720" marT="18288" marB="18288">
                    <a:solidFill>
                      <a:srgbClr val="FFFFFF"/>
                    </a:solidFill>
                  </a:tcPr>
                </a:tc>
              </a:tr>
              <a:tr h="384048">
                <a:tc>
                  <a:txBody>
                    <a:bodyPr/>
                    <a:lstStyle/>
                    <a:p>
                      <a:r>
                        <a:rPr sz="1200" b="0">
                          <a:solidFill>
                            <a:srgbClr val="555F6B"/>
                          </a:solidFill>
                        </a:rPr>
                        <a:t>cicd</a:t>
                      </a:r>
                    </a:p>
                  </a:txBody>
                  <a:tcPr marL="45720" marR="45720" marT="18288" marB="18288">
                    <a:solidFill>
                      <a:srgbClr val="EEF3F8"/>
                    </a:solidFill>
                  </a:tcPr>
                </a:tc>
                <a:tc>
                  <a:txBody>
                    <a:bodyPr/>
                    <a:lstStyle/>
                    <a:p>
                      <a:r>
                        <a:rPr sz="1200" b="0">
                          <a:solidFill>
                            <a:srgbClr val="555F6B"/>
                          </a:solidFill>
                        </a:rPr>
                        <a:t>14,00</a:t>
                      </a:r>
                    </a:p>
                  </a:txBody>
                  <a:tcPr marL="45720" marR="45720" marT="18288" marB="18288">
                    <a:solidFill>
                      <a:srgbClr val="EEF3F8"/>
                    </a:solidFill>
                  </a:tcPr>
                </a:tc>
              </a:tr>
              <a:tr h="384048">
                <a:tc>
                  <a:txBody>
                    <a:bodyPr/>
                    <a:lstStyle/>
                    <a:p>
                      <a:r>
                        <a:rPr sz="1200" b="0">
                          <a:solidFill>
                            <a:srgbClr val="555F6B"/>
                          </a:solidFill>
                        </a:rPr>
                        <a:t>ops_labor</a:t>
                      </a:r>
                    </a:p>
                  </a:txBody>
                  <a:tcPr marL="45720" marR="45720" marT="18288" marB="18288">
                    <a:solidFill>
                      <a:srgbClr val="FFFFFF"/>
                    </a:solidFill>
                  </a:tcPr>
                </a:tc>
                <a:tc>
                  <a:txBody>
                    <a:bodyPr/>
                    <a:lstStyle/>
                    <a:p>
                      <a:r>
                        <a:rPr sz="1200" b="0">
                          <a:solidFill>
                            <a:srgbClr val="555F6B"/>
                          </a:solidFill>
                        </a:rPr>
                        <a:t>3.400,00</a:t>
                      </a:r>
                    </a:p>
                  </a:txBody>
                  <a:tcPr marL="45720" marR="45720" marT="18288" marB="18288">
                    <a:solidFill>
                      <a:srgbClr val="FFFFFF"/>
                    </a:solidFill>
                  </a:tcPr>
                </a:tc>
              </a:tr>
              <a:tr h="384048">
                <a:tc>
                  <a:txBody>
                    <a:bodyPr/>
                    <a:lstStyle/>
                    <a:p>
                      <a:r>
                        <a:rPr sz="1200" b="0">
                          <a:solidFill>
                            <a:srgbClr val="555F6B"/>
                          </a:solidFill>
                        </a:rPr>
                        <a:t>TOTAL</a:t>
                      </a:r>
                    </a:p>
                  </a:txBody>
                  <a:tcPr marL="45720" marR="45720" marT="18288" marB="18288">
                    <a:solidFill>
                      <a:srgbClr val="EEF3F8"/>
                    </a:solidFill>
                  </a:tcPr>
                </a:tc>
                <a:tc>
                  <a:txBody>
                    <a:bodyPr/>
                    <a:lstStyle/>
                    <a:p>
                      <a:r>
                        <a:rPr sz="1200" b="0">
                          <a:solidFill>
                            <a:srgbClr val="555F6B"/>
                          </a:solidFill>
                        </a:rPr>
                        <a:t>6.821,44</a:t>
                      </a:r>
                    </a:p>
                  </a:txBody>
                  <a:tcPr marL="45720" marR="45720" marT="18288" marB="18288">
                    <a:solidFill>
                      <a:srgbClr val="EEF3F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Phụ lục B. Nguồn số liệu</a:t>
            </a:r>
          </a:p>
        </p:txBody>
      </p:sp>
      <p:sp>
        <p:nvSpPr>
          <p:cNvPr id="4" name="TextBox 3"/>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B</a:t>
            </a:r>
          </a:p>
        </p:txBody>
      </p:sp>
      <p:sp>
        <p:nvSpPr>
          <p:cNvPr id="5" name="TextBox 4"/>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sp>
        <p:nvSpPr>
          <p:cNvPr id="6" name="TextBox 5"/>
          <p:cNvSpPr txBox="1"/>
          <p:nvPr/>
        </p:nvSpPr>
        <p:spPr>
          <a:xfrm>
            <a:off x="457200" y="1188720"/>
            <a:ext cx="11247120" cy="5120640"/>
          </a:xfrm>
          <a:prstGeom prst="rect">
            <a:avLst/>
          </a:prstGeom>
          <a:noFill/>
        </p:spPr>
        <p:txBody>
          <a:bodyPr wrap="square">
            <a:spAutoFit/>
          </a:bodyPr>
          <a:lstStyle/>
          <a:p>
            <a:pPr algn="l">
              <a:spcAft>
                <a:spcPts val="400"/>
              </a:spcAft>
            </a:pPr>
            <a:r>
              <a:rPr sz="1300" b="0">
                <a:solidFill>
                  <a:srgbClr val="555F6B"/>
                </a:solidFill>
              </a:rPr>
              <a:t>Giá: trang giá chính thức của Google Cloud (GKE, Vertex AI, Cloud SQL, Cloud Storage, Memorystore, Cloud Tasks, KMS, Secret Manager, Observability, Security Command Center, Cloud Armor, VPC network, Cloud Build, Artifact Registry, IAP), đọc ngày 16/10/2026</a:t>
            </a:r>
          </a:p>
          <a:p>
            <a:pPr algn="l">
              <a:spcAft>
                <a:spcPts val="400"/>
              </a:spcAft>
            </a:pPr>
            <a:r>
              <a:rPr sz="1300" b="0">
                <a:solidFill>
                  <a:srgbClr val="555F6B"/>
                </a:solidFill>
              </a:rPr>
              <a:t>So sánh với AWS và Azure: AWS Price List API, Azure Retail Prices API (region ap-southeast-1, southeastasia)</a:t>
            </a:r>
          </a:p>
          <a:p>
            <a:pPr algn="l">
              <a:spcAft>
                <a:spcPts val="400"/>
              </a:spcAft>
            </a:pPr>
            <a:r>
              <a:rPr sz="1300" b="0">
                <a:solidFill>
                  <a:srgbClr val="555F6B"/>
                </a:solidFill>
              </a:rPr>
              <a:t>Tải: Microsoft WorkLab 2025; Dillon et al., Shifting Work Patterns with Generative AI (2025); Radicati 2015; APQC; Brynjolfsson et al. NBER 31161; Graphite Research; Liang et al. 2025; UK DBT Copilot evaluation 2025</a:t>
            </a:r>
          </a:p>
          <a:p>
            <a:pPr algn="l">
              <a:spcAft>
                <a:spcPts val="400"/>
              </a:spcAft>
            </a:pPr>
            <a:r>
              <a:rPr sz="1300" b="0">
                <a:solidFill>
                  <a:srgbClr val="555F6B"/>
                </a:solidFill>
              </a:rPr>
              <a:t>Token mỗi lượt chat (số lần gọi model × token vào / token ra): cấp 1: 2 × 5,5k / 250 · cấp 2: 2 × 18k / 2,5k · cấp 3: 3,5 × 12k / 1k · cấp 4: 8 × 15k / 300 · cấp 5: 1,5 × 4k / 600 + 1 ảnh</a:t>
            </a:r>
          </a:p>
          <a:p>
            <a:pPr algn="l">
              <a:spcAft>
                <a:spcPts val="400"/>
              </a:spcAft>
            </a:pPr>
            <a:r>
              <a:rPr sz="1300" b="0">
                <a:solidFill>
                  <a:srgbClr val="555F6B"/>
                </a:solidFill>
              </a:rPr>
              <a:t>Nguồn token: Azure OpenAI On your data defaults; Vertex RAG Engine; DA-Code; DABstep; MCP-Universe; MCPMark; OpenRouter State of AI 2025; Azure LLM inference trace 2024</a:t>
            </a:r>
          </a:p>
          <a:p>
            <a:pPr algn="l">
              <a:spcAft>
                <a:spcPts val="400"/>
              </a:spcAft>
            </a:pPr>
            <a:r>
              <a:rPr sz="1300" b="0">
                <a:solidFill>
                  <a:srgbClr val="555F6B"/>
                </a:solidFill>
              </a:rPr>
              <a:t>Chất lượng và tốc độ model: Artificial Analysis Intelligence Index v4.3.2</a:t>
            </a:r>
          </a:p>
          <a:p>
            <a:pPr algn="l">
              <a:spcAft>
                <a:spcPts val="400"/>
              </a:spcAft>
            </a:pPr>
            <a:r>
              <a:rPr sz="1300" b="0">
                <a:solidFill>
                  <a:srgbClr val="555F6B"/>
                </a:solidFill>
              </a:rPr>
              <a:t>Lương: ITviec Vietnam IT Salary &amp; Recruitment Market 2024–2025; tỉ giá Vietcombank ngày 16/10/2026</a:t>
            </a:r>
          </a:p>
          <a:p>
            <a:pPr algn="l">
              <a:spcAft>
                <a:spcPts val="400"/>
              </a:spcAft>
            </a:pPr>
            <a:r>
              <a:rPr sz="1300" b="0">
                <a:solidFill>
                  <a:srgbClr val="555F6B"/>
                </a:solidFill>
              </a:rPr>
              <a:t>Connector: Microsoft Graph throttling, Atlassian rate limiting, Notion request limits, Google Workspace API limits</a:t>
            </a:r>
          </a:p>
          <a:p>
            <a:pPr algn="l">
              <a:spcAft>
                <a:spcPts val="400"/>
              </a:spcAft>
            </a:pPr>
            <a:r>
              <a:rPr sz="1300" b="0">
                <a:solidFill>
                  <a:srgbClr val="555F6B"/>
                </a:solidFill>
              </a:rPr>
              <a:t>Chi tiết nghiên cứu: thư mục research/ (usage-benchmarks, task-volume-by-role, token-per-task, r1, r2, r3, r5-r9, r8-r6) và cost_model.py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Phụ lục C. Việc chung của mọi nhân viên: 6,26 nhiệm vụ/ngày</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Ai cũng làm 5 việc này. Số nhiệm vụ = khối lượng việc thật mỗi ngày × tỉ lệ giao cho AI</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C</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graphicFrame>
        <p:nvGraphicFramePr>
          <p:cNvPr id="7" name="Table 6"/>
          <p:cNvGraphicFramePr>
            <a:graphicFrameLocks noGrp="1"/>
          </p:cNvGraphicFramePr>
          <p:nvPr/>
        </p:nvGraphicFramePr>
        <p:xfrm>
          <a:off x="457200" y="1371600"/>
          <a:ext cx="11247120" cy="3520440"/>
        </p:xfrm>
        <a:graphic>
          <a:graphicData uri="http://schemas.openxmlformats.org/drawingml/2006/table">
            <a:tbl>
              <a:tblPr firstRow="1" bandRow="1">
                <a:tableStyleId>{5C22544A-7EE6-4342-B048-85BDC9FD1C3A}</a:tableStyleId>
              </a:tblPr>
              <a:tblGrid>
                <a:gridCol w="2286000"/>
                <a:gridCol w="548640"/>
                <a:gridCol w="1828800"/>
                <a:gridCol w="1005840"/>
                <a:gridCol w="1280160"/>
                <a:gridCol w="4297680"/>
              </a:tblGrid>
              <a:tr h="502920">
                <a:tc>
                  <a:txBody>
                    <a:bodyPr/>
                    <a:lstStyle/>
                    <a:p>
                      <a:r>
                        <a:rPr sz="1100" b="1">
                          <a:solidFill>
                            <a:srgbClr val="FFFFFF"/>
                          </a:solidFill>
                        </a:rPr>
                        <a:t>Việc</a:t>
                      </a:r>
                    </a:p>
                  </a:txBody>
                  <a:tcPr marL="45720" marR="45720" marT="18288" marB="18288">
                    <a:solidFill>
                      <a:srgbClr val="2E6FB7"/>
                    </a:solidFill>
                  </a:tcPr>
                </a:tc>
                <a:tc>
                  <a:txBody>
                    <a:bodyPr/>
                    <a:lstStyle/>
                    <a:p>
                      <a:r>
                        <a:rPr sz="1100" b="1">
                          <a:solidFill>
                            <a:srgbClr val="FFFFFF"/>
                          </a:solidFill>
                        </a:rPr>
                        <a:t>Cấp</a:t>
                      </a:r>
                    </a:p>
                  </a:txBody>
                  <a:tcPr marL="45720" marR="45720" marT="18288" marB="18288">
                    <a:solidFill>
                      <a:srgbClr val="2E6FB7"/>
                    </a:solidFill>
                  </a:tcPr>
                </a:tc>
                <a:tc>
                  <a:txBody>
                    <a:bodyPr/>
                    <a:lstStyle/>
                    <a:p>
                      <a:r>
                        <a:rPr sz="1100" b="1">
                          <a:solidFill>
                            <a:srgbClr val="FFFFFF"/>
                          </a:solidFill>
                        </a:rPr>
                        <a:t>Khối lượng thật/người/ngày</a:t>
                      </a:r>
                    </a:p>
                  </a:txBody>
                  <a:tcPr marL="45720" marR="45720" marT="18288" marB="18288">
                    <a:solidFill>
                      <a:srgbClr val="2E6FB7"/>
                    </a:solidFill>
                  </a:tcPr>
                </a:tc>
                <a:tc>
                  <a:txBody>
                    <a:bodyPr/>
                    <a:lstStyle/>
                    <a:p>
                      <a:r>
                        <a:rPr sz="1100" b="1">
                          <a:solidFill>
                            <a:srgbClr val="FFFFFF"/>
                          </a:solidFill>
                        </a:rPr>
                        <a:t>Tỉ lệ giao AI</a:t>
                      </a:r>
                    </a:p>
                  </a:txBody>
                  <a:tcPr marL="45720" marR="45720" marT="18288" marB="18288">
                    <a:solidFill>
                      <a:srgbClr val="2E6FB7"/>
                    </a:solidFill>
                  </a:tcPr>
                </a:tc>
                <a:tc>
                  <a:txBody>
                    <a:bodyPr/>
                    <a:lstStyle/>
                    <a:p>
                      <a:r>
                        <a:rPr sz="1100" b="1">
                          <a:solidFill>
                            <a:srgbClr val="FFFFFF"/>
                          </a:solidFill>
                        </a:rPr>
                        <a:t>Nhiệm vụ/người/ngày</a:t>
                      </a:r>
                    </a:p>
                  </a:txBody>
                  <a:tcPr marL="45720" marR="45720" marT="18288" marB="18288">
                    <a:solidFill>
                      <a:srgbClr val="2E6FB7"/>
                    </a:solidFill>
                  </a:tcPr>
                </a:tc>
                <a:tc>
                  <a:txBody>
                    <a:bodyPr/>
                    <a:lstStyle/>
                    <a:p>
                      <a:r>
                        <a:rPr sz="1100" b="1">
                          <a:solidFill>
                            <a:srgbClr val="FFFFFF"/>
                          </a:solidFill>
                        </a:rPr>
                        <a:t>Căn cứ</a:t>
                      </a:r>
                    </a:p>
                  </a:txBody>
                  <a:tcPr marL="45720" marR="45720" marT="18288" marB="18288">
                    <a:solidFill>
                      <a:srgbClr val="2E6FB7"/>
                    </a:solidFill>
                  </a:tcPr>
                </a:tc>
              </a:tr>
              <a:tr h="502920">
                <a:tc>
                  <a:txBody>
                    <a:bodyPr/>
                    <a:lstStyle/>
                    <a:p>
                      <a:r>
                        <a:rPr sz="1100" b="0">
                          <a:solidFill>
                            <a:srgbClr val="555F6B"/>
                          </a:solidFill>
                        </a:rPr>
                        <a:t>Soạn, trả lời email</a:t>
                      </a:r>
                    </a:p>
                  </a:txBody>
                  <a:tcPr marL="45720" marR="45720" marT="18288" marB="18288">
                    <a:solidFill>
                      <a:srgbClr val="EEF3F8"/>
                    </a:solidFill>
                  </a:tcPr>
                </a:tc>
                <a:tc>
                  <a:txBody>
                    <a:bodyPr/>
                    <a:lstStyle/>
                    <a:p>
                      <a:r>
                        <a:rPr sz="1100" b="0">
                          <a:solidFill>
                            <a:srgbClr val="555F6B"/>
                          </a:solidFill>
                        </a:rPr>
                        <a:t>1</a:t>
                      </a:r>
                    </a:p>
                  </a:txBody>
                  <a:tcPr marL="45720" marR="45720" marT="18288" marB="18288">
                    <a:solidFill>
                      <a:srgbClr val="EEF3F8"/>
                    </a:solidFill>
                  </a:tcPr>
                </a:tc>
                <a:tc>
                  <a:txBody>
                    <a:bodyPr/>
                    <a:lstStyle/>
                    <a:p>
                      <a:r>
                        <a:rPr sz="1100" b="0">
                          <a:solidFill>
                            <a:srgbClr val="555F6B"/>
                          </a:solidFill>
                        </a:rPr>
                        <a:t>9,9 email gửi</a:t>
                      </a:r>
                    </a:p>
                  </a:txBody>
                  <a:tcPr marL="45720" marR="45720" marT="18288" marB="18288">
                    <a:solidFill>
                      <a:srgbClr val="EEF3F8"/>
                    </a:solidFill>
                  </a:tcPr>
                </a:tc>
                <a:tc>
                  <a:txBody>
                    <a:bodyPr/>
                    <a:lstStyle/>
                    <a:p>
                      <a:r>
                        <a:rPr sz="1100" b="0">
                          <a:solidFill>
                            <a:srgbClr val="555F6B"/>
                          </a:solidFill>
                        </a:rPr>
                        <a:t>30%</a:t>
                      </a:r>
                    </a:p>
                  </a:txBody>
                  <a:tcPr marL="45720" marR="45720" marT="18288" marB="18288">
                    <a:solidFill>
                      <a:srgbClr val="EEF3F8"/>
                    </a:solidFill>
                  </a:tcPr>
                </a:tc>
                <a:tc>
                  <a:txBody>
                    <a:bodyPr/>
                    <a:lstStyle/>
                    <a:p>
                      <a:r>
                        <a:rPr sz="1100" b="0">
                          <a:solidFill>
                            <a:srgbClr val="555F6B"/>
                          </a:solidFill>
                        </a:rPr>
                        <a:t>2,97</a:t>
                      </a:r>
                    </a:p>
                  </a:txBody>
                  <a:tcPr marL="45720" marR="45720" marT="18288" marB="18288">
                    <a:solidFill>
                      <a:srgbClr val="EEF3F8"/>
                    </a:solidFill>
                  </a:tcPr>
                </a:tc>
                <a:tc>
                  <a:txBody>
                    <a:bodyPr/>
                    <a:lstStyle/>
                    <a:p>
                      <a:r>
                        <a:rPr sz="1100" b="0">
                          <a:solidFill>
                            <a:srgbClr val="555F6B"/>
                          </a:solidFill>
                        </a:rPr>
                        <a:t>Trung bình nhân của 2,9 (Microsoft RCT 2025) và 34 (Radicati). 30% cao hơn mức 10–24% của Liang 2025 vì công ty triển khai chính thức</a:t>
                      </a:r>
                    </a:p>
                  </a:txBody>
                  <a:tcPr marL="45720" marR="45720" marT="18288" marB="18288">
                    <a:solidFill>
                      <a:srgbClr val="EEF3F8"/>
                    </a:solidFill>
                  </a:tcPr>
                </a:tc>
              </a:tr>
              <a:tr h="502920">
                <a:tc>
                  <a:txBody>
                    <a:bodyPr/>
                    <a:lstStyle/>
                    <a:p>
                      <a:r>
                        <a:rPr sz="1100" b="0">
                          <a:solidFill>
                            <a:srgbClr val="555F6B"/>
                          </a:solidFill>
                        </a:rPr>
                        <a:t>Tóm tắt, phân loại email</a:t>
                      </a:r>
                    </a:p>
                  </a:txBody>
                  <a:tcPr marL="45720" marR="45720" marT="18288" marB="18288">
                    <a:solidFill>
                      <a:srgbClr val="FFFFFF"/>
                    </a:solidFill>
                  </a:tcPr>
                </a:tc>
                <a:tc>
                  <a:txBody>
                    <a:bodyPr/>
                    <a:lstStyle/>
                    <a:p>
                      <a:r>
                        <a:rPr sz="1100" b="0">
                          <a:solidFill>
                            <a:srgbClr val="555F6B"/>
                          </a:solidFill>
                        </a:rPr>
                        <a:t>1</a:t>
                      </a:r>
                    </a:p>
                  </a:txBody>
                  <a:tcPr marL="45720" marR="45720" marT="18288" marB="18288">
                    <a:solidFill>
                      <a:srgbClr val="FFFFFF"/>
                    </a:solidFill>
                  </a:tcPr>
                </a:tc>
                <a:tc>
                  <a:txBody>
                    <a:bodyPr/>
                    <a:lstStyle/>
                    <a:p>
                      <a:r>
                        <a:rPr sz="1100" b="0">
                          <a:solidFill>
                            <a:srgbClr val="555F6B"/>
                          </a:solidFill>
                        </a:rPr>
                        <a:t>32,2 email đọc</a:t>
                      </a:r>
                    </a:p>
                  </a:txBody>
                  <a:tcPr marL="45720" marR="45720" marT="18288" marB="18288">
                    <a:solidFill>
                      <a:srgbClr val="FFFFFF"/>
                    </a:solidFill>
                  </a:tcPr>
                </a:tc>
                <a:tc>
                  <a:txBody>
                    <a:bodyPr/>
                    <a:lstStyle/>
                    <a:p>
                      <a:r>
                        <a:rPr sz="1100" b="0">
                          <a:solidFill>
                            <a:srgbClr val="555F6B"/>
                          </a:solidFill>
                        </a:rPr>
                        <a:t>5%</a:t>
                      </a:r>
                    </a:p>
                  </a:txBody>
                  <a:tcPr marL="45720" marR="45720" marT="18288" marB="18288">
                    <a:solidFill>
                      <a:srgbClr val="FFFFFF"/>
                    </a:solidFill>
                  </a:tcPr>
                </a:tc>
                <a:tc>
                  <a:txBody>
                    <a:bodyPr/>
                    <a:lstStyle/>
                    <a:p>
                      <a:r>
                        <a:rPr sz="1100" b="0">
                          <a:solidFill>
                            <a:srgbClr val="555F6B"/>
                          </a:solidFill>
                        </a:rPr>
                        <a:t>1,61</a:t>
                      </a:r>
                    </a:p>
                  </a:txBody>
                  <a:tcPr marL="45720" marR="45720" marT="18288" marB="18288">
                    <a:solidFill>
                      <a:srgbClr val="FFFFFF"/>
                    </a:solidFill>
                  </a:tcPr>
                </a:tc>
                <a:tc>
                  <a:txBody>
                    <a:bodyPr/>
                    <a:lstStyle/>
                    <a:p>
                      <a:r>
                        <a:rPr sz="1100" b="0">
                          <a:solidFill>
                            <a:srgbClr val="555F6B"/>
                          </a:solidFill>
                        </a:rPr>
                        <a:t>Microsoft RCT 2025: 160,8 email đọc/tuần. Tỉ lệ 5%: giả định của nhóm</a:t>
                      </a:r>
                    </a:p>
                  </a:txBody>
                  <a:tcPr marL="45720" marR="45720" marT="18288" marB="18288">
                    <a:solidFill>
                      <a:srgbClr val="FFFFFF"/>
                    </a:solidFill>
                  </a:tcPr>
                </a:tc>
              </a:tr>
              <a:tr h="502920">
                <a:tc>
                  <a:txBody>
                    <a:bodyPr/>
                    <a:lstStyle/>
                    <a:p>
                      <a:r>
                        <a:rPr sz="1100" b="0">
                          <a:solidFill>
                            <a:srgbClr val="555F6B"/>
                          </a:solidFill>
                        </a:rPr>
                        <a:t>Hỏi đáp tài liệu nội bộ</a:t>
                      </a:r>
                    </a:p>
                  </a:txBody>
                  <a:tcPr marL="45720" marR="45720" marT="18288" marB="18288">
                    <a:solidFill>
                      <a:srgbClr val="EEF3F8"/>
                    </a:solidFill>
                  </a:tcPr>
                </a:tc>
                <a:tc>
                  <a:txBody>
                    <a:bodyPr/>
                    <a:lstStyle/>
                    <a:p>
                      <a:r>
                        <a:rPr sz="1100" b="0">
                          <a:solidFill>
                            <a:srgbClr val="555F6B"/>
                          </a:solidFill>
                        </a:rPr>
                        <a:t>1</a:t>
                      </a:r>
                    </a:p>
                  </a:txBody>
                  <a:tcPr marL="45720" marR="45720" marT="18288" marB="18288">
                    <a:solidFill>
                      <a:srgbClr val="EEF3F8"/>
                    </a:solidFill>
                  </a:tcPr>
                </a:tc>
                <a:tc>
                  <a:txBody>
                    <a:bodyPr/>
                    <a:lstStyle/>
                    <a:p>
                      <a:r>
                        <a:rPr sz="1100" b="0">
                          <a:solidFill>
                            <a:srgbClr val="555F6B"/>
                          </a:solidFill>
                        </a:rPr>
                        <a:t>4,0 lần tra cứu</a:t>
                      </a:r>
                    </a:p>
                  </a:txBody>
                  <a:tcPr marL="45720" marR="45720" marT="18288" marB="18288">
                    <a:solidFill>
                      <a:srgbClr val="EEF3F8"/>
                    </a:solidFill>
                  </a:tcPr>
                </a:tc>
                <a:tc>
                  <a:txBody>
                    <a:bodyPr/>
                    <a:lstStyle/>
                    <a:p>
                      <a:r>
                        <a:rPr sz="1100" b="0">
                          <a:solidFill>
                            <a:srgbClr val="555F6B"/>
                          </a:solidFill>
                        </a:rPr>
                        <a:t>30%</a:t>
                      </a:r>
                    </a:p>
                  </a:txBody>
                  <a:tcPr marL="45720" marR="45720" marT="18288" marB="18288">
                    <a:solidFill>
                      <a:srgbClr val="EEF3F8"/>
                    </a:solidFill>
                  </a:tcPr>
                </a:tc>
                <a:tc>
                  <a:txBody>
                    <a:bodyPr/>
                    <a:lstStyle/>
                    <a:p>
                      <a:r>
                        <a:rPr sz="1100" b="0">
                          <a:solidFill>
                            <a:srgbClr val="555F6B"/>
                          </a:solidFill>
                        </a:rPr>
                        <a:t>1,20</a:t>
                      </a:r>
                    </a:p>
                  </a:txBody>
                  <a:tcPr marL="45720" marR="45720" marT="18288" marB="18288">
                    <a:solidFill>
                      <a:srgbClr val="EEF3F8"/>
                    </a:solidFill>
                  </a:tcPr>
                </a:tc>
                <a:tc>
                  <a:txBody>
                    <a:bodyPr/>
                    <a:lstStyle/>
                    <a:p>
                      <a:r>
                        <a:rPr sz="1100" b="0">
                          <a:solidFill>
                            <a:srgbClr val="555F6B"/>
                          </a:solidFill>
                        </a:rPr>
                        <a:t>Mỗi người mất 1,6–2 giờ/ngày tìm thông tin (McKinsey, Atlassian). 4 lần và 30%: giả định của nhóm</a:t>
                      </a:r>
                    </a:p>
                  </a:txBody>
                  <a:tcPr marL="45720" marR="45720" marT="18288" marB="18288">
                    <a:solidFill>
                      <a:srgbClr val="EEF3F8"/>
                    </a:solidFill>
                  </a:tcPr>
                </a:tc>
              </a:tr>
              <a:tr h="502920">
                <a:tc>
                  <a:txBody>
                    <a:bodyPr/>
                    <a:lstStyle/>
                    <a:p>
                      <a:r>
                        <a:rPr sz="1100" b="0">
                          <a:solidFill>
                            <a:srgbClr val="555F6B"/>
                          </a:solidFill>
                        </a:rPr>
                        <a:t>Biên bản họp → DOCX</a:t>
                      </a:r>
                    </a:p>
                  </a:txBody>
                  <a:tcPr marL="45720" marR="45720" marT="18288" marB="18288">
                    <a:solidFill>
                      <a:srgbClr val="FFFFFF"/>
                    </a:solidFill>
                  </a:tcPr>
                </a:tc>
                <a:tc>
                  <a:txBody>
                    <a:bodyPr/>
                    <a:lstStyle/>
                    <a:p>
                      <a:r>
                        <a:rPr sz="1100" b="0">
                          <a:solidFill>
                            <a:srgbClr val="555F6B"/>
                          </a:solidFill>
                        </a:rPr>
                        <a:t>2</a:t>
                      </a:r>
                    </a:p>
                  </a:txBody>
                  <a:tcPr marL="45720" marR="45720" marT="18288" marB="18288">
                    <a:solidFill>
                      <a:srgbClr val="FFFFFF"/>
                    </a:solidFill>
                  </a:tcPr>
                </a:tc>
                <a:tc>
                  <a:txBody>
                    <a:bodyPr/>
                    <a:lstStyle/>
                    <a:p>
                      <a:r>
                        <a:rPr sz="1100" b="0">
                          <a:solidFill>
                            <a:srgbClr val="555F6B"/>
                          </a:solidFill>
                        </a:rPr>
                        <a:t>2,0 cuộc họp</a:t>
                      </a:r>
                    </a:p>
                  </a:txBody>
                  <a:tcPr marL="45720" marR="45720" marT="18288" marB="18288">
                    <a:solidFill>
                      <a:srgbClr val="FFFFFF"/>
                    </a:solidFill>
                  </a:tcPr>
                </a:tc>
                <a:tc>
                  <a:txBody>
                    <a:bodyPr/>
                    <a:lstStyle/>
                    <a:p>
                      <a:r>
                        <a:rPr sz="1100" b="0">
                          <a:solidFill>
                            <a:srgbClr val="555F6B"/>
                          </a:solidFill>
                        </a:rPr>
                        <a:t>20%</a:t>
                      </a:r>
                    </a:p>
                  </a:txBody>
                  <a:tcPr marL="45720" marR="45720" marT="18288" marB="18288">
                    <a:solidFill>
                      <a:srgbClr val="FFFFFF"/>
                    </a:solidFill>
                  </a:tcPr>
                </a:tc>
                <a:tc>
                  <a:txBody>
                    <a:bodyPr/>
                    <a:lstStyle/>
                    <a:p>
                      <a:r>
                        <a:rPr sz="1100" b="0">
                          <a:solidFill>
                            <a:srgbClr val="555F6B"/>
                          </a:solidFill>
                        </a:rPr>
                        <a:t>0,40</a:t>
                      </a:r>
                    </a:p>
                  </a:txBody>
                  <a:tcPr marL="45720" marR="45720" marT="18288" marB="18288">
                    <a:solidFill>
                      <a:srgbClr val="FFFFFF"/>
                    </a:solidFill>
                  </a:tcPr>
                </a:tc>
                <a:tc>
                  <a:txBody>
                    <a:bodyPr/>
                    <a:lstStyle/>
                    <a:p>
                      <a:r>
                        <a:rPr sz="1100" b="0">
                          <a:solidFill>
                            <a:srgbClr val="555F6B"/>
                          </a:solidFill>
                        </a:rPr>
                        <a:t>Microsoft RCT 2025: 9,9 cuộc họp/tuần. Tỉ lệ 20%: giả định của nhóm</a:t>
                      </a:r>
                    </a:p>
                  </a:txBody>
                  <a:tcPr marL="45720" marR="45720" marT="18288" marB="18288">
                    <a:solidFill>
                      <a:srgbClr val="FFFFFF"/>
                    </a:solidFill>
                  </a:tcPr>
                </a:tc>
              </a:tr>
              <a:tr h="502920">
                <a:tc>
                  <a:txBody>
                    <a:bodyPr/>
                    <a:lstStyle/>
                    <a:p>
                      <a:r>
                        <a:rPr sz="1100" b="0">
                          <a:solidFill>
                            <a:srgbClr val="555F6B"/>
                          </a:solidFill>
                        </a:rPr>
                        <a:t>Báo cáo, đề xuất → DOCX/PPTX</a:t>
                      </a:r>
                    </a:p>
                  </a:txBody>
                  <a:tcPr marL="45720" marR="45720" marT="18288" marB="18288">
                    <a:solidFill>
                      <a:srgbClr val="EEF3F8"/>
                    </a:solidFill>
                  </a:tcPr>
                </a:tc>
                <a:tc>
                  <a:txBody>
                    <a:bodyPr/>
                    <a:lstStyle/>
                    <a:p>
                      <a:r>
                        <a:rPr sz="1100" b="0">
                          <a:solidFill>
                            <a:srgbClr val="555F6B"/>
                          </a:solidFill>
                        </a:rPr>
                        <a:t>2</a:t>
                      </a:r>
                    </a:p>
                  </a:txBody>
                  <a:tcPr marL="45720" marR="45720" marT="18288" marB="18288">
                    <a:solidFill>
                      <a:srgbClr val="EEF3F8"/>
                    </a:solidFill>
                  </a:tcPr>
                </a:tc>
                <a:tc>
                  <a:txBody>
                    <a:bodyPr/>
                    <a:lstStyle/>
                    <a:p>
                      <a:r>
                        <a:rPr sz="1100" b="0">
                          <a:solidFill>
                            <a:srgbClr val="555F6B"/>
                          </a:solidFill>
                        </a:rPr>
                        <a:t>0,15 tài liệu</a:t>
                      </a:r>
                    </a:p>
                  </a:txBody>
                  <a:tcPr marL="45720" marR="45720" marT="18288" marB="18288">
                    <a:solidFill>
                      <a:srgbClr val="EEF3F8"/>
                    </a:solidFill>
                  </a:tcPr>
                </a:tc>
                <a:tc>
                  <a:txBody>
                    <a:bodyPr/>
                    <a:lstStyle/>
                    <a:p>
                      <a:r>
                        <a:rPr sz="1100" b="0">
                          <a:solidFill>
                            <a:srgbClr val="555F6B"/>
                          </a:solidFill>
                        </a:rPr>
                        <a:t>50%</a:t>
                      </a:r>
                    </a:p>
                  </a:txBody>
                  <a:tcPr marL="45720" marR="45720" marT="18288" marB="18288">
                    <a:solidFill>
                      <a:srgbClr val="EEF3F8"/>
                    </a:solidFill>
                  </a:tcPr>
                </a:tc>
                <a:tc>
                  <a:txBody>
                    <a:bodyPr/>
                    <a:lstStyle/>
                    <a:p>
                      <a:r>
                        <a:rPr sz="1100" b="0">
                          <a:solidFill>
                            <a:srgbClr val="555F6B"/>
                          </a:solidFill>
                        </a:rPr>
                        <a:t>0,08</a:t>
                      </a:r>
                    </a:p>
                  </a:txBody>
                  <a:tcPr marL="45720" marR="45720" marT="18288" marB="18288">
                    <a:solidFill>
                      <a:srgbClr val="EEF3F8"/>
                    </a:solidFill>
                  </a:tcPr>
                </a:tc>
                <a:tc>
                  <a:txBody>
                    <a:bodyPr/>
                    <a:lstStyle/>
                    <a:p>
                      <a:r>
                        <a:rPr sz="1100" b="0">
                          <a:solidFill>
                            <a:srgbClr val="555F6B"/>
                          </a:solidFill>
                        </a:rPr>
                        <a:t>Microsoft RCT 2025: 0,76 tài liệu Word hoàn thành/tuần. Tỉ lệ 50%: giả định của nhóm</a:t>
                      </a:r>
                    </a:p>
                  </a:txBody>
                  <a:tcPr marL="45720" marR="45720" marT="18288" marB="18288">
                    <a:solidFill>
                      <a:srgbClr val="EEF3F8"/>
                    </a:solidFill>
                  </a:tcPr>
                </a:tc>
              </a:tr>
              <a:tr h="502920">
                <a:tc>
                  <a:txBody>
                    <a:bodyPr/>
                    <a:lstStyle/>
                    <a:p>
                      <a:r>
                        <a:rPr sz="1100" b="0">
                          <a:solidFill>
                            <a:srgbClr val="555F6B"/>
                          </a:solidFill>
                        </a:rPr>
                        <a:t>Cộng</a:t>
                      </a:r>
                    </a:p>
                  </a:txBody>
                  <a:tcPr marL="45720" marR="45720" marT="18288" marB="18288">
                    <a:solidFill>
                      <a:srgbClr val="FFFFFF"/>
                    </a:solidFill>
                  </a:tcPr>
                </a:tc>
                <a:tc>
                  <a:txBody>
                    <a:bodyPr/>
                    <a:lstStyle/>
                    <a:p/>
                  </a:txBody>
                  <a:tcPr marL="45720" marR="45720" marT="18288" marB="18288">
                    <a:solidFill>
                      <a:srgbClr val="FFFFFF"/>
                    </a:solidFill>
                  </a:tcPr>
                </a:tc>
                <a:tc>
                  <a:txBody>
                    <a:bodyPr/>
                    <a:lstStyle/>
                    <a:p/>
                  </a:txBody>
                  <a:tcPr marL="45720" marR="45720" marT="18288" marB="18288">
                    <a:solidFill>
                      <a:srgbClr val="FFFFFF"/>
                    </a:solidFill>
                  </a:tcPr>
                </a:tc>
                <a:tc>
                  <a:txBody>
                    <a:bodyPr/>
                    <a:lstStyle/>
                    <a:p/>
                  </a:txBody>
                  <a:tcPr marL="45720" marR="45720" marT="18288" marB="18288">
                    <a:solidFill>
                      <a:srgbClr val="FFFFFF"/>
                    </a:solidFill>
                  </a:tcPr>
                </a:tc>
                <a:tc>
                  <a:txBody>
                    <a:bodyPr/>
                    <a:lstStyle/>
                    <a:p>
                      <a:r>
                        <a:rPr sz="1100" b="0">
                          <a:solidFill>
                            <a:srgbClr val="555F6B"/>
                          </a:solidFill>
                        </a:rPr>
                        <a:t>6,26</a:t>
                      </a:r>
                    </a:p>
                  </a:txBody>
                  <a:tcPr marL="45720" marR="45720" marT="18288" marB="18288">
                    <a:solidFill>
                      <a:srgbClr val="FFFFFF"/>
                    </a:solidFill>
                  </a:tcPr>
                </a:tc>
                <a:tc>
                  <a:txBody>
                    <a:bodyPr/>
                    <a:lstStyle/>
                    <a:p/>
                  </a:txBody>
                  <a:tcPr marL="45720" marR="45720" marT="18288" marB="18288">
                    <a:solidFill>
                      <a:srgbClr val="FFFFFF"/>
                    </a:solidFill>
                  </a:tcPr>
                </a:tc>
              </a:tr>
            </a:tbl>
          </a:graphicData>
        </a:graphic>
      </p:graphicFrame>
      <p:sp>
        <p:nvSpPr>
          <p:cNvPr id="8" name="TextBox 7"/>
          <p:cNvSpPr txBox="1"/>
          <p:nvPr/>
        </p:nvSpPr>
        <p:spPr>
          <a:xfrm>
            <a:off x="457200" y="5120640"/>
            <a:ext cx="11247120" cy="1188720"/>
          </a:xfrm>
          <a:prstGeom prst="rect">
            <a:avLst/>
          </a:prstGeom>
          <a:noFill/>
        </p:spPr>
        <p:txBody>
          <a:bodyPr wrap="square">
            <a:spAutoFit/>
          </a:bodyPr>
          <a:lstStyle/>
          <a:p>
            <a:pPr algn="l">
              <a:spcAft>
                <a:spcPts val="400"/>
              </a:spcAft>
            </a:pPr>
            <a:r>
              <a:rPr sz="1200" b="1">
                <a:solidFill>
                  <a:srgbClr val="555F6B"/>
                </a:solidFill>
              </a:rPr>
              <a:t>Đọc bảng thế nào</a:t>
            </a:r>
          </a:p>
          <a:p>
            <a:pPr algn="l">
              <a:spcAft>
                <a:spcPts val="400"/>
              </a:spcAft>
            </a:pPr>
            <a:r>
              <a:rPr sz="1200" b="0">
                <a:solidFill>
                  <a:srgbClr val="555F6B"/>
                </a:solidFill>
              </a:rPr>
              <a:t>Ví dụ dòng đầu: mỗi người gửi khoảng 9,9 email/ngày. Nhóm giả định 30% số email đó nhờ AI soạn, nên 9,9 × 30% = 2,97 nhiệm vụ.</a:t>
            </a:r>
          </a:p>
          <a:p>
            <a:pPr algn="l">
              <a:spcAft>
                <a:spcPts val="400"/>
              </a:spcAft>
            </a:pPr>
            <a:r>
              <a:rPr sz="1200" b="0">
                <a:solidFill>
                  <a:srgbClr val="555F6B"/>
                </a:solidFill>
              </a:rPr>
              <a:t>Khối lượng việc lấy từ số đo thật (telemetry, khảo sát). Tỉ lệ giao AI phần lớn là giả định của nhóm; nhóm sẽ đo lại trong pilot 2–4 tuần.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515600" cy="640080"/>
          </a:xfrm>
          <a:prstGeom prst="rect">
            <a:avLst/>
          </a:prstGeom>
          <a:noFill/>
        </p:spPr>
        <p:txBody>
          <a:bodyPr wrap="square">
            <a:spAutoFit/>
          </a:bodyPr>
          <a:lstStyle/>
          <a:p>
            <a:pPr algn="l">
              <a:spcAft>
                <a:spcPts val="400"/>
              </a:spcAft>
            </a:pPr>
            <a:r>
              <a:rPr sz="2600" b="1">
                <a:solidFill>
                  <a:srgbClr val="FFFFFF"/>
                </a:solidFill>
              </a:rPr>
              <a:t>Phụ lục D. Việc riêng của từng phòng ban</a:t>
            </a:r>
          </a:p>
        </p:txBody>
      </p:sp>
      <p:sp>
        <p:nvSpPr>
          <p:cNvPr id="4" name="TextBox 3"/>
          <p:cNvSpPr txBox="1"/>
          <p:nvPr/>
        </p:nvSpPr>
        <p:spPr>
          <a:xfrm>
            <a:off x="457200" y="914400"/>
            <a:ext cx="11247120" cy="457200"/>
          </a:xfrm>
          <a:prstGeom prst="rect">
            <a:avLst/>
          </a:prstGeom>
          <a:noFill/>
        </p:spPr>
        <p:txBody>
          <a:bodyPr wrap="square">
            <a:spAutoFit/>
          </a:bodyPr>
          <a:lstStyle/>
          <a:p>
            <a:pPr algn="l">
              <a:spcAft>
                <a:spcPts val="400"/>
              </a:spcAft>
            </a:pPr>
            <a:r>
              <a:rPr sz="1300" b="0">
                <a:solidFill>
                  <a:srgbClr val="2E6FB7"/>
                </a:solidFill>
              </a:rPr>
              <a:t>Mỗi người = 6,26 nhiệm vụ việc chung + việc riêng của phòng. Cả phòng = số người × nhiệm vụ mỗi người</a:t>
            </a:r>
          </a:p>
        </p:txBody>
      </p:sp>
      <p:sp>
        <p:nvSpPr>
          <p:cNvPr id="5" name="TextBox 4"/>
          <p:cNvSpPr txBox="1"/>
          <p:nvPr/>
        </p:nvSpPr>
        <p:spPr>
          <a:xfrm>
            <a:off x="11247120" y="6400800"/>
            <a:ext cx="822960" cy="365760"/>
          </a:xfrm>
          <a:prstGeom prst="rect">
            <a:avLst/>
          </a:prstGeom>
          <a:noFill/>
        </p:spPr>
        <p:txBody>
          <a:bodyPr wrap="square">
            <a:spAutoFit/>
          </a:bodyPr>
          <a:lstStyle/>
          <a:p>
            <a:pPr algn="r">
              <a:spcAft>
                <a:spcPts val="400"/>
              </a:spcAft>
            </a:pPr>
            <a:r>
              <a:rPr sz="1100" b="0">
                <a:solidFill>
                  <a:srgbClr val="555F6B"/>
                </a:solidFill>
              </a:rPr>
              <a:t>D</a:t>
            </a:r>
          </a:p>
        </p:txBody>
      </p:sp>
      <p:sp>
        <p:nvSpPr>
          <p:cNvPr id="6" name="TextBox 5"/>
          <p:cNvSpPr txBox="1"/>
          <p:nvPr/>
        </p:nvSpPr>
        <p:spPr>
          <a:xfrm>
            <a:off x="457200" y="6400800"/>
            <a:ext cx="7315200" cy="365760"/>
          </a:xfrm>
          <a:prstGeom prst="rect">
            <a:avLst/>
          </a:prstGeom>
          <a:noFill/>
        </p:spPr>
        <p:txBody>
          <a:bodyPr wrap="square">
            <a:spAutoFit/>
          </a:bodyPr>
          <a:lstStyle/>
          <a:p>
            <a:pPr algn="l">
              <a:spcAft>
                <a:spcPts val="400"/>
              </a:spcAft>
            </a:pPr>
            <a:r>
              <a:rPr sz="1000" b="0">
                <a:solidFill>
                  <a:srgbClr val="555F6B"/>
                </a:solidFill>
              </a:rPr>
              <a:t>G03 · VBot Workplace · GCP asia-southeast1</a:t>
            </a:r>
          </a:p>
        </p:txBody>
      </p:sp>
      <p:graphicFrame>
        <p:nvGraphicFramePr>
          <p:cNvPr id="7" name="Table 6"/>
          <p:cNvGraphicFramePr>
            <a:graphicFrameLocks noGrp="1"/>
          </p:cNvGraphicFramePr>
          <p:nvPr/>
        </p:nvGraphicFramePr>
        <p:xfrm>
          <a:off x="457200" y="1325880"/>
          <a:ext cx="11247120" cy="4297679"/>
        </p:xfrm>
        <a:graphic>
          <a:graphicData uri="http://schemas.openxmlformats.org/drawingml/2006/table">
            <a:tbl>
              <a:tblPr firstRow="1" bandRow="1">
                <a:tableStyleId>{5C22544A-7EE6-4342-B048-85BDC9FD1C3A}</a:tableStyleId>
              </a:tblPr>
              <a:tblGrid>
                <a:gridCol w="1828800"/>
                <a:gridCol w="1920240"/>
                <a:gridCol w="4206240"/>
                <a:gridCol w="1554480"/>
                <a:gridCol w="1737360"/>
              </a:tblGrid>
              <a:tr h="429767">
                <a:tc>
                  <a:txBody>
                    <a:bodyPr/>
                    <a:lstStyle/>
                    <a:p>
                      <a:r>
                        <a:rPr sz="1000" b="1">
                          <a:solidFill>
                            <a:srgbClr val="FFFFFF"/>
                          </a:solidFill>
                        </a:rPr>
                        <a:t>Phòng ban (số người)</a:t>
                      </a:r>
                    </a:p>
                  </a:txBody>
                  <a:tcPr marL="45720" marR="45720" marT="18288" marB="18288">
                    <a:solidFill>
                      <a:srgbClr val="2E6FB7"/>
                    </a:solidFill>
                  </a:tcPr>
                </a:tc>
                <a:tc>
                  <a:txBody>
                    <a:bodyPr/>
                    <a:lstStyle/>
                    <a:p>
                      <a:r>
                        <a:rPr sz="1000" b="1">
                          <a:solidFill>
                            <a:srgbClr val="FFFFFF"/>
                          </a:solidFill>
                        </a:rPr>
                        <a:t>Phòng làm gì</a:t>
                      </a:r>
                    </a:p>
                  </a:txBody>
                  <a:tcPr marL="45720" marR="45720" marT="18288" marB="18288">
                    <a:solidFill>
                      <a:srgbClr val="2E6FB7"/>
                    </a:solidFill>
                  </a:tcPr>
                </a:tc>
                <a:tc>
                  <a:txBody>
                    <a:bodyPr/>
                    <a:lstStyle/>
                    <a:p>
                      <a:r>
                        <a:rPr sz="1000" b="1">
                          <a:solidFill>
                            <a:srgbClr val="FFFFFF"/>
                          </a:solidFill>
                        </a:rPr>
                        <a:t>Việc riêng giao AI (nhiệm vụ/người/ngày)</a:t>
                      </a:r>
                    </a:p>
                  </a:txBody>
                  <a:tcPr marL="45720" marR="45720" marT="18288" marB="18288">
                    <a:solidFill>
                      <a:srgbClr val="2E6FB7"/>
                    </a:solidFill>
                  </a:tcPr>
                </a:tc>
                <a:tc>
                  <a:txBody>
                    <a:bodyPr/>
                    <a:lstStyle/>
                    <a:p>
                      <a:r>
                        <a:rPr sz="1000" b="1">
                          <a:solidFill>
                            <a:srgbClr val="FFFFFF"/>
                          </a:solidFill>
                        </a:rPr>
                        <a:t>Mỗi người/ngày</a:t>
                      </a:r>
                    </a:p>
                  </a:txBody>
                  <a:tcPr marL="45720" marR="45720" marT="18288" marB="18288">
                    <a:solidFill>
                      <a:srgbClr val="2E6FB7"/>
                    </a:solidFill>
                  </a:tcPr>
                </a:tc>
                <a:tc>
                  <a:txBody>
                    <a:bodyPr/>
                    <a:lstStyle/>
                    <a:p>
                      <a:r>
                        <a:rPr sz="1000" b="1">
                          <a:solidFill>
                            <a:srgbClr val="FFFFFF"/>
                          </a:solidFill>
                        </a:rPr>
                        <a:t>Cả phòng/ngày</a:t>
                      </a:r>
                    </a:p>
                  </a:txBody>
                  <a:tcPr marL="45720" marR="45720" marT="18288" marB="18288">
                    <a:solidFill>
                      <a:srgbClr val="2E6FB7"/>
                    </a:solidFill>
                  </a:tcPr>
                </a:tc>
              </a:tr>
              <a:tr h="429767">
                <a:tc>
                  <a:txBody>
                    <a:bodyPr/>
                    <a:lstStyle/>
                    <a:p>
                      <a:r>
                        <a:rPr sz="1000" b="0">
                          <a:solidFill>
                            <a:srgbClr val="555F6B"/>
                          </a:solidFill>
                        </a:rPr>
                        <a:t>Kinh doanh, CSKH (500)</a:t>
                      </a:r>
                    </a:p>
                  </a:txBody>
                  <a:tcPr marL="45720" marR="45720" marT="18288" marB="18288">
                    <a:solidFill>
                      <a:srgbClr val="EEF3F8"/>
                    </a:solidFill>
                  </a:tcPr>
                </a:tc>
                <a:tc>
                  <a:txBody>
                    <a:bodyPr/>
                    <a:lstStyle/>
                    <a:p>
                      <a:r>
                        <a:rPr sz="1000" b="0">
                          <a:solidFill>
                            <a:srgbClr val="555F6B"/>
                          </a:solidFill>
                        </a:rPr>
                        <a:t>Bán hàng, chăm sóc khách hàng</a:t>
                      </a:r>
                    </a:p>
                  </a:txBody>
                  <a:tcPr marL="45720" marR="45720" marT="18288" marB="18288">
                    <a:solidFill>
                      <a:srgbClr val="EEF3F8"/>
                    </a:solidFill>
                  </a:tcPr>
                </a:tc>
                <a:tc>
                  <a:txBody>
                    <a:bodyPr/>
                    <a:lstStyle/>
                    <a:p>
                      <a:r>
                        <a:rPr sz="1000" b="0">
                          <a:solidFill>
                            <a:srgbClr val="555F6B"/>
                          </a:solidFill>
                        </a:rPr>
                        <a:t>Phân tích doanh số trên Excel 0,10 · agent chuẩn bị gặp khách 0,10 · ảnh cho báo giá 0,03</a:t>
                      </a:r>
                    </a:p>
                  </a:txBody>
                  <a:tcPr marL="45720" marR="45720" marT="18288" marB="18288">
                    <a:solidFill>
                      <a:srgbClr val="EEF3F8"/>
                    </a:solidFill>
                  </a:tcPr>
                </a:tc>
                <a:tc>
                  <a:txBody>
                    <a:bodyPr/>
                    <a:lstStyle/>
                    <a:p>
                      <a:r>
                        <a:rPr sz="1000" b="0">
                          <a:solidFill>
                            <a:srgbClr val="555F6B"/>
                          </a:solidFill>
                        </a:rPr>
                        <a:t>6,26 + 0,23 = 6,49</a:t>
                      </a:r>
                    </a:p>
                  </a:txBody>
                  <a:tcPr marL="45720" marR="45720" marT="18288" marB="18288">
                    <a:solidFill>
                      <a:srgbClr val="EEF3F8"/>
                    </a:solidFill>
                  </a:tcPr>
                </a:tc>
                <a:tc>
                  <a:txBody>
                    <a:bodyPr/>
                    <a:lstStyle/>
                    <a:p>
                      <a:r>
                        <a:rPr sz="1000" b="0">
                          <a:solidFill>
                            <a:srgbClr val="555F6B"/>
                          </a:solidFill>
                        </a:rPr>
                        <a:t>500 × 6,49 = 3.242</a:t>
                      </a:r>
                    </a:p>
                  </a:txBody>
                  <a:tcPr marL="45720" marR="45720" marT="18288" marB="18288">
                    <a:solidFill>
                      <a:srgbClr val="EEF3F8"/>
                    </a:solidFill>
                  </a:tcPr>
                </a:tc>
              </a:tr>
              <a:tr h="429767">
                <a:tc>
                  <a:txBody>
                    <a:bodyPr/>
                    <a:lstStyle/>
                    <a:p>
                      <a:r>
                        <a:rPr sz="1000" b="0">
                          <a:solidFill>
                            <a:srgbClr val="555F6B"/>
                          </a:solidFill>
                        </a:rPr>
                        <a:t>Quản lý dự án, vận hành (300)</a:t>
                      </a:r>
                    </a:p>
                  </a:txBody>
                  <a:tcPr marL="45720" marR="45720" marT="18288" marB="18288">
                    <a:solidFill>
                      <a:srgbClr val="FFFFFF"/>
                    </a:solidFill>
                  </a:tcPr>
                </a:tc>
                <a:tc>
                  <a:txBody>
                    <a:bodyPr/>
                    <a:lstStyle/>
                    <a:p>
                      <a:r>
                        <a:rPr sz="1000" b="0">
                          <a:solidFill>
                            <a:srgbClr val="555F6B"/>
                          </a:solidFill>
                        </a:rPr>
                        <a:t>Điều phối dự án, vận hành hằng ngày</a:t>
                      </a:r>
                    </a:p>
                  </a:txBody>
                  <a:tcPr marL="45720" marR="45720" marT="18288" marB="18288">
                    <a:solidFill>
                      <a:srgbClr val="FFFFFF"/>
                    </a:solidFill>
                  </a:tcPr>
                </a:tc>
                <a:tc>
                  <a:txBody>
                    <a:bodyPr/>
                    <a:lstStyle/>
                    <a:p>
                      <a:r>
                        <a:rPr sz="1000" b="0">
                          <a:solidFill>
                            <a:srgbClr val="555F6B"/>
                          </a:solidFill>
                        </a:rPr>
                        <a:t>Agent tạo ticket Jira, trang Confluence 0,90 · phân tích dữ liệu vận hành 0,12 · báo cáo tuần 0,10 · sơ đồ quy trình 0,08</a:t>
                      </a:r>
                    </a:p>
                  </a:txBody>
                  <a:tcPr marL="45720" marR="45720" marT="18288" marB="18288">
                    <a:solidFill>
                      <a:srgbClr val="FFFFFF"/>
                    </a:solidFill>
                  </a:tcPr>
                </a:tc>
                <a:tc>
                  <a:txBody>
                    <a:bodyPr/>
                    <a:lstStyle/>
                    <a:p>
                      <a:r>
                        <a:rPr sz="1000" b="0">
                          <a:solidFill>
                            <a:srgbClr val="555F6B"/>
                          </a:solidFill>
                        </a:rPr>
                        <a:t>6,26 + 1,20 = 7,46</a:t>
                      </a:r>
                    </a:p>
                  </a:txBody>
                  <a:tcPr marL="45720" marR="45720" marT="18288" marB="18288">
                    <a:solidFill>
                      <a:srgbClr val="FFFFFF"/>
                    </a:solidFill>
                  </a:tcPr>
                </a:tc>
                <a:tc>
                  <a:txBody>
                    <a:bodyPr/>
                    <a:lstStyle/>
                    <a:p>
                      <a:r>
                        <a:rPr sz="1000" b="0">
                          <a:solidFill>
                            <a:srgbClr val="555F6B"/>
                          </a:solidFill>
                        </a:rPr>
                        <a:t>300 × 7,46 = 2.237</a:t>
                      </a:r>
                    </a:p>
                  </a:txBody>
                  <a:tcPr marL="45720" marR="45720" marT="18288" marB="18288">
                    <a:solidFill>
                      <a:srgbClr val="FFFFFF"/>
                    </a:solidFill>
                  </a:tcPr>
                </a:tc>
              </a:tr>
              <a:tr h="429767">
                <a:tc>
                  <a:txBody>
                    <a:bodyPr/>
                    <a:lstStyle/>
                    <a:p>
                      <a:r>
                        <a:rPr sz="1000" b="0">
                          <a:solidFill>
                            <a:srgbClr val="555F6B"/>
                          </a:solidFill>
                        </a:rPr>
                        <a:t>Kế toán (240)</a:t>
                      </a:r>
                    </a:p>
                  </a:txBody>
                  <a:tcPr marL="45720" marR="45720" marT="18288" marB="18288">
                    <a:solidFill>
                      <a:srgbClr val="EEF3F8"/>
                    </a:solidFill>
                  </a:tcPr>
                </a:tc>
                <a:tc>
                  <a:txBody>
                    <a:bodyPr/>
                    <a:lstStyle/>
                    <a:p>
                      <a:r>
                        <a:rPr sz="1000" b="0">
                          <a:solidFill>
                            <a:srgbClr val="555F6B"/>
                          </a:solidFill>
                        </a:rPr>
                        <a:t>Sổ sách, thanh toán, báo cáo tài chính</a:t>
                      </a:r>
                    </a:p>
                  </a:txBody>
                  <a:tcPr marL="45720" marR="45720" marT="18288" marB="18288">
                    <a:solidFill>
                      <a:srgbClr val="EEF3F8"/>
                    </a:solidFill>
                  </a:tcPr>
                </a:tc>
                <a:tc>
                  <a:txBody>
                    <a:bodyPr/>
                    <a:lstStyle/>
                    <a:p>
                      <a:r>
                        <a:rPr sz="1000" b="0">
                          <a:solidFill>
                            <a:srgbClr val="555F6B"/>
                          </a:solidFill>
                        </a:rPr>
                        <a:t>Phân tích bảng tính tài chính, đối soát 0,80 · tìm hóa đơn bất thường 0,30 · checklist khóa sổ 0,05</a:t>
                      </a:r>
                    </a:p>
                  </a:txBody>
                  <a:tcPr marL="45720" marR="45720" marT="18288" marB="18288">
                    <a:solidFill>
                      <a:srgbClr val="EEF3F8"/>
                    </a:solidFill>
                  </a:tcPr>
                </a:tc>
                <a:tc>
                  <a:txBody>
                    <a:bodyPr/>
                    <a:lstStyle/>
                    <a:p>
                      <a:r>
                        <a:rPr sz="1000" b="0">
                          <a:solidFill>
                            <a:srgbClr val="555F6B"/>
                          </a:solidFill>
                        </a:rPr>
                        <a:t>6,26 + 1,15 = 7,41</a:t>
                      </a:r>
                    </a:p>
                  </a:txBody>
                  <a:tcPr marL="45720" marR="45720" marT="18288" marB="18288">
                    <a:solidFill>
                      <a:srgbClr val="EEF3F8"/>
                    </a:solidFill>
                  </a:tcPr>
                </a:tc>
                <a:tc>
                  <a:txBody>
                    <a:bodyPr/>
                    <a:lstStyle/>
                    <a:p>
                      <a:r>
                        <a:rPr sz="1000" b="0">
                          <a:solidFill>
                            <a:srgbClr val="555F6B"/>
                          </a:solidFill>
                        </a:rPr>
                        <a:t>240 × 7,41 = 1.777</a:t>
                      </a:r>
                    </a:p>
                  </a:txBody>
                  <a:tcPr marL="45720" marR="45720" marT="18288" marB="18288">
                    <a:solidFill>
                      <a:srgbClr val="EEF3F8"/>
                    </a:solidFill>
                  </a:tcPr>
                </a:tc>
              </a:tr>
              <a:tr h="429767">
                <a:tc>
                  <a:txBody>
                    <a:bodyPr/>
                    <a:lstStyle/>
                    <a:p>
                      <a:r>
                        <a:rPr sz="1000" b="0">
                          <a:solidFill>
                            <a:srgbClr val="555F6B"/>
                          </a:solidFill>
                        </a:rPr>
                        <a:t>Nhân sự, HC, pháp chế (260)</a:t>
                      </a:r>
                    </a:p>
                  </a:txBody>
                  <a:tcPr marL="45720" marR="45720" marT="18288" marB="18288">
                    <a:solidFill>
                      <a:srgbClr val="FFFFFF"/>
                    </a:solidFill>
                  </a:tcPr>
                </a:tc>
                <a:tc>
                  <a:txBody>
                    <a:bodyPr/>
                    <a:lstStyle/>
                    <a:p>
                      <a:r>
                        <a:rPr sz="1000" b="0">
                          <a:solidFill>
                            <a:srgbClr val="555F6B"/>
                          </a:solidFill>
                        </a:rPr>
                        <a:t>Tuyển dụng, chính sách, hợp đồng</a:t>
                      </a:r>
                    </a:p>
                  </a:txBody>
                  <a:tcPr marL="45720" marR="45720" marT="18288" marB="18288">
                    <a:solidFill>
                      <a:srgbClr val="FFFFFF"/>
                    </a:solidFill>
                  </a:tcPr>
                </a:tc>
                <a:tc>
                  <a:txBody>
                    <a:bodyPr/>
                    <a:lstStyle/>
                    <a:p>
                      <a:r>
                        <a:rPr sz="1000" b="0">
                          <a:solidFill>
                            <a:srgbClr val="555F6B"/>
                          </a:solidFill>
                        </a:rPr>
                        <a:t>Rà soát hợp đồng 0,15 · soạn mô tả công việc, chính sách 0,09 · tổng hợp chấm công 0,08 · đặt lịch phỏng vấn 0,05</a:t>
                      </a:r>
                    </a:p>
                  </a:txBody>
                  <a:tcPr marL="45720" marR="45720" marT="18288" marB="18288">
                    <a:solidFill>
                      <a:srgbClr val="FFFFFF"/>
                    </a:solidFill>
                  </a:tcPr>
                </a:tc>
                <a:tc>
                  <a:txBody>
                    <a:bodyPr/>
                    <a:lstStyle/>
                    <a:p>
                      <a:r>
                        <a:rPr sz="1000" b="0">
                          <a:solidFill>
                            <a:srgbClr val="555F6B"/>
                          </a:solidFill>
                        </a:rPr>
                        <a:t>6,26 + 0,37 = 6,63</a:t>
                      </a:r>
                    </a:p>
                  </a:txBody>
                  <a:tcPr marL="45720" marR="45720" marT="18288" marB="18288">
                    <a:solidFill>
                      <a:srgbClr val="FFFFFF"/>
                    </a:solidFill>
                  </a:tcPr>
                </a:tc>
                <a:tc>
                  <a:txBody>
                    <a:bodyPr/>
                    <a:lstStyle/>
                    <a:p>
                      <a:r>
                        <a:rPr sz="1000" b="0">
                          <a:solidFill>
                            <a:srgbClr val="555F6B"/>
                          </a:solidFill>
                        </a:rPr>
                        <a:t>260 × 6,63 = 1.723</a:t>
                      </a:r>
                    </a:p>
                  </a:txBody>
                  <a:tcPr marL="45720" marR="45720" marT="18288" marB="18288">
                    <a:solidFill>
                      <a:srgbClr val="FFFFFF"/>
                    </a:solidFill>
                  </a:tcPr>
                </a:tc>
              </a:tr>
              <a:tr h="429767">
                <a:tc>
                  <a:txBody>
                    <a:bodyPr/>
                    <a:lstStyle/>
                    <a:p>
                      <a:r>
                        <a:rPr sz="1000" b="0">
                          <a:solidFill>
                            <a:srgbClr val="555F6B"/>
                          </a:solidFill>
                        </a:rPr>
                        <a:t>Marketing (200)</a:t>
                      </a:r>
                    </a:p>
                  </a:txBody>
                  <a:tcPr marL="45720" marR="45720" marT="18288" marB="18288">
                    <a:solidFill>
                      <a:srgbClr val="EEF3F8"/>
                    </a:solidFill>
                  </a:tcPr>
                </a:tc>
                <a:tc>
                  <a:txBody>
                    <a:bodyPr/>
                    <a:lstStyle/>
                    <a:p>
                      <a:r>
                        <a:rPr sz="1000" b="0">
                          <a:solidFill>
                            <a:srgbClr val="555F6B"/>
                          </a:solidFill>
                        </a:rPr>
                        <a:t>Nội dung, chiến dịch, hình ảnh</a:t>
                      </a:r>
                    </a:p>
                  </a:txBody>
                  <a:tcPr marL="45720" marR="45720" marT="18288" marB="18288">
                    <a:solidFill>
                      <a:srgbClr val="EEF3F8"/>
                    </a:solidFill>
                  </a:tcPr>
                </a:tc>
                <a:tc>
                  <a:txBody>
                    <a:bodyPr/>
                    <a:lstStyle/>
                    <a:p>
                      <a:r>
                        <a:rPr sz="1000" b="0">
                          <a:solidFill>
                            <a:srgbClr val="555F6B"/>
                          </a:solidFill>
                        </a:rPr>
                        <a:t>Viết bài đăng, thông cáo 0,80 · ảnh, banner 0,25 · số liệu chiến dịch 0,12 · cập nhật kế hoạch 0,08</a:t>
                      </a:r>
                    </a:p>
                  </a:txBody>
                  <a:tcPr marL="45720" marR="45720" marT="18288" marB="18288">
                    <a:solidFill>
                      <a:srgbClr val="EEF3F8"/>
                    </a:solidFill>
                  </a:tcPr>
                </a:tc>
                <a:tc>
                  <a:txBody>
                    <a:bodyPr/>
                    <a:lstStyle/>
                    <a:p>
                      <a:r>
                        <a:rPr sz="1000" b="0">
                          <a:solidFill>
                            <a:srgbClr val="555F6B"/>
                          </a:solidFill>
                        </a:rPr>
                        <a:t>6,26 + 1,24 = 7,50</a:t>
                      </a:r>
                    </a:p>
                  </a:txBody>
                  <a:tcPr marL="45720" marR="45720" marT="18288" marB="18288">
                    <a:solidFill>
                      <a:srgbClr val="EEF3F8"/>
                    </a:solidFill>
                  </a:tcPr>
                </a:tc>
                <a:tc>
                  <a:txBody>
                    <a:bodyPr/>
                    <a:lstStyle/>
                    <a:p>
                      <a:r>
                        <a:rPr sz="1000" b="0">
                          <a:solidFill>
                            <a:srgbClr val="555F6B"/>
                          </a:solidFill>
                        </a:rPr>
                        <a:t>200 × 7,50 = 1.500</a:t>
                      </a:r>
                    </a:p>
                  </a:txBody>
                  <a:tcPr marL="45720" marR="45720" marT="18288" marB="18288">
                    <a:solidFill>
                      <a:srgbClr val="EEF3F8"/>
                    </a:solidFill>
                  </a:tcPr>
                </a:tc>
              </a:tr>
              <a:tr h="429767">
                <a:tc>
                  <a:txBody>
                    <a:bodyPr/>
                    <a:lstStyle/>
                    <a:p>
                      <a:r>
                        <a:rPr sz="1000" b="0">
                          <a:solidFill>
                            <a:srgbClr val="555F6B"/>
                          </a:solidFill>
                        </a:rPr>
                        <a:t>IT (200)</a:t>
                      </a:r>
                    </a:p>
                  </a:txBody>
                  <a:tcPr marL="45720" marR="45720" marT="18288" marB="18288">
                    <a:solidFill>
                      <a:srgbClr val="FFFFFF"/>
                    </a:solidFill>
                  </a:tcPr>
                </a:tc>
                <a:tc>
                  <a:txBody>
                    <a:bodyPr/>
                    <a:lstStyle/>
                    <a:p>
                      <a:r>
                        <a:rPr sz="1000" b="0">
                          <a:solidFill>
                            <a:srgbClr val="555F6B"/>
                          </a:solidFill>
                        </a:rPr>
                        <a:t>Phát triển phần mềm, hạ tầng, hỗ trợ</a:t>
                      </a:r>
                    </a:p>
                  </a:txBody>
                  <a:tcPr marL="45720" marR="45720" marT="18288" marB="18288">
                    <a:solidFill>
                      <a:srgbClr val="FFFFFF"/>
                    </a:solidFill>
                  </a:tcPr>
                </a:tc>
                <a:tc>
                  <a:txBody>
                    <a:bodyPr/>
                    <a:lstStyle/>
                    <a:p>
                      <a:r>
                        <a:rPr sz="1000" b="0">
                          <a:solidFill>
                            <a:srgbClr val="555F6B"/>
                          </a:solidFill>
                        </a:rPr>
                        <a:t>Tra cứu, phân loại ticket hỗ trợ 0,60 · agent cập nhật Jira, runbook 0,20 · viết code 0,16 · review code 0,08 · sơ đồ 0,05</a:t>
                      </a:r>
                    </a:p>
                  </a:txBody>
                  <a:tcPr marL="45720" marR="45720" marT="18288" marB="18288">
                    <a:solidFill>
                      <a:srgbClr val="FFFFFF"/>
                    </a:solidFill>
                  </a:tcPr>
                </a:tc>
                <a:tc>
                  <a:txBody>
                    <a:bodyPr/>
                    <a:lstStyle/>
                    <a:p>
                      <a:r>
                        <a:rPr sz="1000" b="0">
                          <a:solidFill>
                            <a:srgbClr val="555F6B"/>
                          </a:solidFill>
                        </a:rPr>
                        <a:t>6,26 + 1,09 = 7,35</a:t>
                      </a:r>
                    </a:p>
                  </a:txBody>
                  <a:tcPr marL="45720" marR="45720" marT="18288" marB="18288">
                    <a:solidFill>
                      <a:srgbClr val="FFFFFF"/>
                    </a:solidFill>
                  </a:tcPr>
                </a:tc>
                <a:tc>
                  <a:txBody>
                    <a:bodyPr/>
                    <a:lstStyle/>
                    <a:p>
                      <a:r>
                        <a:rPr sz="1000" b="0">
                          <a:solidFill>
                            <a:srgbClr val="555F6B"/>
                          </a:solidFill>
                        </a:rPr>
                        <a:t>200 × 7,35 = 1.469</a:t>
                      </a:r>
                    </a:p>
                  </a:txBody>
                  <a:tcPr marL="45720" marR="45720" marT="18288" marB="18288">
                    <a:solidFill>
                      <a:srgbClr val="FFFFFF"/>
                    </a:solidFill>
                  </a:tcPr>
                </a:tc>
              </a:tr>
              <a:tr h="429767">
                <a:tc>
                  <a:txBody>
                    <a:bodyPr/>
                    <a:lstStyle/>
                    <a:p>
                      <a:r>
                        <a:rPr sz="1000" b="0">
                          <a:solidFill>
                            <a:srgbClr val="555F6B"/>
                          </a:solidFill>
                        </a:rPr>
                        <a:t>Mua hàng, SCM (200)</a:t>
                      </a:r>
                    </a:p>
                  </a:txBody>
                  <a:tcPr marL="45720" marR="45720" marT="18288" marB="18288">
                    <a:solidFill>
                      <a:srgbClr val="EEF3F8"/>
                    </a:solidFill>
                  </a:tcPr>
                </a:tc>
                <a:tc>
                  <a:txBody>
                    <a:bodyPr/>
                    <a:lstStyle/>
                    <a:p>
                      <a:r>
                        <a:rPr sz="1000" b="0">
                          <a:solidFill>
                            <a:srgbClr val="555F6B"/>
                          </a:solidFill>
                        </a:rPr>
                        <a:t>Nhà cung cấp, đặt hàng, giao hàng</a:t>
                      </a:r>
                    </a:p>
                  </a:txBody>
                  <a:tcPr marL="45720" marR="45720" marT="18288" marB="18288">
                    <a:solidFill>
                      <a:srgbClr val="EEF3F8"/>
                    </a:solidFill>
                  </a:tcPr>
                </a:tc>
                <a:tc>
                  <a:txBody>
                    <a:bodyPr/>
                    <a:lstStyle/>
                    <a:p>
                      <a:r>
                        <a:rPr sz="1000" b="0">
                          <a:solidFill>
                            <a:srgbClr val="555F6B"/>
                          </a:solidFill>
                        </a:rPr>
                        <a:t>So sánh báo giá nhà cung cấp 0,56 · agent cập nhật lịch giao hàng 0,05</a:t>
                      </a:r>
                    </a:p>
                  </a:txBody>
                  <a:tcPr marL="45720" marR="45720" marT="18288" marB="18288">
                    <a:solidFill>
                      <a:srgbClr val="EEF3F8"/>
                    </a:solidFill>
                  </a:tcPr>
                </a:tc>
                <a:tc>
                  <a:txBody>
                    <a:bodyPr/>
                    <a:lstStyle/>
                    <a:p>
                      <a:r>
                        <a:rPr sz="1000" b="0">
                          <a:solidFill>
                            <a:srgbClr val="555F6B"/>
                          </a:solidFill>
                        </a:rPr>
                        <a:t>6,26 + 0,61 = 6,87</a:t>
                      </a:r>
                    </a:p>
                  </a:txBody>
                  <a:tcPr marL="45720" marR="45720" marT="18288" marB="18288">
                    <a:solidFill>
                      <a:srgbClr val="EEF3F8"/>
                    </a:solidFill>
                  </a:tcPr>
                </a:tc>
                <a:tc>
                  <a:txBody>
                    <a:bodyPr/>
                    <a:lstStyle/>
                    <a:p>
                      <a:r>
                        <a:rPr sz="1000" b="0">
                          <a:solidFill>
                            <a:srgbClr val="555F6B"/>
                          </a:solidFill>
                        </a:rPr>
                        <a:t>200 × 6,87 = 1.373</a:t>
                      </a:r>
                    </a:p>
                  </a:txBody>
                  <a:tcPr marL="45720" marR="45720" marT="18288" marB="18288">
                    <a:solidFill>
                      <a:srgbClr val="EEF3F8"/>
                    </a:solidFill>
                  </a:tcPr>
                </a:tc>
              </a:tr>
              <a:tr h="429767">
                <a:tc>
                  <a:txBody>
                    <a:bodyPr/>
                    <a:lstStyle/>
                    <a:p>
                      <a:r>
                        <a:rPr sz="1000" b="0">
                          <a:solidFill>
                            <a:srgbClr val="555F6B"/>
                          </a:solidFill>
                        </a:rPr>
                        <a:t>Lãnh đạo, trợ lý (100)</a:t>
                      </a:r>
                    </a:p>
                  </a:txBody>
                  <a:tcPr marL="45720" marR="45720" marT="18288" marB="18288">
                    <a:solidFill>
                      <a:srgbClr val="FFFFFF"/>
                    </a:solidFill>
                  </a:tcPr>
                </a:tc>
                <a:tc>
                  <a:txBody>
                    <a:bodyPr/>
                    <a:lstStyle/>
                    <a:p>
                      <a:r>
                        <a:rPr sz="1000" b="0">
                          <a:solidFill>
                            <a:srgbClr val="555F6B"/>
                          </a:solidFill>
                        </a:rPr>
                        <a:t>Ra quyết định, họp nhiều</a:t>
                      </a:r>
                    </a:p>
                  </a:txBody>
                  <a:tcPr marL="45720" marR="45720" marT="18288" marB="18288">
                    <a:solidFill>
                      <a:srgbClr val="FFFFFF"/>
                    </a:solidFill>
                  </a:tcPr>
                </a:tc>
                <a:tc>
                  <a:txBody>
                    <a:bodyPr/>
                    <a:lstStyle/>
                    <a:p>
                      <a:r>
                        <a:rPr sz="1000" b="0">
                          <a:solidFill>
                            <a:srgbClr val="555F6B"/>
                          </a:solidFill>
                        </a:rPr>
                        <a:t>Họp 4,6 cuộc/ngày nên biên bản họp là 0,92 thay vì 0,40 · agent chuẩn bị briefing 0,92 · sắp lịch 0,20 · slide 0,10</a:t>
                      </a:r>
                    </a:p>
                  </a:txBody>
                  <a:tcPr marL="45720" marR="45720" marT="18288" marB="18288">
                    <a:solidFill>
                      <a:srgbClr val="FFFFFF"/>
                    </a:solidFill>
                  </a:tcPr>
                </a:tc>
                <a:tc>
                  <a:txBody>
                    <a:bodyPr/>
                    <a:lstStyle/>
                    <a:p>
                      <a:r>
                        <a:rPr sz="1000" b="0">
                          <a:solidFill>
                            <a:srgbClr val="555F6B"/>
                          </a:solidFill>
                        </a:rPr>
                        <a:t>6,26 + 1,74 = 8,00</a:t>
                      </a:r>
                    </a:p>
                  </a:txBody>
                  <a:tcPr marL="45720" marR="45720" marT="18288" marB="18288">
                    <a:solidFill>
                      <a:srgbClr val="FFFFFF"/>
                    </a:solidFill>
                  </a:tcPr>
                </a:tc>
                <a:tc>
                  <a:txBody>
                    <a:bodyPr/>
                    <a:lstStyle/>
                    <a:p>
                      <a:r>
                        <a:rPr sz="1000" b="0">
                          <a:solidFill>
                            <a:srgbClr val="555F6B"/>
                          </a:solidFill>
                        </a:rPr>
                        <a:t>100 × 8,00 = 800</a:t>
                      </a:r>
                    </a:p>
                  </a:txBody>
                  <a:tcPr marL="45720" marR="45720" marT="18288" marB="18288">
                    <a:solidFill>
                      <a:srgbClr val="FFFFFF"/>
                    </a:solidFill>
                  </a:tcPr>
                </a:tc>
              </a:tr>
              <a:tr h="429776">
                <a:tc>
                  <a:txBody>
                    <a:bodyPr/>
                    <a:lstStyle/>
                    <a:p>
                      <a:r>
                        <a:rPr sz="1000" b="0">
                          <a:solidFill>
                            <a:srgbClr val="555F6B"/>
                          </a:solidFill>
                        </a:rPr>
                        <a:t>Toàn công ty (2.000)</a:t>
                      </a:r>
                    </a:p>
                  </a:txBody>
                  <a:tcPr marL="45720" marR="45720" marT="18288" marB="18288">
                    <a:solidFill>
                      <a:srgbClr val="EEF3F8"/>
                    </a:solidFill>
                  </a:tcPr>
                </a:tc>
                <a:tc>
                  <a:txBody>
                    <a:bodyPr/>
                    <a:lstStyle/>
                    <a:p/>
                  </a:txBody>
                  <a:tcPr marL="45720" marR="45720" marT="18288" marB="18288">
                    <a:solidFill>
                      <a:srgbClr val="EEF3F8"/>
                    </a:solidFill>
                  </a:tcPr>
                </a:tc>
                <a:tc>
                  <a:txBody>
                    <a:bodyPr/>
                    <a:lstStyle/>
                    <a:p/>
                  </a:txBody>
                  <a:tcPr marL="45720" marR="45720" marT="18288" marB="18288">
                    <a:solidFill>
                      <a:srgbClr val="EEF3F8"/>
                    </a:solidFill>
                  </a:tcPr>
                </a:tc>
                <a:tc>
                  <a:txBody>
                    <a:bodyPr/>
                    <a:lstStyle/>
                    <a:p>
                      <a:r>
                        <a:rPr sz="1000" b="0">
                          <a:solidFill>
                            <a:srgbClr val="555F6B"/>
                          </a:solidFill>
                        </a:rPr>
                        <a:t>7,06 (trung bình)</a:t>
                      </a:r>
                    </a:p>
                  </a:txBody>
                  <a:tcPr marL="45720" marR="45720" marT="18288" marB="18288">
                    <a:solidFill>
                      <a:srgbClr val="EEF3F8"/>
                    </a:solidFill>
                  </a:tcPr>
                </a:tc>
                <a:tc>
                  <a:txBody>
                    <a:bodyPr/>
                    <a:lstStyle/>
                    <a:p>
                      <a:r>
                        <a:rPr sz="1000" b="0">
                          <a:solidFill>
                            <a:srgbClr val="555F6B"/>
                          </a:solidFill>
                        </a:rPr>
                        <a:t>14.120</a:t>
                      </a:r>
                    </a:p>
                  </a:txBody>
                  <a:tcPr marL="45720" marR="45720" marT="18288" marB="18288">
                    <a:solidFill>
                      <a:srgbClr val="EEF3F8"/>
                    </a:solidFill>
                  </a:tcPr>
                </a:tc>
              </a:tr>
            </a:tbl>
          </a:graphicData>
        </a:graphic>
      </p:graphicFrame>
      <p:sp>
        <p:nvSpPr>
          <p:cNvPr id="8" name="TextBox 7"/>
          <p:cNvSpPr txBox="1"/>
          <p:nvPr/>
        </p:nvSpPr>
        <p:spPr>
          <a:xfrm>
            <a:off x="457200" y="5897880"/>
            <a:ext cx="11247120" cy="457200"/>
          </a:xfrm>
          <a:prstGeom prst="rect">
            <a:avLst/>
          </a:prstGeom>
          <a:noFill/>
        </p:spPr>
        <p:txBody>
          <a:bodyPr wrap="square">
            <a:spAutoFit/>
          </a:bodyPr>
          <a:lstStyle/>
          <a:p>
            <a:pPr algn="l">
              <a:spcAft>
                <a:spcPts val="400"/>
              </a:spcAft>
            </a:pPr>
            <a:r>
              <a:rPr sz="1000" b="0">
                <a:solidFill>
                  <a:srgbClr val="555F6B"/>
                </a:solidFill>
              </a:rPr>
              <a:t>Số đã làm tròn 2 chữ số. Nguồn khối lượng việc riêng: APQC (hóa đơn, đơn mua hàng), Graphite (code), MetricNet (ticket IT), HBR 2017 (giờ họp của lãnh đạo); còn lại là giả định của nhóm.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