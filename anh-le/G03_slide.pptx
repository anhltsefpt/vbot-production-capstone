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83464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931920"/>
            <a:ext cx="10515600" cy="1097280"/>
          </a:xfrm>
          <a:prstGeom prst="rect">
            <a:avLst/>
          </a:prstGeom>
          <a:noFill/>
        </p:spPr>
        <p:txBody>
          <a:bodyPr wrap="square">
            <a:spAutoFit/>
          </a:bodyPr>
          <a:lstStyle/>
          <a:p>
            <a:pPr algn="l">
              <a:spcAft>
                <a:spcPts val="400"/>
              </a:spcAft>
            </a:pPr>
            <a:r>
              <a:rPr sz="1800" b="0">
                <a:solidFill>
                  <a:srgbClr val="BFD7EA"/>
                </a:solidFill>
              </a:rPr>
              <a:t>Tổng chi phí: 6.821,44 USD/tháng, tức 3,41 USD cho mỗi người dùng hoạt động (DAU)</a:t>
            </a:r>
          </a:p>
          <a:p>
            <a:pPr algn="l">
              <a:spcAft>
                <a:spcPts val="400"/>
              </a:spcAft>
            </a:pPr>
            <a:r>
              <a:rPr sz="1800" b="0">
                <a:solidFill>
                  <a:srgbClr val="BFD7EA"/>
                </a:solidFill>
              </a:rPr>
              <a:t>Track 2 · Production Capstone · Nhóm G03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Giả định và ước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sẵn 2.000 DAU. Nhóm ước lượng mọi khối lượng còn lại từ dưới lên, theo 8 phòng ban, có nguồn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669280" cy="2926080"/>
        </p:xfrm>
        <a:graphic>
          <a:graphicData uri="http://schemas.openxmlformats.org/drawingml/2006/table">
            <a:tbl>
              <a:tblPr firstRow="1" bandRow="1">
                <a:tableStyleId>{5C22544A-7EE6-4342-B048-85BDC9FD1C3A}</a:tableStyleId>
              </a:tblPr>
              <a:tblGrid>
                <a:gridCol w="2743200"/>
                <a:gridCol w="914400"/>
                <a:gridCol w="2011680"/>
              </a:tblGrid>
              <a:tr h="292608">
                <a:tc>
                  <a:txBody>
                    <a:bodyPr/>
                    <a:lstStyle/>
                    <a:p>
                      <a:r>
                        <a:rPr sz="1100" b="1">
                          <a:solidFill>
                            <a:srgbClr val="FFFFFF"/>
                          </a:solidFill>
                        </a:rPr>
                        <a:t>Phòng ban</a:t>
                      </a:r>
                    </a:p>
                  </a:txBody>
                  <a:tcPr marL="45720" marR="45720" marT="18288" marB="18288">
                    <a:solidFill>
                      <a:srgbClr val="2E6FB7"/>
                    </a:solidFill>
                  </a:tcPr>
                </a:tc>
                <a:tc>
                  <a:txBody>
                    <a:bodyPr/>
                    <a:lstStyle/>
                    <a:p>
                      <a:r>
                        <a:rPr sz="1100" b="1">
                          <a:solidFill>
                            <a:srgbClr val="FFFFFF"/>
                          </a:solidFill>
                        </a:rPr>
                        <a:t>Số người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r>
              <a:tr h="292608">
                <a:tc>
                  <a:txBody>
                    <a:bodyPr/>
                    <a:lstStyle/>
                    <a:p>
                      <a:r>
                        <a:rPr sz="1100" b="0">
                          <a:solidFill>
                            <a:srgbClr val="555F6B"/>
                          </a:solidFill>
                        </a:rPr>
                        <a:t>Kinh doanh, CSKH</a:t>
                      </a:r>
                    </a:p>
                  </a:txBody>
                  <a:tcPr marL="45720" marR="45720" marT="18288" marB="18288">
                    <a:solidFill>
                      <a:srgbClr val="EEF3F8"/>
                    </a:solidFill>
                  </a:tcPr>
                </a:tc>
                <a:tc>
                  <a:txBody>
                    <a:bodyPr/>
                    <a:lstStyle/>
                    <a:p>
                      <a:r>
                        <a:rPr sz="1100" b="0">
                          <a:solidFill>
                            <a:srgbClr val="555F6B"/>
                          </a:solidFill>
                        </a:rPr>
                        <a:t>500</a:t>
                      </a:r>
                    </a:p>
                  </a:txBody>
                  <a:tcPr marL="45720" marR="45720" marT="18288" marB="18288">
                    <a:solidFill>
                      <a:srgbClr val="EEF3F8"/>
                    </a:solidFill>
                  </a:tcPr>
                </a:tc>
                <a:tc>
                  <a:txBody>
                    <a:bodyPr/>
                    <a:lstStyle/>
                    <a:p>
                      <a:r>
                        <a:rPr sz="1100" b="0">
                          <a:solidFill>
                            <a:srgbClr val="555F6B"/>
                          </a:solidFill>
                        </a:rPr>
                        <a:t>6,49</a:t>
                      </a:r>
                    </a:p>
                  </a:txBody>
                  <a:tcPr marL="45720" marR="45720" marT="18288" marB="18288">
                    <a:solidFill>
                      <a:srgbClr val="EEF3F8"/>
                    </a:solidFill>
                  </a:tcPr>
                </a:tc>
              </a:tr>
              <a:tr h="292608">
                <a:tc>
                  <a:txBody>
                    <a:bodyPr/>
                    <a:lstStyle/>
                    <a:p>
                      <a:r>
                        <a:rPr sz="1100" b="0">
                          <a:solidFill>
                            <a:srgbClr val="555F6B"/>
                          </a:solidFill>
                        </a:rPr>
                        <a:t>Kế toán</a:t>
                      </a:r>
                    </a:p>
                  </a:txBody>
                  <a:tcPr marL="45720" marR="45720" marT="18288" marB="18288">
                    <a:solidFill>
                      <a:srgbClr val="FFFFFF"/>
                    </a:solidFill>
                  </a:tcPr>
                </a:tc>
                <a:tc>
                  <a:txBody>
                    <a:bodyPr/>
                    <a:lstStyle/>
                    <a:p>
                      <a:r>
                        <a:rPr sz="1100" b="0">
                          <a:solidFill>
                            <a:srgbClr val="555F6B"/>
                          </a:solidFill>
                        </a:rPr>
                        <a:t>240</a:t>
                      </a:r>
                    </a:p>
                  </a:txBody>
                  <a:tcPr marL="45720" marR="45720" marT="18288" marB="18288">
                    <a:solidFill>
                      <a:srgbClr val="FFFFFF"/>
                    </a:solidFill>
                  </a:tcPr>
                </a:tc>
                <a:tc>
                  <a:txBody>
                    <a:bodyPr/>
                    <a:lstStyle/>
                    <a:p>
                      <a:r>
                        <a:rPr sz="1100" b="0">
                          <a:solidFill>
                            <a:srgbClr val="555F6B"/>
                          </a:solidFill>
                        </a:rPr>
                        <a:t>7,41</a:t>
                      </a:r>
                    </a:p>
                  </a:txBody>
                  <a:tcPr marL="45720" marR="45720" marT="18288" marB="18288">
                    <a:solidFill>
                      <a:srgbClr val="FFFFFF"/>
                    </a:solidFill>
                  </a:tcPr>
                </a:tc>
              </a:tr>
              <a:tr h="292608">
                <a:tc>
                  <a:txBody>
                    <a:bodyPr/>
                    <a:lstStyle/>
                    <a:p>
                      <a:r>
                        <a:rPr sz="1100" b="0">
                          <a:solidFill>
                            <a:srgbClr val="555F6B"/>
                          </a:solidFill>
                        </a:rPr>
                        <a:t>Nhân sự, hành chính, pháp chế</a:t>
                      </a:r>
                    </a:p>
                  </a:txBody>
                  <a:tcPr marL="45720" marR="45720" marT="18288" marB="18288">
                    <a:solidFill>
                      <a:srgbClr val="EEF3F8"/>
                    </a:solidFill>
                  </a:tcPr>
                </a:tc>
                <a:tc>
                  <a:txBody>
                    <a:bodyPr/>
                    <a:lstStyle/>
                    <a:p>
                      <a:r>
                        <a:rPr sz="1100" b="0">
                          <a:solidFill>
                            <a:srgbClr val="555F6B"/>
                          </a:solidFill>
                        </a:rPr>
                        <a:t>260</a:t>
                      </a:r>
                    </a:p>
                  </a:txBody>
                  <a:tcPr marL="45720" marR="45720" marT="18288" marB="18288">
                    <a:solidFill>
                      <a:srgbClr val="EEF3F8"/>
                    </a:solidFill>
                  </a:tcPr>
                </a:tc>
                <a:tc>
                  <a:txBody>
                    <a:bodyPr/>
                    <a:lstStyle/>
                    <a:p>
                      <a:r>
                        <a:rPr sz="1100" b="0">
                          <a:solidFill>
                            <a:srgbClr val="555F6B"/>
                          </a:solidFill>
                        </a:rPr>
                        <a:t>6,63</a:t>
                      </a:r>
                    </a:p>
                  </a:txBody>
                  <a:tcPr marL="45720" marR="45720" marT="18288" marB="18288">
                    <a:solidFill>
                      <a:srgbClr val="EEF3F8"/>
                    </a:solidFill>
                  </a:tcPr>
                </a:tc>
              </a:tr>
              <a:tr h="292608">
                <a:tc>
                  <a:txBody>
                    <a:bodyPr/>
                    <a:lstStyle/>
                    <a:p>
                      <a:r>
                        <a:rPr sz="1100" b="0">
                          <a:solidFill>
                            <a:srgbClr val="555F6B"/>
                          </a:solidFill>
                        </a:rPr>
                        <a:t>Marketing</a:t>
                      </a:r>
                    </a:p>
                  </a:txBody>
                  <a:tcPr marL="45720" marR="45720" marT="18288" marB="18288">
                    <a:solidFill>
                      <a:srgbClr val="FFFFFF"/>
                    </a:solidFill>
                  </a:tcPr>
                </a:tc>
                <a:tc>
                  <a:txBody>
                    <a:bodyPr/>
                    <a:lstStyle/>
                    <a:p>
                      <a:r>
                        <a:rPr sz="1100" b="0">
                          <a:solidFill>
                            <a:srgbClr val="555F6B"/>
                          </a:solidFill>
                        </a:rPr>
                        <a:t>200</a:t>
                      </a:r>
                    </a:p>
                  </a:txBody>
                  <a:tcPr marL="45720" marR="45720" marT="18288" marB="18288">
                    <a:solidFill>
                      <a:srgbClr val="FFFFFF"/>
                    </a:solidFill>
                  </a:tcPr>
                </a:tc>
                <a:tc>
                  <a:txBody>
                    <a:bodyPr/>
                    <a:lstStyle/>
                    <a:p>
                      <a:r>
                        <a:rPr sz="1100" b="0">
                          <a:solidFill>
                            <a:srgbClr val="555F6B"/>
                          </a:solidFill>
                        </a:rPr>
                        <a:t>7,50</a:t>
                      </a:r>
                    </a:p>
                  </a:txBody>
                  <a:tcPr marL="45720" marR="45720" marT="18288" marB="18288">
                    <a:solidFill>
                      <a:srgbClr val="FFFFFF"/>
                    </a:solidFill>
                  </a:tcPr>
                </a:tc>
              </a:tr>
              <a:tr h="292608">
                <a:tc>
                  <a:txBody>
                    <a:bodyPr/>
                    <a:lstStyle/>
                    <a:p>
                      <a:r>
                        <a:rPr sz="1100" b="0">
                          <a:solidFill>
                            <a:srgbClr val="555F6B"/>
                          </a:solidFill>
                        </a:rPr>
                        <a:t>Quản lý dự án, vận hành</a:t>
                      </a:r>
                    </a:p>
                  </a:txBody>
                  <a:tcPr marL="45720" marR="45720" marT="18288" marB="18288">
                    <a:solidFill>
                      <a:srgbClr val="EEF3F8"/>
                    </a:solidFill>
                  </a:tcPr>
                </a:tc>
                <a:tc>
                  <a:txBody>
                    <a:bodyPr/>
                    <a:lstStyle/>
                    <a:p>
                      <a:r>
                        <a:rPr sz="1100" b="0">
                          <a:solidFill>
                            <a:srgbClr val="555F6B"/>
                          </a:solidFill>
                        </a:rPr>
                        <a:t>300</a:t>
                      </a:r>
                    </a:p>
                  </a:txBody>
                  <a:tcPr marL="45720" marR="45720" marT="18288" marB="18288">
                    <a:solidFill>
                      <a:srgbClr val="EEF3F8"/>
                    </a:solidFill>
                  </a:tcPr>
                </a:tc>
                <a:tc>
                  <a:txBody>
                    <a:bodyPr/>
                    <a:lstStyle/>
                    <a:p>
                      <a:r>
                        <a:rPr sz="1100" b="0">
                          <a:solidFill>
                            <a:srgbClr val="555F6B"/>
                          </a:solidFill>
                        </a:rPr>
                        <a:t>7,46</a:t>
                      </a:r>
                    </a:p>
                  </a:txBody>
                  <a:tcPr marL="45720" marR="45720" marT="18288" marB="18288">
                    <a:solidFill>
                      <a:srgbClr val="EEF3F8"/>
                    </a:solidFill>
                  </a:tcPr>
                </a:tc>
              </a:tr>
              <a:tr h="292608">
                <a:tc>
                  <a:txBody>
                    <a:bodyPr/>
                    <a:lstStyle/>
                    <a:p>
                      <a:r>
                        <a:rPr sz="1100" b="0">
                          <a:solidFill>
                            <a:srgbClr val="555F6B"/>
                          </a:solidFill>
                        </a:rPr>
                        <a:t>Mua hàng, SCM</a:t>
                      </a:r>
                    </a:p>
                  </a:txBody>
                  <a:tcPr marL="45720" marR="45720" marT="18288" marB="18288">
                    <a:solidFill>
                      <a:srgbClr val="FFFFFF"/>
                    </a:solidFill>
                  </a:tcPr>
                </a:tc>
                <a:tc>
                  <a:txBody>
                    <a:bodyPr/>
                    <a:lstStyle/>
                    <a:p>
                      <a:r>
                        <a:rPr sz="1100" b="0">
                          <a:solidFill>
                            <a:srgbClr val="555F6B"/>
                          </a:solidFill>
                        </a:rPr>
                        <a:t>200</a:t>
                      </a:r>
                    </a:p>
                  </a:txBody>
                  <a:tcPr marL="45720" marR="45720" marT="18288" marB="18288">
                    <a:solidFill>
                      <a:srgbClr val="FFFFFF"/>
                    </a:solidFill>
                  </a:tcPr>
                </a:tc>
                <a:tc>
                  <a:txBody>
                    <a:bodyPr/>
                    <a:lstStyle/>
                    <a:p>
                      <a:r>
                        <a:rPr sz="1100" b="0">
                          <a:solidFill>
                            <a:srgbClr val="555F6B"/>
                          </a:solidFill>
                        </a:rPr>
                        <a:t>6,87</a:t>
                      </a:r>
                    </a:p>
                  </a:txBody>
                  <a:tcPr marL="45720" marR="45720" marT="18288" marB="18288">
                    <a:solidFill>
                      <a:srgbClr val="FFFFFF"/>
                    </a:solidFill>
                  </a:tcPr>
                </a:tc>
              </a:tr>
              <a:tr h="292608">
                <a:tc>
                  <a:txBody>
                    <a:bodyPr/>
                    <a:lstStyle/>
                    <a:p>
                      <a:r>
                        <a:rPr sz="1100" b="0">
                          <a:solidFill>
                            <a:srgbClr val="555F6B"/>
                          </a:solidFill>
                        </a:rPr>
                        <a:t>IT</a:t>
                      </a:r>
                    </a:p>
                  </a:txBody>
                  <a:tcPr marL="45720" marR="45720" marT="18288" marB="18288">
                    <a:solidFill>
                      <a:srgbClr val="EEF3F8"/>
                    </a:solidFill>
                  </a:tcPr>
                </a:tc>
                <a:tc>
                  <a:txBody>
                    <a:bodyPr/>
                    <a:lstStyle/>
                    <a:p>
                      <a:r>
                        <a:rPr sz="1100" b="0">
                          <a:solidFill>
                            <a:srgbClr val="555F6B"/>
                          </a:solidFill>
                        </a:rPr>
                        <a:t>200</a:t>
                      </a:r>
                    </a:p>
                  </a:txBody>
                  <a:tcPr marL="45720" marR="45720" marT="18288" marB="18288">
                    <a:solidFill>
                      <a:srgbClr val="EEF3F8"/>
                    </a:solidFill>
                  </a:tcPr>
                </a:tc>
                <a:tc>
                  <a:txBody>
                    <a:bodyPr/>
                    <a:lstStyle/>
                    <a:p>
                      <a:r>
                        <a:rPr sz="1100" b="0">
                          <a:solidFill>
                            <a:srgbClr val="555F6B"/>
                          </a:solidFill>
                        </a:rPr>
                        <a:t>7,35</a:t>
                      </a:r>
                    </a:p>
                  </a:txBody>
                  <a:tcPr marL="45720" marR="45720" marT="18288" marB="18288">
                    <a:solidFill>
                      <a:srgbClr val="EEF3F8"/>
                    </a:solidFill>
                  </a:tcPr>
                </a:tc>
              </a:tr>
              <a:tr h="292608">
                <a:tc>
                  <a:txBody>
                    <a:bodyPr/>
                    <a:lstStyle/>
                    <a:p>
                      <a:r>
                        <a:rPr sz="1100" b="0">
                          <a:solidFill>
                            <a:srgbClr val="555F6B"/>
                          </a:solidFill>
                        </a:rPr>
                        <a:t>Lãnh đạo, trợ lý</a:t>
                      </a:r>
                    </a:p>
                  </a:txBody>
                  <a:tcPr marL="45720" marR="45720" marT="18288" marB="18288">
                    <a:solidFill>
                      <a:srgbClr val="FFFFFF"/>
                    </a:solidFill>
                  </a:tcPr>
                </a:tc>
                <a:tc>
                  <a:txBody>
                    <a:bodyPr/>
                    <a:lstStyle/>
                    <a:p>
                      <a:r>
                        <a:rPr sz="1100" b="0">
                          <a:solidFill>
                            <a:srgbClr val="555F6B"/>
                          </a:solidFill>
                        </a:rPr>
                        <a:t>100</a:t>
                      </a:r>
                    </a:p>
                  </a:txBody>
                  <a:tcPr marL="45720" marR="45720" marT="18288" marB="18288">
                    <a:solidFill>
                      <a:srgbClr val="FFFFFF"/>
                    </a:solidFill>
                  </a:tcPr>
                </a:tc>
                <a:tc>
                  <a:txBody>
                    <a:bodyPr/>
                    <a:lstStyle/>
                    <a:p>
                      <a:r>
                        <a:rPr sz="1100" b="0">
                          <a:solidFill>
                            <a:srgbClr val="555F6B"/>
                          </a:solidFill>
                        </a:rPr>
                        <a:t>8,00</a:t>
                      </a:r>
                    </a:p>
                  </a:txBody>
                  <a:tcPr marL="45720" marR="45720" marT="18288" marB="18288">
                    <a:solidFill>
                      <a:srgbClr val="FFFFFF"/>
                    </a:solidFill>
                  </a:tcPr>
                </a:tc>
              </a:tr>
              <a:tr h="292608">
                <a:tc>
                  <a:txBody>
                    <a:bodyPr/>
                    <a:lstStyle/>
                    <a:p>
                      <a:r>
                        <a:rPr sz="1100" b="0">
                          <a:solidFill>
                            <a:srgbClr val="555F6B"/>
                          </a:solidFill>
                        </a:rPr>
                        <a:t>Toàn công ty</a:t>
                      </a:r>
                    </a:p>
                  </a:txBody>
                  <a:tcPr marL="45720" marR="45720" marT="18288" marB="18288">
                    <a:solidFill>
                      <a:srgbClr val="EEF3F8"/>
                    </a:solidFill>
                  </a:tcPr>
                </a:tc>
                <a:tc>
                  <a:txBody>
                    <a:bodyPr/>
                    <a:lstStyle/>
                    <a:p>
                      <a:r>
                        <a:rPr sz="1100" b="0">
                          <a:solidFill>
                            <a:srgbClr val="555F6B"/>
                          </a:solidFill>
                        </a:rPr>
                        <a:t>2.000</a:t>
                      </a:r>
                    </a:p>
                  </a:txBody>
                  <a:tcPr marL="45720" marR="45720" marT="18288" marB="18288">
                    <a:solidFill>
                      <a:srgbClr val="EEF3F8"/>
                    </a:solidFill>
                  </a:tcPr>
                </a:tc>
                <a:tc>
                  <a:txBody>
                    <a:bodyPr/>
                    <a:lstStyle/>
                    <a:p>
                      <a:r>
                        <a:rPr sz="1100" b="0">
                          <a:solidFill>
                            <a:srgbClr val="555F6B"/>
                          </a:solidFill>
                        </a:rPr>
                        <a:t>7,06</a:t>
                      </a:r>
                    </a:p>
                  </a:txBody>
                  <a:tcPr marL="45720" marR="45720" marT="18288" marB="18288">
                    <a:solidFill>
                      <a:srgbClr val="EEF3F8"/>
                    </a:solidFill>
                  </a:tcPr>
                </a:tc>
              </a:tr>
            </a:tbl>
          </a:graphicData>
        </a:graphic>
      </p:graphicFrame>
      <p:sp>
        <p:nvSpPr>
          <p:cNvPr id="8" name="TextBox 7"/>
          <p:cNvSpPr txBox="1"/>
          <p:nvPr/>
        </p:nvSpPr>
        <p:spPr>
          <a:xfrm>
            <a:off x="457200" y="4572000"/>
            <a:ext cx="5760720" cy="1737360"/>
          </a:xfrm>
          <a:prstGeom prst="rect">
            <a:avLst/>
          </a:prstGeom>
          <a:noFill/>
        </p:spPr>
        <p:txBody>
          <a:bodyPr wrap="square">
            <a:spAutoFit/>
          </a:bodyPr>
          <a:lstStyle/>
          <a:p>
            <a:pPr algn="l">
              <a:spcAft>
                <a:spcPts val="400"/>
              </a:spcAft>
            </a:pPr>
            <a:r>
              <a:rPr sz="1100" b="1">
                <a:solidFill>
                  <a:srgbClr val="555F6B"/>
                </a:solidFill>
              </a:rPr>
              <a:t>Công thức: số nhiệm vụ = khối lượng việc thực tế × tỉ lệ giao cho AI</a:t>
            </a:r>
          </a:p>
          <a:p>
            <a:pPr algn="l">
              <a:spcAft>
                <a:spcPts val="400"/>
              </a:spcAft>
            </a:pPr>
            <a:r>
              <a:rPr sz="1100" b="0">
                <a:solidFill>
                  <a:srgbClr val="555F6B"/>
                </a:solidFill>
              </a:rPr>
              <a:t>Khối lượng việc: Microsoft RCT 2025 (32 email đọc và 2 cuộc họp mỗi ngày), Radicati, APQC, NBER, Graphite</a:t>
            </a:r>
          </a:p>
          <a:p>
            <a:pPr algn="l">
              <a:spcAft>
                <a:spcPts val="400"/>
              </a:spcAft>
            </a:pPr>
            <a:r>
              <a:rPr sz="1100" b="0">
                <a:solidFill>
                  <a:srgbClr val="555F6B"/>
                </a:solidFill>
              </a:rPr>
              <a:t>Tỉ lệ giao cho AI: Liang 2025 (10–24% văn bản có dùng LLM); email nâng lên 30% vì công ty triển khai chính thức</a:t>
            </a:r>
          </a:p>
          <a:p>
            <a:pPr algn="l">
              <a:spcAft>
                <a:spcPts val="400"/>
              </a:spcAft>
            </a:pPr>
            <a:r>
              <a:rPr sz="1100" b="0">
                <a:solidFill>
                  <a:srgbClr val="555F6B"/>
                </a:solidFill>
              </a:rPr>
              <a:t>Chỉ tính tác vụ đi qua 11 connector của đề</a:t>
            </a:r>
          </a:p>
        </p:txBody>
      </p:sp>
      <p:graphicFrame>
        <p:nvGraphicFramePr>
          <p:cNvPr id="9" name="Table 8"/>
          <p:cNvGraphicFramePr>
            <a:graphicFrameLocks noGrp="1"/>
          </p:cNvGraphicFramePr>
          <p:nvPr/>
        </p:nvGraphicFramePr>
        <p:xfrm>
          <a:off x="6400800" y="1371600"/>
          <a:ext cx="5303520" cy="2926080"/>
        </p:xfrm>
        <a:graphic>
          <a:graphicData uri="http://schemas.openxmlformats.org/drawingml/2006/table">
            <a:tbl>
              <a:tblPr firstRow="1" bandRow="1">
                <a:tableStyleId>{5C22544A-7EE6-4342-B048-85BDC9FD1C3A}</a:tableStyleId>
              </a:tblPr>
              <a:tblGrid>
                <a:gridCol w="2377440"/>
                <a:gridCol w="2926080"/>
              </a:tblGrid>
              <a:tr h="292608">
                <a:tc>
                  <a:txBody>
                    <a:bodyPr/>
                    <a:lstStyle/>
                    <a:p>
                      <a:r>
                        <a:rPr sz="1100" b="1">
                          <a:solidFill>
                            <a:srgbClr val="FFFFFF"/>
                          </a:solidFill>
                        </a:rPr>
                        <a:t>Chỉ số</a:t>
                      </a:r>
                    </a:p>
                  </a:txBody>
                  <a:tcPr marL="45720" marR="45720" marT="18288" marB="18288">
                    <a:solidFill>
                      <a:srgbClr val="2E6FB7"/>
                    </a:solidFill>
                  </a:tcPr>
                </a:tc>
                <a:tc>
                  <a:txBody>
                    <a:bodyPr/>
                    <a:lstStyle/>
                    <a:p>
                      <a:r>
                        <a:rPr sz="1100" b="1">
                          <a:solidFill>
                            <a:srgbClr val="FFFFFF"/>
                          </a:solidFill>
                        </a:rPr>
                        <a:t>Giá trị</a:t>
                      </a:r>
                    </a:p>
                  </a:txBody>
                  <a:tcPr marL="45720" marR="45720" marT="18288" marB="18288">
                    <a:solidFill>
                      <a:srgbClr val="2E6FB7"/>
                    </a:solidFill>
                  </a:tcPr>
                </a:tc>
              </a:tr>
              <a:tr h="292608">
                <a:tc>
                  <a:txBody>
                    <a:bodyPr/>
                    <a:lstStyle/>
                    <a:p>
                      <a:r>
                        <a:rPr sz="1100" b="0">
                          <a:solidFill>
                            <a:srgbClr val="555F6B"/>
                          </a:solidFill>
                        </a:rPr>
                        <a:t>Nhiệm vụ/ngày · /tháng (22 ngày)</a:t>
                      </a:r>
                    </a:p>
                  </a:txBody>
                  <a:tcPr marL="45720" marR="45720" marT="18288" marB="18288">
                    <a:solidFill>
                      <a:srgbClr val="EEF3F8"/>
                    </a:solidFill>
                  </a:tcPr>
                </a:tc>
                <a:tc>
                  <a:txBody>
                    <a:bodyPr/>
                    <a:lstStyle/>
                    <a:p>
                      <a:r>
                        <a:rPr sz="1100" b="0">
                          <a:solidFill>
                            <a:srgbClr val="555F6B"/>
                          </a:solidFill>
                        </a:rPr>
                        <a:t>14.120 · 310.644</a:t>
                      </a:r>
                    </a:p>
                  </a:txBody>
                  <a:tcPr marL="45720" marR="45720" marT="18288" marB="18288">
                    <a:solidFill>
                      <a:srgbClr val="EEF3F8"/>
                    </a:solidFill>
                  </a:tcPr>
                </a:tc>
              </a:tr>
              <a:tr h="292608">
                <a:tc>
                  <a:txBody>
                    <a:bodyPr/>
                    <a:lstStyle/>
                    <a:p>
                      <a:r>
                        <a:rPr sz="1100" b="0">
                          <a:solidFill>
                            <a:srgbClr val="555F6B"/>
                          </a:solidFill>
                        </a:rPr>
                        <a:t>Lượt chat mỗi ngày</a:t>
                      </a:r>
                    </a:p>
                  </a:txBody>
                  <a:tcPr marL="45720" marR="45720" marT="18288" marB="18288">
                    <a:solidFill>
                      <a:srgbClr val="FFFFFF"/>
                    </a:solidFill>
                  </a:tcPr>
                </a:tc>
                <a:tc>
                  <a:txBody>
                    <a:bodyPr/>
                    <a:lstStyle/>
                    <a:p>
                      <a:r>
                        <a:rPr sz="1100" b="0">
                          <a:solidFill>
                            <a:srgbClr val="555F6B"/>
                          </a:solidFill>
                        </a:rPr>
                        <a:t>27.098 (13,55 lượt/người)</a:t>
                      </a:r>
                    </a:p>
                  </a:txBody>
                  <a:tcPr marL="45720" marR="45720" marT="18288" marB="18288">
                    <a:solidFill>
                      <a:srgbClr val="FFFFFF"/>
                    </a:solidFill>
                  </a:tcPr>
                </a:tc>
              </a:tr>
              <a:tr h="292608">
                <a:tc>
                  <a:txBody>
                    <a:bodyPr/>
                    <a:lstStyle/>
                    <a:p>
                      <a:r>
                        <a:rPr sz="1100" b="0">
                          <a:solidFill>
                            <a:srgbClr val="555F6B"/>
                          </a:solidFill>
                        </a:rPr>
                        <a:t>Tỉ lệ cấp 1/2/3/4/5</a:t>
                      </a:r>
                    </a:p>
                  </a:txBody>
                  <a:tcPr marL="45720" marR="45720" marT="18288" marB="18288">
                    <a:solidFill>
                      <a:srgbClr val="EEF3F8"/>
                    </a:solidFill>
                  </a:tcPr>
                </a:tc>
                <a:tc>
                  <a:txBody>
                    <a:bodyPr/>
                    <a:lstStyle/>
                    <a:p>
                      <a:r>
                        <a:rPr sz="1100" b="0">
                          <a:solidFill>
                            <a:srgbClr val="555F6B"/>
                          </a:solidFill>
                        </a:rPr>
                        <a:t>84,0 / 7,4 / 3,9 / 3,9 / 0,7%</a:t>
                      </a:r>
                    </a:p>
                  </a:txBody>
                  <a:tcPr marL="45720" marR="45720" marT="18288" marB="18288">
                    <a:solidFill>
                      <a:srgbClr val="EEF3F8"/>
                    </a:solidFill>
                  </a:tcPr>
                </a:tc>
              </a:tr>
              <a:tr h="292608">
                <a:tc>
                  <a:txBody>
                    <a:bodyPr/>
                    <a:lstStyle/>
                    <a:p>
                      <a:r>
                        <a:rPr sz="1100" b="0">
                          <a:solidFill>
                            <a:srgbClr val="555F6B"/>
                          </a:solidFill>
                        </a:rPr>
                        <a:t>Cao điểm (15% lưu lượng ngày)</a:t>
                      </a:r>
                    </a:p>
                  </a:txBody>
                  <a:tcPr marL="45720" marR="45720" marT="18288" marB="18288">
                    <a:solidFill>
                      <a:srgbClr val="FFFFFF"/>
                    </a:solidFill>
                  </a:tcPr>
                </a:tc>
                <a:tc>
                  <a:txBody>
                    <a:bodyPr/>
                    <a:lstStyle/>
                    <a:p>
                      <a:r>
                        <a:rPr sz="1100" b="0">
                          <a:solidFill>
                            <a:srgbClr val="555F6B"/>
                          </a:solidFill>
                        </a:rPr>
                        <a:t>0,59 nhiệm vụ/s · 1,13 lượt/s</a:t>
                      </a:r>
                    </a:p>
                  </a:txBody>
                  <a:tcPr marL="45720" marR="45720" marT="18288" marB="18288">
                    <a:solidFill>
                      <a:srgbClr val="FFFFFF"/>
                    </a:solidFill>
                  </a:tcPr>
                </a:tc>
              </a:tr>
              <a:tr h="292608">
                <a:tc>
                  <a:txBody>
                    <a:bodyPr/>
                    <a:lstStyle/>
                    <a:p>
                      <a:r>
                        <a:rPr sz="1100" b="0">
                          <a:solidFill>
                            <a:srgbClr val="555F6B"/>
                          </a:solidFill>
                        </a:rPr>
                        <a:t>Token mỗi tháng</a:t>
                      </a:r>
                    </a:p>
                  </a:txBody>
                  <a:tcPr marL="45720" marR="45720" marT="18288" marB="18288">
                    <a:solidFill>
                      <a:srgbClr val="EEF3F8"/>
                    </a:solidFill>
                  </a:tcPr>
                </a:tc>
                <a:tc>
                  <a:txBody>
                    <a:bodyPr/>
                    <a:lstStyle/>
                    <a:p>
                      <a:r>
                        <a:rPr sz="1100" b="0">
                          <a:solidFill>
                            <a:srgbClr val="555F6B"/>
                          </a:solidFill>
                        </a:rPr>
                        <a:t>12,19 tỉ vào (61% từ cache) + 0,79 tỉ ra</a:t>
                      </a:r>
                    </a:p>
                  </a:txBody>
                  <a:tcPr marL="45720" marR="45720" marT="18288" marB="18288">
                    <a:solidFill>
                      <a:srgbClr val="EEF3F8"/>
                    </a:solidFill>
                  </a:tcPr>
                </a:tc>
              </a:tr>
              <a:tr h="292608">
                <a:tc>
                  <a:txBody>
                    <a:bodyPr/>
                    <a:lstStyle/>
                    <a:p>
                      <a:r>
                        <a:rPr sz="1100" b="0">
                          <a:solidFill>
                            <a:srgbClr val="555F6B"/>
                          </a:solidFill>
                        </a:rPr>
                        <a:t>Sandbox</a:t>
                      </a:r>
                    </a:p>
                  </a:txBody>
                  <a:tcPr marL="45720" marR="45720" marT="18288" marB="18288">
                    <a:solidFill>
                      <a:srgbClr val="FFFFFF"/>
                    </a:solidFill>
                  </a:tcPr>
                </a:tc>
                <a:tc>
                  <a:txBody>
                    <a:bodyPr/>
                    <a:lstStyle/>
                    <a:p>
                      <a:r>
                        <a:rPr sz="1100" b="0">
                          <a:solidFill>
                            <a:srgbClr val="555F6B"/>
                          </a:solidFill>
                        </a:rPr>
                        <a:t>140.800 lượt, tối đa 2 phút/lượt</a:t>
                      </a:r>
                    </a:p>
                  </a:txBody>
                  <a:tcPr marL="45720" marR="45720" marT="18288" marB="18288">
                    <a:solidFill>
                      <a:srgbClr val="FFFFFF"/>
                    </a:solidFill>
                  </a:tcPr>
                </a:tc>
              </a:tr>
              <a:tr h="292608">
                <a:tc>
                  <a:txBody>
                    <a:bodyPr/>
                    <a:lstStyle/>
                    <a:p>
                      <a:r>
                        <a:rPr sz="1100" b="0">
                          <a:solidFill>
                            <a:srgbClr val="555F6B"/>
                          </a:solidFill>
                        </a:rPr>
                        <a:t>Ảnh sinh ra</a:t>
                      </a:r>
                    </a:p>
                  </a:txBody>
                  <a:tcPr marL="45720" marR="45720" marT="18288" marB="18288">
                    <a:solidFill>
                      <a:srgbClr val="EEF3F8"/>
                    </a:solidFill>
                  </a:tcPr>
                </a:tc>
                <a:tc>
                  <a:txBody>
                    <a:bodyPr/>
                    <a:lstStyle/>
                    <a:p>
                      <a:r>
                        <a:rPr sz="1100" b="0">
                          <a:solidFill>
                            <a:srgbClr val="555F6B"/>
                          </a:solidFill>
                        </a:rPr>
                        <a:t>4.312 ảnh/tháng</a:t>
                      </a:r>
                    </a:p>
                  </a:txBody>
                  <a:tcPr marL="45720" marR="45720" marT="18288" marB="18288">
                    <a:solidFill>
                      <a:srgbClr val="EEF3F8"/>
                    </a:solidFill>
                  </a:tcPr>
                </a:tc>
              </a:tr>
              <a:tr h="292608">
                <a:tc>
                  <a:txBody>
                    <a:bodyPr/>
                    <a:lstStyle/>
                    <a:p>
                      <a:r>
                        <a:rPr sz="1100" b="0">
                          <a:solidFill>
                            <a:srgbClr val="555F6B"/>
                          </a:solidFill>
                        </a:rPr>
                        <a:t>Workspace</a:t>
                      </a:r>
                    </a:p>
                  </a:txBody>
                  <a:tcPr marL="45720" marR="45720" marT="18288" marB="18288">
                    <a:solidFill>
                      <a:srgbClr val="FFFFFF"/>
                    </a:solidFill>
                  </a:tcPr>
                </a:tc>
                <a:tc>
                  <a:txBody>
                    <a:bodyPr/>
                    <a:lstStyle/>
                    <a:p>
                      <a:r>
                        <a:rPr sz="1100" b="0">
                          <a:solidFill>
                            <a:srgbClr val="555F6B"/>
                          </a:solidFill>
                        </a:rPr>
                        <a:t>2.000 × 2 GB = 4 TB; quota 10 GB/người</a:t>
                      </a:r>
                    </a:p>
                  </a:txBody>
                  <a:tcPr marL="45720" marR="45720" marT="18288" marB="18288">
                    <a:solidFill>
                      <a:srgbClr val="FFFFFF"/>
                    </a:solidFill>
                  </a:tcPr>
                </a:tc>
              </a:tr>
              <a:tr h="292608">
                <a:tc>
                  <a:txBody>
                    <a:bodyPr/>
                    <a:lstStyle/>
                    <a:p>
                      <a:r>
                        <a:rPr sz="1100" b="0">
                          <a:solidFill>
                            <a:srgbClr val="555F6B"/>
                          </a:solidFill>
                        </a:rPr>
                        <a:t>Thời hạn lưu audit · lịch sử chat</a:t>
                      </a:r>
                    </a:p>
                  </a:txBody>
                  <a:tcPr marL="45720" marR="45720" marT="18288" marB="18288">
                    <a:solidFill>
                      <a:srgbClr val="EEF3F8"/>
                    </a:solidFill>
                  </a:tcPr>
                </a:tc>
                <a:tc>
                  <a:txBody>
                    <a:bodyPr/>
                    <a:lstStyle/>
                    <a:p>
                      <a:r>
                        <a:rPr sz="1100" b="0">
                          <a:solidFill>
                            <a:srgbClr val="555F6B"/>
                          </a:solidFill>
                        </a:rPr>
                        <a:t>12 tháng · 12 tháng</a:t>
                      </a:r>
                    </a:p>
                  </a:txBody>
                  <a:tcPr marL="45720" marR="45720" marT="18288" marB="18288">
                    <a:solidFill>
                      <a:srgbClr val="EEF3F8"/>
                    </a:solidFill>
                  </a:tcPr>
                </a:tc>
              </a:tr>
            </a:tbl>
          </a:graphicData>
        </a:graphic>
      </p:graphicFrame>
      <p:sp>
        <p:nvSpPr>
          <p:cNvPr id="10" name="TextBox 9"/>
          <p:cNvSpPr txBox="1"/>
          <p:nvPr/>
        </p:nvSpPr>
        <p:spPr>
          <a:xfrm>
            <a:off x="6400800" y="4572000"/>
            <a:ext cx="5303520" cy="1737360"/>
          </a:xfrm>
          <a:prstGeom prst="rect">
            <a:avLst/>
          </a:prstGeom>
          <a:noFill/>
        </p:spPr>
        <p:txBody>
          <a:bodyPr wrap="square">
            <a:spAutoFit/>
          </a:bodyPr>
          <a:lstStyle/>
          <a:p>
            <a:pPr algn="l">
              <a:spcAft>
                <a:spcPts val="400"/>
              </a:spcAft>
            </a:pPr>
            <a:r>
              <a:rPr sz="1100" b="1">
                <a:solidFill>
                  <a:srgbClr val="555F6B"/>
                </a:solidFill>
              </a:rPr>
              <a:t>Token mỗi lượt: số lần gọi model × token vào / token ra</a:t>
            </a:r>
          </a:p>
          <a:p>
            <a:pPr algn="l">
              <a:spcAft>
                <a:spcPts val="400"/>
              </a:spcAft>
            </a:pPr>
            <a:r>
              <a:rPr sz="1100" b="0">
                <a:solidFill>
                  <a:srgbClr val="555F6B"/>
                </a:solidFill>
              </a:rPr>
              <a:t>C1: 2 × 5,5k / 250 · C2: 2 × 18k / 2,5k · C3: 3,5 × 12k / 1k</a:t>
            </a:r>
          </a:p>
          <a:p>
            <a:pPr algn="l">
              <a:spcAft>
                <a:spcPts val="400"/>
              </a:spcAft>
            </a:pPr>
            <a:r>
              <a:rPr sz="1100" b="0">
                <a:solidFill>
                  <a:srgbClr val="555F6B"/>
                </a:solidFill>
              </a:rPr>
              <a:t>C4: 8 × 15k / 300 · C5: 1,5 × 4k / 600 + 1 ảnh (C1–C5 = cấp 1–5)</a:t>
            </a:r>
          </a:p>
          <a:p>
            <a:pPr algn="l">
              <a:spcAft>
                <a:spcPts val="400"/>
              </a:spcAft>
            </a:pPr>
            <a:r>
              <a:rPr sz="1100" b="0">
                <a:solidFill>
                  <a:srgbClr val="555F6B"/>
                </a:solidFill>
              </a:rPr>
              <a:t>Nguồn: Azure On your data (5 × 1.024 token), DA-Code, MCP-Universe, MCPMark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tổng thể</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cloud chính: GCP asia-southeast1 (Singapore), GKE Autopilot regional trên 2 zone. Mỗi hộp ghi mã component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Armor WAF + HTTPS LB</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IdP tập đoàn (SSO,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GKE Autopilot regional, 2 zone · compute (prod; staging là namespace riêng)</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SSE</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gVisor, chặn egress</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DLP)</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PSC: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SQL PG HA + pgvector + RLS</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Valkey HA + Cloud Tasks</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GCS workspace dual-region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KMS + Secret Manager</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Logging, Prometheus,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Build + Artifact Registry</a:t>
            </a:r>
          </a:p>
          <a:p>
            <a:pPr algn="ctr"/>
            <a:r>
              <a:rPr sz="900" b="1">
                <a:solidFill>
                  <a:srgbClr val="1A8F7A"/>
                </a:solidFill>
              </a:rPr>
              <a:t>cicd</a:t>
            </a:r>
          </a:p>
        </p:txBody>
      </p:sp>
      <p:sp>
        <p:nvSpPr>
          <p:cNvPr id="29" name="Rounded Rectangle 28"/>
          <p:cNvSpPr/>
          <p:nvPr/>
        </p:nvSpPr>
        <p:spPr>
          <a:xfrm>
            <a:off x="1014984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2 FTE SRE + MLOps</a:t>
            </a:r>
          </a:p>
          <a:p>
            <a:pPr algn="ctr"/>
            <a:r>
              <a:rPr sz="900" b="1">
                <a:solidFill>
                  <a:srgbClr val="1A8F7A"/>
                </a:solidFill>
              </a:rPr>
              <a:t>ops_labor</a:t>
            </a:r>
          </a:p>
        </p:txBody>
      </p:sp>
      <p:sp>
        <p:nvSpPr>
          <p:cNvPr id="30" name="TextBox 29"/>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Không có điểm lỗi đơn: LB managed chạy đa zone; mỗi pod có 2 replica ở 2 zone; Cloud SQL có standby ở zone khác; Valkey có primary và replica. Dữ liệu lưu tại Singapore. Suy luận đi qua endpoint global của Vertex AI, có cam kết không lưu dữ liệu (zero-retention) và không dùng dữ liệu để huấn luyện.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Luồng một request: "Tóm tắt thread email dự án X, rồi tạo 3 ticket Jira"</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6" name="TextBox 5"/>
          <p:cNvSpPr txBox="1"/>
          <p:nvPr/>
        </p:nvSpPr>
        <p:spPr>
          <a:xfrm>
            <a:off x="548640" y="1188720"/>
            <a:ext cx="11155680" cy="5029200"/>
          </a:xfrm>
          <a:prstGeom prst="rect">
            <a:avLst/>
          </a:prstGeom>
          <a:noFill/>
        </p:spPr>
        <p:txBody>
          <a:bodyPr wrap="square">
            <a:spAutoFit/>
          </a:bodyPr>
          <a:lstStyle/>
          <a:p>
            <a:pPr algn="l">
              <a:spcAft>
                <a:spcPts val="400"/>
              </a:spcAft>
            </a:pPr>
            <a:r>
              <a:rPr sz="1400" b="0">
                <a:solidFill>
                  <a:srgbClr val="555F6B"/>
                </a:solidFill>
              </a:rPr>
              <a:t>1. Trình duyệt gửi request qua Cloud Armor (WAF) và HTTPS LB. IAP kiểm tra phiên SSO với IdP tập đoàn (có MFA).</a:t>
            </a:r>
          </a:p>
          <a:p>
            <a:pPr algn="l">
              <a:spcAft>
                <a:spcPts val="400"/>
              </a:spcAft>
            </a:pPr>
            <a:r>
              <a:rPr sz="1400" b="0">
                <a:solidFill>
                  <a:srgbClr val="555F6B"/>
                </a:solidFill>
              </a:rPr>
              <a:t>2. Web/API lấy user_id và group từ token, rồi ghi audit. Model Armor quét tin nhắn mới để tìm prompt injection và PII.</a:t>
            </a:r>
          </a:p>
          <a:p>
            <a:pPr algn="l">
              <a:spcAft>
                <a:spcPts val="400"/>
              </a:spcAft>
            </a:pPr>
            <a:r>
              <a:rPr sz="1400" b="0">
                <a:solidFill>
                  <a:srgbClr val="555F6B"/>
                </a:solidFill>
              </a:rPr>
              <a:t>3. Router xếp request vào cấp 4, đẩy job vào Cloud Tasks và trả ngay "đang chạy nền" (thời gian đến token đầu tiên, TTFT, &lt; 3 s).</a:t>
            </a:r>
          </a:p>
          <a:p>
            <a:pPr algn="l">
              <a:spcAft>
                <a:spcPts val="400"/>
              </a:spcAft>
            </a:pPr>
            <a:r>
              <a:rPr sz="1400" b="0">
                <a:solidFill>
                  <a:srgbClr val="555F6B"/>
                </a:solidFill>
              </a:rPr>
              <a:t>4. Worker giải mã OAuth token của chính user (KMS envelope), rồi tìm email qua Gmail/Graph API bằng quyền của user đó.</a:t>
            </a:r>
          </a:p>
          <a:p>
            <a:pPr algn="l">
              <a:spcAft>
                <a:spcPts val="400"/>
              </a:spcAft>
            </a:pPr>
            <a:r>
              <a:rPr sz="1400" b="0">
                <a:solidFill>
                  <a:srgbClr val="555F6B"/>
                </a:solidFill>
              </a:rPr>
              <a:t>5. Worker đánh dấu nội dung email là "không tin cậy", cho Model Armor quét, và tách nội dung này khỏi chỉ dẫn hệ thống.</a:t>
            </a:r>
          </a:p>
          <a:p>
            <a:pPr algn="l">
              <a:spcAft>
                <a:spcPts val="400"/>
              </a:spcAft>
            </a:pPr>
            <a:r>
              <a:rPr sz="1400" b="0">
                <a:solidFill>
                  <a:srgbClr val="555F6B"/>
                </a:solidFill>
              </a:rPr>
              <a:t>6. LiteLLM kiểm tra quota USD của user và phòng ban, rồi gọi Claude Haiku 5.5 trên Vertex AI qua PSC. Agent chạy 8 bước.</a:t>
            </a:r>
          </a:p>
          <a:p>
            <a:pPr algn="l">
              <a:spcAft>
                <a:spcPts val="400"/>
              </a:spcAft>
            </a:pPr>
            <a:r>
              <a:rPr sz="1400" b="0">
                <a:solidFill>
                  <a:srgbClr val="555F6B"/>
                </a:solidFill>
              </a:rPr>
              <a:t>7. Agent đề xuất 3 ticket. User xem người nhận và nội dung trên một màn hình duyệt chung, rồi bấm xác nhận.</a:t>
            </a:r>
          </a:p>
          <a:p>
            <a:pPr algn="l">
              <a:spcAft>
                <a:spcPts val="400"/>
              </a:spcAft>
            </a:pPr>
            <a:r>
              <a:rPr sz="1400" b="0">
                <a:solidFill>
                  <a:srgbClr val="555F6B"/>
                </a:solidFill>
              </a:rPr>
              <a:t>8. Worker tạo ticket bằng OAuth của user, ghi audit, và báo "xong" qua web và email (tối đa 10 phút).</a:t>
            </a:r>
          </a:p>
          <a:p>
            <a:pPr algn="l">
              <a:spcAft>
                <a:spcPts val="400"/>
              </a:spcAft>
            </a:pPr>
            <a:r>
              <a:rPr sz="1400" b="0">
                <a:solidFill>
                  <a:srgbClr val="555F6B"/>
                </a:solidFill>
              </a:rPr>
              <a:t>Nếu cần chạy code (cấp 3): worker tạo pod sandbox gVisor, chỉ mount thư mục workspace của user, chặn egress, giới hạn 2–10 phút, và hủy pod ngay sau khi chạy.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Model và routing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managed trên Vertex AI, không tự host GPU. Mặc định dùng một model rẻ; eval gate quyết định khi nào nâng cấp</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011680"/>
                <a:gridCol w="1188720"/>
                <a:gridCol w="1463040"/>
                <a:gridCol w="228600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Nâng lên khi eval &lt; 95%</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không reasoning (H6)</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không reasoning (H6)</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KB chung + workspace</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468880"/>
          </a:xfrm>
          <a:prstGeom prst="rect">
            <a:avLst/>
          </a:prstGeom>
          <a:noFill/>
        </p:spPr>
        <p:txBody>
          <a:bodyPr wrap="square">
            <a:spAutoFit/>
          </a:bodyPr>
          <a:lstStyle/>
          <a:p>
            <a:pPr algn="l">
              <a:spcAft>
                <a:spcPts val="400"/>
              </a:spcAft>
            </a:pPr>
            <a:r>
              <a:rPr sz="1200" b="1">
                <a:solidFill>
                  <a:srgbClr val="555F6B"/>
                </a:solidFill>
              </a:rPr>
              <a:t>Model tham chiếu theo H8: Claude Opus 5.5</a:t>
            </a:r>
          </a:p>
          <a:p>
            <a:pPr algn="l">
              <a:spcAft>
                <a:spcPts val="400"/>
              </a:spcAft>
            </a:pPr>
            <a:r>
              <a:rPr sz="1200" b="0">
                <a:solidFill>
                  <a:srgbClr val="555F6B"/>
                </a:solidFill>
              </a:rPr>
              <a:t>Golden set: 100 nhiệm vụ thật cho mỗi cấp, đã che PII</a:t>
            </a:r>
          </a:p>
          <a:p>
            <a:pPr algn="l">
              <a:spcAft>
                <a:spcPts val="400"/>
              </a:spcAft>
            </a:pPr>
            <a:r>
              <a:rPr sz="1200" b="0">
                <a:solidFill>
                  <a:srgbClr val="555F6B"/>
                </a:solidFill>
              </a:rPr>
              <a:t>Chấm điểm: Opus làm giám khảo (LLM-as-judge), người chấm lại 10%; cấp 3 kiểm tra thêm code có chạy đúng không</a:t>
            </a:r>
          </a:p>
          <a:p>
            <a:pPr algn="l">
              <a:spcAft>
                <a:spcPts val="400"/>
              </a:spcAft>
            </a:pPr>
            <a:r>
              <a:rPr sz="1200" b="0">
                <a:solidFill>
                  <a:srgbClr val="555F6B"/>
                </a:solidFill>
              </a:rPr>
              <a:t>Đạt khi điểm của Haiku ≥ 95% điểm của Opus. Chạy lại mỗi lần đổi model hoặc prompt (4 lần/tháng: 525 USD)</a:t>
            </a:r>
          </a:p>
        </p:txBody>
      </p:sp>
      <p:sp>
        <p:nvSpPr>
          <p:cNvPr id="9" name="TextBox 8"/>
          <p:cNvSpPr txBox="1"/>
          <p:nvPr/>
        </p:nvSpPr>
        <p:spPr>
          <a:xfrm>
            <a:off x="6217920" y="3840480"/>
            <a:ext cx="5486400" cy="2468880"/>
          </a:xfrm>
          <a:prstGeom prst="rect">
            <a:avLst/>
          </a:prstGeom>
          <a:noFill/>
        </p:spPr>
        <p:txBody>
          <a:bodyPr wrap="square">
            <a:spAutoFit/>
          </a:bodyPr>
          <a:lstStyle/>
          <a:p>
            <a:pPr algn="l">
              <a:spcAft>
                <a:spcPts val="400"/>
              </a:spcAft>
            </a:pPr>
            <a:r>
              <a:rPr sz="1200" b="1">
                <a:solidFill>
                  <a:srgbClr val="555F6B"/>
                </a:solidFill>
              </a:rPr>
              <a:t>Lý do chọn Haiku 5.5</a:t>
            </a:r>
          </a:p>
          <a:p>
            <a:pPr algn="l">
              <a:spcAft>
                <a:spcPts val="400"/>
              </a:spcAft>
            </a:pPr>
            <a:r>
              <a:rPr sz="1200" b="0">
                <a:solidFill>
                  <a:srgbClr val="555F6B"/>
                </a:solidFill>
              </a:rPr>
              <a:t>Giá 0,10 / 0,50 USD mỗi 1M token vào / ra, đọc cache 0,01; giá như nhau trên GCP, AWS và Azure</a:t>
            </a:r>
          </a:p>
          <a:p>
            <a:pPr algn="l">
              <a:spcAft>
                <a:spcPts val="400"/>
              </a:spcAft>
            </a:pPr>
            <a:r>
              <a:rPr sz="1200" b="0">
                <a:solidFill>
                  <a:srgbClr val="555F6B"/>
                </a:solidFill>
              </a:rPr>
              <a:t>AA Intelligence Index 43 (chế độ max), cao nhất trong nhóm cùng mức giá (GPT-6 Luna: 38)</a:t>
            </a:r>
          </a:p>
          <a:p>
            <a:pPr algn="l">
              <a:spcAft>
                <a:spcPts val="400"/>
              </a:spcAft>
            </a:pPr>
            <a:r>
              <a:rPr sz="1200" b="0">
                <a:solidFill>
                  <a:srgbClr val="555F6B"/>
                </a:solidFill>
              </a:rPr>
              <a:t>Tốc độ 182–238 token/giây. Cả 5 cấp chỉ tốn 947 USD/tháng (dùng Opus cho mọi cấp: 36.380)</a:t>
            </a:r>
          </a:p>
          <a:p>
            <a:pPr algn="l">
              <a:spcAft>
                <a:spcPts val="400"/>
              </a:spcAft>
            </a:pPr>
            <a:r>
              <a:rPr sz="1200" b="0">
                <a:solidFill>
                  <a:srgbClr val="555F6B"/>
                </a:solidFill>
              </a:rPr>
              <a:t>Rủi ro: chưa có số đo TTFT khi tắt reasoning → đo trong giai đoạn pilot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Lý do chọn công nghệ: so sánh có số liệu</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Giá niêm yết tại Singapore, đọc ngày 16/10/2026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1554480"/>
                <a:gridCol w="2651760"/>
                <a:gridCol w="3108960"/>
                <a:gridCol w="3931920"/>
              </a:tblGrid>
              <a:tr h="457200">
                <a:tc>
                  <a:txBody>
                    <a:bodyPr/>
                    <a:lstStyle/>
                    <a:p>
                      <a:r>
                        <a:rPr sz="1100" b="1">
                          <a:solidFill>
                            <a:srgbClr val="FFFFFF"/>
                          </a:solidFill>
                        </a:rPr>
                        <a:t>Quyết định</a:t>
                      </a:r>
                    </a:p>
                  </a:txBody>
                  <a:tcPr marL="45720" marR="45720" marT="18288" marB="18288">
                    <a:solidFill>
                      <a:srgbClr val="2E6FB7"/>
                    </a:solidFill>
                  </a:tcPr>
                </a:tc>
                <a:tc>
                  <a:txBody>
                    <a:bodyPr/>
                    <a:lstStyle/>
                    <a:p>
                      <a:r>
                        <a:rPr sz="1100" b="1">
                          <a:solidFill>
                            <a:srgbClr val="FFFFFF"/>
                          </a:solidFill>
                        </a:rPr>
                        <a:t>Chọn</a:t>
                      </a:r>
                    </a:p>
                  </a:txBody>
                  <a:tcPr marL="45720" marR="45720" marT="18288" marB="18288">
                    <a:solidFill>
                      <a:srgbClr val="2E6FB7"/>
                    </a:solidFill>
                  </a:tcPr>
                </a:tc>
                <a:tc>
                  <a:txBody>
                    <a:bodyPr/>
                    <a:lstStyle/>
                    <a:p>
                      <a:r>
                        <a:rPr sz="1100" b="1">
                          <a:solidFill>
                            <a:srgbClr val="FFFFFF"/>
                          </a:solidFill>
                        </a:rPr>
                        <a:t>Phương án so sánh</a:t>
                      </a:r>
                    </a:p>
                  </a:txBody>
                  <a:tcPr marL="45720" marR="45720" marT="18288" marB="18288">
                    <a:solidFill>
                      <a:srgbClr val="2E6FB7"/>
                    </a:solidFill>
                  </a:tcPr>
                </a:tc>
                <a:tc>
                  <a:txBody>
                    <a:bodyPr/>
                    <a:lstStyle/>
                    <a:p>
                      <a:r>
                        <a:rPr sz="1100" b="1">
                          <a:solidFill>
                            <a:srgbClr val="FFFFFF"/>
                          </a:solidFill>
                        </a:rPr>
                        <a:t>Lý do</a:t>
                      </a:r>
                    </a:p>
                  </a:txBody>
                  <a:tcPr marL="45720" marR="45720" marT="18288" marB="18288">
                    <a:solidFill>
                      <a:srgbClr val="2E6FB7"/>
                    </a:solidFill>
                  </a:tcPr>
                </a:tc>
              </a:tr>
              <a:tr h="457200">
                <a:tc>
                  <a:txBody>
                    <a:bodyPr/>
                    <a:lstStyle/>
                    <a:p>
                      <a:r>
                        <a:rPr sz="1100" b="0">
                          <a:solidFill>
                            <a:srgbClr val="555F6B"/>
                          </a:solidFill>
                        </a:rPr>
                        <a:t>Cloud chính</a:t>
                      </a:r>
                    </a:p>
                  </a:txBody>
                  <a:tcPr marL="45720" marR="45720" marT="18288" marB="18288">
                    <a:solidFill>
                      <a:srgbClr val="EEF3F8"/>
                    </a:solidFill>
                  </a:tcPr>
                </a:tc>
                <a:tc>
                  <a:txBody>
                    <a:bodyPr/>
                    <a:lstStyle/>
                    <a:p>
                      <a:r>
                        <a:rPr sz="1100" b="0">
                          <a:solidFill>
                            <a:srgbClr val="555F6B"/>
                          </a:solidFill>
                        </a:rPr>
                        <a:t>GCP: 6.821</a:t>
                      </a:r>
                    </a:p>
                  </a:txBody>
                  <a:tcPr marL="45720" marR="45720" marT="18288" marB="18288">
                    <a:solidFill>
                      <a:srgbClr val="EEF3F8"/>
                    </a:solidFill>
                  </a:tcPr>
                </a:tc>
                <a:tc>
                  <a:txBody>
                    <a:bodyPr/>
                    <a:lstStyle/>
                    <a:p>
                      <a:r>
                        <a:rPr sz="1100" b="0">
                          <a:solidFill>
                            <a:srgbClr val="555F6B"/>
                          </a:solidFill>
                        </a:rPr>
                        <a:t>AWS 8.643 · Azure 14.484</a:t>
                      </a:r>
                    </a:p>
                  </a:txBody>
                  <a:tcPr marL="45720" marR="45720" marT="18288" marB="18288">
                    <a:solidFill>
                      <a:srgbClr val="EEF3F8"/>
                    </a:solidFill>
                  </a:tcPr>
                </a:tc>
                <a:tc>
                  <a:txBody>
                    <a:bodyPr/>
                    <a:lstStyle/>
                    <a:p>
                      <a:r>
                        <a:rPr sz="1100" b="0">
                          <a:solidFill>
                            <a:srgbClr val="555F6B"/>
                          </a:solidFill>
                        </a:rPr>
                        <a:t>Rẻ nhất; chênh lệch chủ yếu ở guardrail (Model Armor: 0,10 USD/1M token)</a:t>
                      </a:r>
                    </a:p>
                  </a:txBody>
                  <a:tcPr marL="45720" marR="45720" marT="18288" marB="18288">
                    <a:solidFill>
                      <a:srgbClr val="EEF3F8"/>
                    </a:solidFill>
                  </a:tcPr>
                </a:tc>
              </a:tr>
              <a:tr h="457200">
                <a:tc>
                  <a:txBody>
                    <a:bodyPr/>
                    <a:lstStyle/>
                    <a:p>
                      <a:r>
                        <a:rPr sz="1100" b="0">
                          <a:solidFill>
                            <a:srgbClr val="555F6B"/>
                          </a:solidFill>
                        </a:rPr>
                        <a:t>LLM gateway</a:t>
                      </a:r>
                    </a:p>
                  </a:txBody>
                  <a:tcPr marL="45720" marR="45720" marT="18288" marB="18288">
                    <a:solidFill>
                      <a:srgbClr val="FFFFFF"/>
                    </a:solidFill>
                  </a:tcPr>
                </a:tc>
                <a:tc>
                  <a:txBody>
                    <a:bodyPr/>
                    <a:lstStyle/>
                    <a:p>
                      <a:r>
                        <a:rPr sz="1100" b="0">
                          <a:solidFill>
                            <a:srgbClr val="555F6B"/>
                          </a:solidFill>
                        </a:rPr>
                        <a:t>LiteLLM tự chạy: 0 license</a:t>
                      </a:r>
                    </a:p>
                  </a:txBody>
                  <a:tcPr marL="45720" marR="45720" marT="18288" marB="18288">
                    <a:solidFill>
                      <a:srgbClr val="FFFFFF"/>
                    </a:solidFill>
                  </a:tcPr>
                </a:tc>
                <a:tc>
                  <a:txBody>
                    <a:bodyPr/>
                    <a:lstStyle/>
                    <a:p>
                      <a:r>
                        <a:rPr sz="1100" b="0">
                          <a:solidFill>
                            <a:srgbClr val="555F6B"/>
                          </a:solidFill>
                        </a:rPr>
                        <a:t>Apigee ~1.595 · Azure APIM Std v2 ~700</a:t>
                      </a:r>
                    </a:p>
                  </a:txBody>
                  <a:tcPr marL="45720" marR="45720" marT="18288" marB="18288">
                    <a:solidFill>
                      <a:srgbClr val="FFFFFF"/>
                    </a:solidFill>
                  </a:tcPr>
                </a:tc>
                <a:tc>
                  <a:txBody>
                    <a:bodyPr/>
                    <a:lstStyle/>
                    <a:p>
                      <a:r>
                        <a:rPr sz="1100" b="0">
                          <a:solidFill>
                            <a:srgbClr val="555F6B"/>
                          </a:solidFill>
                        </a:rPr>
                        <a:t>Phương án duy nhất có quota theo USD cho từng user và phòng ban (H8)</a:t>
                      </a:r>
                    </a:p>
                  </a:txBody>
                  <a:tcPr marL="45720" marR="45720" marT="18288" marB="18288">
                    <a:solidFill>
                      <a:srgbClr val="FFFFFF"/>
                    </a:solidFill>
                  </a:tcPr>
                </a:tc>
              </a:tr>
              <a:tr h="457200">
                <a:tc>
                  <a:txBody>
                    <a:bodyPr/>
                    <a:lstStyle/>
                    <a:p>
                      <a:r>
                        <a:rPr sz="1100" b="0">
                          <a:solidFill>
                            <a:srgbClr val="555F6B"/>
                          </a:solidFill>
                        </a:rPr>
                        <a:t>Model</a:t>
                      </a:r>
                    </a:p>
                  </a:txBody>
                  <a:tcPr marL="45720" marR="45720" marT="18288" marB="18288">
                    <a:solidFill>
                      <a:srgbClr val="EEF3F8"/>
                    </a:solidFill>
                  </a:tcPr>
                </a:tc>
                <a:tc>
                  <a:txBody>
                    <a:bodyPr/>
                    <a:lstStyle/>
                    <a:p>
                      <a:r>
                        <a:rPr sz="1100" b="0">
                          <a:solidFill>
                            <a:srgbClr val="555F6B"/>
                          </a:solidFill>
                        </a:rPr>
                        <a:t>Haiku 5.5 cả 5 cấp: 947</a:t>
                      </a:r>
                    </a:p>
                  </a:txBody>
                  <a:tcPr marL="45720" marR="45720" marT="18288" marB="18288">
                    <a:solidFill>
                      <a:srgbClr val="EEF3F8"/>
                    </a:solidFill>
                  </a:tcPr>
                </a:tc>
                <a:tc>
                  <a:txBody>
                    <a:bodyPr/>
                    <a:lstStyle/>
                    <a:p>
                      <a:r>
                        <a:rPr sz="1100" b="0">
                          <a:solidFill>
                            <a:srgbClr val="555F6B"/>
                          </a:solidFill>
                        </a:rPr>
                        <a:t>Sonnet cấp 3–4: 5.652 · Opus: 36.380</a:t>
                      </a:r>
                    </a:p>
                  </a:txBody>
                  <a:tcPr marL="45720" marR="45720" marT="18288" marB="18288">
                    <a:solidFill>
                      <a:srgbClr val="EEF3F8"/>
                    </a:solidFill>
                  </a:tcPr>
                </a:tc>
                <a:tc>
                  <a:txBody>
                    <a:bodyPr/>
                    <a:lstStyle/>
                    <a:p>
                      <a:r>
                        <a:rPr sz="1100" b="0">
                          <a:solidFill>
                            <a:srgbClr val="555F6B"/>
                          </a:solidFill>
                        </a:rPr>
                        <a:t>Routing theo cấp + eval gate; chỉ nâng cấp khi eval không đạt</a:t>
                      </a:r>
                    </a:p>
                  </a:txBody>
                  <a:tcPr marL="45720" marR="45720" marT="18288" marB="18288">
                    <a:solidFill>
                      <a:srgbClr val="EEF3F8"/>
                    </a:solidFill>
                  </a:tcPr>
                </a:tc>
              </a:tr>
              <a:tr h="457200">
                <a:tc>
                  <a:txBody>
                    <a:bodyPr/>
                    <a:lstStyle/>
                    <a:p>
                      <a:r>
                        <a:rPr sz="1100" b="0">
                          <a:solidFill>
                            <a:srgbClr val="555F6B"/>
                          </a:solidFill>
                        </a:rPr>
                        <a:t>Vector DB</a:t>
                      </a:r>
                    </a:p>
                  </a:txBody>
                  <a:tcPr marL="45720" marR="45720" marT="18288" marB="18288">
                    <a:solidFill>
                      <a:srgbClr val="FFFFFF"/>
                    </a:solidFill>
                  </a:tcPr>
                </a:tc>
                <a:tc>
                  <a:txBody>
                    <a:bodyPr/>
                    <a:lstStyle/>
                    <a:p>
                      <a:r>
                        <a:rPr sz="1100" b="0">
                          <a:solidFill>
                            <a:srgbClr val="555F6B"/>
                          </a:solidFill>
                        </a:rPr>
                        <a:t>pgvector trong Cloud SQL: 0</a:t>
                      </a:r>
                    </a:p>
                  </a:txBody>
                  <a:tcPr marL="45720" marR="45720" marT="18288" marB="18288">
                    <a:solidFill>
                      <a:srgbClr val="FFFFFF"/>
                    </a:solidFill>
                  </a:tcPr>
                </a:tc>
                <a:tc>
                  <a:txBody>
                    <a:bodyPr/>
                    <a:lstStyle/>
                    <a:p>
                      <a:r>
                        <a:rPr sz="1100" b="0">
                          <a:solidFill>
                            <a:srgbClr val="555F6B"/>
                          </a:solidFill>
                        </a:rPr>
                        <a:t>Vertex Vector Search ~84 · OpenSearch ~413</a:t>
                      </a:r>
                    </a:p>
                  </a:txBody>
                  <a:tcPr marL="45720" marR="45720" marT="18288" marB="18288">
                    <a:solidFill>
                      <a:srgbClr val="FFFFFF"/>
                    </a:solidFill>
                  </a:tcPr>
                </a:tc>
                <a:tc>
                  <a:txBody>
                    <a:bodyPr/>
                    <a:lstStyle/>
                    <a:p>
                      <a:r>
                        <a:rPr sz="1100" b="0">
                          <a:solidFill>
                            <a:srgbClr val="555F6B"/>
                          </a:solidFill>
                        </a:rPr>
                        <a:t>Index nhỏ (KB chung + workspace); lọc ACL bằng SQL</a:t>
                      </a:r>
                    </a:p>
                  </a:txBody>
                  <a:tcPr marL="45720" marR="45720" marT="18288" marB="18288">
                    <a:solidFill>
                      <a:srgbClr val="FFFFFF"/>
                    </a:solidFill>
                  </a:tcPr>
                </a:tc>
              </a:tr>
              <a:tr h="457200">
                <a:tc>
                  <a:txBody>
                    <a:bodyPr/>
                    <a:lstStyle/>
                    <a:p>
                      <a:r>
                        <a:rPr sz="1100" b="0">
                          <a:solidFill>
                            <a:srgbClr val="555F6B"/>
                          </a:solidFill>
                        </a:rPr>
                        <a:t>Token vault</a:t>
                      </a:r>
                    </a:p>
                  </a:txBody>
                  <a:tcPr marL="45720" marR="45720" marT="18288" marB="18288">
                    <a:solidFill>
                      <a:srgbClr val="EEF3F8"/>
                    </a:solidFill>
                  </a:tcPr>
                </a:tc>
                <a:tc>
                  <a:txBody>
                    <a:bodyPr/>
                    <a:lstStyle/>
                    <a:p>
                      <a:r>
                        <a:rPr sz="1100" b="0">
                          <a:solidFill>
                            <a:srgbClr val="555F6B"/>
                          </a:solidFill>
                        </a:rPr>
                        <a:t>KMS envelope trong Postgres: ~4</a:t>
                      </a:r>
                    </a:p>
                  </a:txBody>
                  <a:tcPr marL="45720" marR="45720" marT="18288" marB="18288">
                    <a:solidFill>
                      <a:srgbClr val="EEF3F8"/>
                    </a:solidFill>
                  </a:tcPr>
                </a:tc>
                <a:tc>
                  <a:txBody>
                    <a:bodyPr/>
                    <a:lstStyle/>
                    <a:p>
                      <a:r>
                        <a:rPr sz="1100" b="0">
                          <a:solidFill>
                            <a:srgbClr val="555F6B"/>
                          </a:solidFill>
                        </a:rPr>
                        <a:t>Secret Manager 12.000 secret ~720</a:t>
                      </a:r>
                    </a:p>
                  </a:txBody>
                  <a:tcPr marL="45720" marR="45720" marT="18288" marB="18288">
                    <a:solidFill>
                      <a:srgbClr val="EEF3F8"/>
                    </a:solidFill>
                  </a:tcPr>
                </a:tc>
                <a:tc>
                  <a:txBody>
                    <a:bodyPr/>
                    <a:lstStyle/>
                    <a:p>
                      <a:r>
                        <a:rPr sz="1100" b="0">
                          <a:solidFill>
                            <a:srgbClr val="555F6B"/>
                          </a:solidFill>
                        </a:rPr>
                        <a:t>Vẫn mã hóa và có audit, nhưng rẻ hơn 180 lần</a:t>
                      </a:r>
                    </a:p>
                  </a:txBody>
                  <a:tcPr marL="45720" marR="45720" marT="18288" marB="18288">
                    <a:solidFill>
                      <a:srgbClr val="EEF3F8"/>
                    </a:solidFill>
                  </a:tcPr>
                </a:tc>
              </a:tr>
              <a:tr h="457200">
                <a:tc>
                  <a:txBody>
                    <a:bodyPr/>
                    <a:lstStyle/>
                    <a:p>
                      <a:r>
                        <a:rPr sz="1100" b="0">
                          <a:solidFill>
                            <a:srgbClr val="555F6B"/>
                          </a:solidFill>
                        </a:rPr>
                        <a:t>Sandbox</a:t>
                      </a:r>
                    </a:p>
                  </a:txBody>
                  <a:tcPr marL="45720" marR="45720" marT="18288" marB="18288">
                    <a:solidFill>
                      <a:srgbClr val="FFFFFF"/>
                    </a:solidFill>
                  </a:tcPr>
                </a:tc>
                <a:tc>
                  <a:txBody>
                    <a:bodyPr/>
                    <a:lstStyle/>
                    <a:p>
                      <a:r>
                        <a:rPr sz="1100" b="0">
                          <a:solidFill>
                            <a:srgbClr val="555F6B"/>
                          </a:solidFill>
                        </a:rPr>
                        <a:t>GKE Sandbox gVisor: 315</a:t>
                      </a:r>
                    </a:p>
                  </a:txBody>
                  <a:tcPr marL="45720" marR="45720" marT="18288" marB="18288">
                    <a:solidFill>
                      <a:srgbClr val="FFFFFF"/>
                    </a:solidFill>
                  </a:tcPr>
                </a:tc>
                <a:tc>
                  <a:txBody>
                    <a:bodyPr/>
                    <a:lstStyle/>
                    <a:p>
                      <a:r>
                        <a:rPr sz="1100" b="0">
                          <a:solidFill>
                            <a:srgbClr val="555F6B"/>
                          </a:solidFill>
                        </a:rPr>
                        <a:t>Agent Engine 483 · AgentCore 509</a:t>
                      </a:r>
                    </a:p>
                  </a:txBody>
                  <a:tcPr marL="45720" marR="45720" marT="18288" marB="18288">
                    <a:solidFill>
                      <a:srgbClr val="FFFFFF"/>
                    </a:solidFill>
                  </a:tcPr>
                </a:tc>
                <a:tc>
                  <a:txBody>
                    <a:bodyPr/>
                    <a:lstStyle/>
                    <a:p>
                      <a:r>
                        <a:rPr sz="1100" b="0">
                          <a:solidFill>
                            <a:srgbClr val="555F6B"/>
                          </a:solidFill>
                        </a:rPr>
                        <a:t>Có sẵn trên Autopilot; NetworkPolicy chặn egress</a:t>
                      </a:r>
                    </a:p>
                  </a:txBody>
                  <a:tcPr marL="45720" marR="45720" marT="18288" marB="18288">
                    <a:solidFill>
                      <a:srgbClr val="FFFFFF"/>
                    </a:solidFill>
                  </a:tcPr>
                </a:tc>
              </a:tr>
              <a:tr h="457200">
                <a:tc>
                  <a:txBody>
                    <a:bodyPr/>
                    <a:lstStyle/>
                    <a:p>
                      <a:r>
                        <a:rPr sz="1100" b="0">
                          <a:solidFill>
                            <a:srgbClr val="555F6B"/>
                          </a:solidFill>
                        </a:rPr>
                        <a:t>Guardrail</a:t>
                      </a:r>
                    </a:p>
                  </a:txBody>
                  <a:tcPr marL="45720" marR="45720" marT="18288" marB="18288">
                    <a:solidFill>
                      <a:srgbClr val="EEF3F8"/>
                    </a:solidFill>
                  </a:tcPr>
                </a:tc>
                <a:tc>
                  <a:txBody>
                    <a:bodyPr/>
                    <a:lstStyle/>
                    <a:p>
                      <a:r>
                        <a:rPr sz="1100" b="0">
                          <a:solidFill>
                            <a:srgbClr val="555F6B"/>
                          </a:solidFill>
                        </a:rPr>
                        <a:t>Chỉ quét text mới: 281</a:t>
                      </a:r>
                    </a:p>
                  </a:txBody>
                  <a:tcPr marL="45720" marR="45720" marT="18288" marB="18288">
                    <a:solidFill>
                      <a:srgbClr val="EEF3F8"/>
                    </a:solidFill>
                  </a:tcPr>
                </a:tc>
                <a:tc>
                  <a:txBody>
                    <a:bodyPr/>
                    <a:lstStyle/>
                    <a:p>
                      <a:r>
                        <a:rPr sz="1100" b="0">
                          <a:solidFill>
                            <a:srgbClr val="555F6B"/>
                          </a:solidFill>
                        </a:rPr>
                        <a:t>Quét toàn bộ token: 1.298</a:t>
                      </a:r>
                    </a:p>
                  </a:txBody>
                  <a:tcPr marL="45720" marR="45720" marT="18288" marB="18288">
                    <a:solidFill>
                      <a:srgbClr val="EEF3F8"/>
                    </a:solidFill>
                  </a:tcPr>
                </a:tc>
                <a:tc>
                  <a:txBody>
                    <a:bodyPr/>
                    <a:lstStyle/>
                    <a:p>
                      <a:r>
                        <a:rPr sz="1100" b="0">
                          <a:solidFill>
                            <a:srgbClr val="555F6B"/>
                          </a:solidFill>
                        </a:rPr>
                        <a:t>Mỗi đoạn text chỉ quét một lần, khi vào hệ thống</a:t>
                      </a:r>
                    </a:p>
                  </a:txBody>
                  <a:tcPr marL="45720" marR="45720" marT="18288" marB="18288">
                    <a:solidFill>
                      <a:srgbClr val="EEF3F8"/>
                    </a:solidFill>
                  </a:tcPr>
                </a:tc>
              </a:tr>
              <a:tr h="457200">
                <a:tc>
                  <a:txBody>
                    <a:bodyPr/>
                    <a:lstStyle/>
                    <a:p>
                      <a:r>
                        <a:rPr sz="1100" b="0">
                          <a:solidFill>
                            <a:srgbClr val="555F6B"/>
                          </a:solidFill>
                        </a:rPr>
                        <a:t>Connector</a:t>
                      </a:r>
                    </a:p>
                  </a:txBody>
                  <a:tcPr marL="45720" marR="45720" marT="18288" marB="18288">
                    <a:solidFill>
                      <a:srgbClr val="FFFFFF"/>
                    </a:solidFill>
                  </a:tcPr>
                </a:tc>
                <a:tc>
                  <a:txBody>
                    <a:bodyPr/>
                    <a:lstStyle/>
                    <a:p>
                      <a:r>
                        <a:rPr sz="1100" b="0">
                          <a:solidFill>
                            <a:srgbClr val="555F6B"/>
                          </a:solidFill>
                        </a:rPr>
                        <a:t>Hybrid: gọi API bằng OAuth của user</a:t>
                      </a:r>
                    </a:p>
                  </a:txBody>
                  <a:tcPr marL="45720" marR="45720" marT="18288" marB="18288">
                    <a:solidFill>
                      <a:srgbClr val="FFFFFF"/>
                    </a:solidFill>
                  </a:tcPr>
                </a:tc>
                <a:tc>
                  <a:txBody>
                    <a:bodyPr/>
                    <a:lstStyle/>
                    <a:p>
                      <a:r>
                        <a:rPr sz="1100" b="0">
                          <a:solidFill>
                            <a:srgbClr val="555F6B"/>
                          </a:solidFill>
                        </a:rPr>
                        <a:t>Crawl toàn bộ vào index</a:t>
                      </a:r>
                    </a:p>
                  </a:txBody>
                  <a:tcPr marL="45720" marR="45720" marT="18288" marB="18288">
                    <a:solidFill>
                      <a:srgbClr val="FFFFFF"/>
                    </a:solidFill>
                  </a:tcPr>
                </a:tc>
                <a:tc>
                  <a:txBody>
                    <a:bodyPr/>
                    <a:lstStyle/>
                    <a:p>
                      <a:r>
                        <a:rPr sz="1100" b="0">
                          <a:solidFill>
                            <a:srgbClr val="555F6B"/>
                          </a:solidFill>
                        </a:rPr>
                        <a:t>SaaS tự áp quyền gốc; không cần service account quyền rộng</a:t>
                      </a:r>
                    </a:p>
                  </a:txBody>
                  <a:tcPr marL="45720" marR="45720" marT="18288" marB="1828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Connector và phân quyền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11 connector: Gmail, Drive, Calendar, Docs/Sheets/Slides, Outlook, M365, OneDrive/SharePoint, Teams, Notion, Jira, Confluence</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463040"/>
            <a:ext cx="5577840" cy="4754880"/>
          </a:xfrm>
          <a:prstGeom prst="rect">
            <a:avLst/>
          </a:prstGeom>
          <a:noFill/>
        </p:spPr>
        <p:txBody>
          <a:bodyPr wrap="square">
            <a:spAutoFit/>
          </a:bodyPr>
          <a:lstStyle/>
          <a:p>
            <a:pPr algn="l">
              <a:spcAft>
                <a:spcPts val="400"/>
              </a:spcAft>
            </a:pPr>
            <a:r>
              <a:rPr sz="1200" b="1">
                <a:solidFill>
                  <a:srgbClr val="555F6B"/>
                </a:solidFill>
              </a:rPr>
              <a:t>Định danh</a:t>
            </a:r>
          </a:p>
          <a:p>
            <a:pPr algn="l">
              <a:spcAft>
                <a:spcPts val="400"/>
              </a:spcAft>
            </a:pPr>
            <a:r>
              <a:rPr sz="1200" b="0">
                <a:solidFill>
                  <a:srgbClr val="555F6B"/>
                </a:solidFill>
              </a:rPr>
              <a:t>SSO qua OIDC/SAML với IdP sẵn có của tập đoàn; IdP bật MFA; IAP + Workforce Identity Federation</a:t>
            </a:r>
          </a:p>
          <a:p>
            <a:pPr algn="l">
              <a:spcAft>
                <a:spcPts val="400"/>
              </a:spcAft>
            </a:pPr>
            <a:r>
              <a:rPr sz="1200" b="0">
                <a:solidFill>
                  <a:srgbClr val="555F6B"/>
                </a:solidFill>
              </a:rPr>
              <a:t>RBAC theo group trong token (ví dụ: chỉ nhóm IT dùng sandbox hạng mở rộng)</a:t>
            </a:r>
          </a:p>
          <a:p>
            <a:pPr algn="l">
              <a:spcAft>
                <a:spcPts val="400"/>
              </a:spcAft>
            </a:pPr>
            <a:r>
              <a:rPr sz="1200" b="1">
                <a:solidFill>
                  <a:srgbClr val="555F6B"/>
                </a:solidFill>
              </a:rPr>
              <a:t>OAuth ủy quyền với scope tối thiểu</a:t>
            </a:r>
          </a:p>
          <a:p>
            <a:pPr algn="l">
              <a:spcAft>
                <a:spcPts val="400"/>
              </a:spcAft>
            </a:pPr>
            <a:r>
              <a:rPr sz="1200" b="0">
                <a:solidFill>
                  <a:srgbClr val="555F6B"/>
                </a:solidFill>
              </a:rPr>
              <a:t>Mỗi user tự cấp quyền cho từng SaaS. Quyền đọc: gmail.readonly, Files.Read, read:jira-work…</a:t>
            </a:r>
          </a:p>
          <a:p>
            <a:pPr algn="l">
              <a:spcAft>
                <a:spcPts val="400"/>
              </a:spcAft>
            </a:pPr>
            <a:r>
              <a:rPr sz="1200" b="0">
                <a:solidFill>
                  <a:srgbClr val="555F6B"/>
                </a:solidFill>
              </a:rPr>
              <a:t>Chỉ xin quyền ghi khi cần (gmail.send, write:jira-work); không dùng service account quyền rộng</a:t>
            </a:r>
          </a:p>
          <a:p>
            <a:pPr algn="l">
              <a:spcAft>
                <a:spcPts val="400"/>
              </a:spcAft>
            </a:pPr>
            <a:r>
              <a:rPr sz="1200" b="0">
                <a:solidFill>
                  <a:srgbClr val="555F6B"/>
                </a:solidFill>
              </a:rPr>
              <a:t>Google OAuth app ở chế độ Internal, nên không cần đánh giá CASA</a:t>
            </a:r>
          </a:p>
          <a:p>
            <a:pPr algn="l">
              <a:spcAft>
                <a:spcPts val="400"/>
              </a:spcAft>
            </a:pPr>
            <a:r>
              <a:rPr sz="1200" b="1">
                <a:solidFill>
                  <a:srgbClr val="555F6B"/>
                </a:solidFill>
              </a:rPr>
              <a:t>Token vault</a:t>
            </a:r>
          </a:p>
          <a:p>
            <a:pPr algn="l">
              <a:spcAft>
                <a:spcPts val="400"/>
              </a:spcAft>
            </a:pPr>
            <a:r>
              <a:rPr sz="1200" b="0">
                <a:solidFill>
                  <a:srgbClr val="555F6B"/>
                </a:solidFill>
              </a:rPr>
              <a:t>Data key mã hóa refresh token; Cloud KMS mã hóa data key (envelope encryption)</a:t>
            </a:r>
          </a:p>
          <a:p>
            <a:pPr algn="l">
              <a:spcAft>
                <a:spcPts val="400"/>
              </a:spcAft>
            </a:pPr>
            <a:r>
              <a:rPr sz="1200" b="0">
                <a:solidFill>
                  <a:srgbClr val="555F6B"/>
                </a:solidFill>
              </a:rPr>
              <a:t>Chỉ service account của worker được giải mã, và chỉ cho user của request đang chạy. Mỗi lần giải mã đều ghi audit</a:t>
            </a:r>
          </a:p>
        </p:txBody>
      </p:sp>
      <p:sp>
        <p:nvSpPr>
          <p:cNvPr id="8" name="TextBox 7"/>
          <p:cNvSpPr txBox="1"/>
          <p:nvPr/>
        </p:nvSpPr>
        <p:spPr>
          <a:xfrm>
            <a:off x="6309360" y="1463040"/>
            <a:ext cx="5486400" cy="4754880"/>
          </a:xfrm>
          <a:prstGeom prst="rect">
            <a:avLst/>
          </a:prstGeom>
          <a:noFill/>
        </p:spPr>
        <p:txBody>
          <a:bodyPr wrap="square">
            <a:spAutoFit/>
          </a:bodyPr>
          <a:lstStyle/>
          <a:p>
            <a:pPr algn="l">
              <a:spcAft>
                <a:spcPts val="400"/>
              </a:spcAft>
            </a:pPr>
            <a:r>
              <a:rPr sz="1200" b="1">
                <a:solidFill>
                  <a:srgbClr val="555F6B"/>
                </a:solidFill>
              </a:rPr>
              <a:t>ACL tài liệu theo quyền gốc</a:t>
            </a:r>
          </a:p>
          <a:p>
            <a:pPr algn="l">
              <a:spcAft>
                <a:spcPts val="400"/>
              </a:spcAft>
            </a:pPr>
            <a:r>
              <a:rPr sz="1200" b="0">
                <a:solidFill>
                  <a:srgbClr val="555F6B"/>
                </a:solidFill>
              </a:rPr>
              <a:t>Dữ liệu cá nhân (mail, lịch, Jira): worker gọi search API của SaaS bằng token của user, nên SaaS tự áp quyền</a:t>
            </a:r>
          </a:p>
          <a:p>
            <a:pPr algn="l">
              <a:spcAft>
                <a:spcPts val="400"/>
              </a:spcAft>
            </a:pPr>
            <a:r>
              <a:rPr sz="1200" b="0">
                <a:solidFill>
                  <a:srgbClr val="555F6B"/>
                </a:solidFill>
              </a:rPr>
              <a:t>KB chung đã index: mỗi chunk có allowed_groups; mọi truy vấn pgvector đều lọc theo group của user (WHERE)</a:t>
            </a:r>
          </a:p>
          <a:p>
            <a:pPr algn="l">
              <a:spcAft>
                <a:spcPts val="400"/>
              </a:spcAft>
            </a:pPr>
            <a:r>
              <a:rPr sz="1200" b="0">
                <a:solidFill>
                  <a:srgbClr val="555F6B"/>
                </a:solidFill>
              </a:rPr>
              <a:t>Workspace: cột owner_id + Row-Level Security (RLS) của Postgres</a:t>
            </a:r>
          </a:p>
          <a:p>
            <a:pPr algn="l">
              <a:spcAft>
                <a:spcPts val="400"/>
              </a:spcAft>
            </a:pPr>
            <a:r>
              <a:rPr sz="1200" b="1">
                <a:solidFill>
                  <a:srgbClr val="555F6B"/>
                </a:solidFill>
              </a:rPr>
              <a:t>Rate limit đã kiểm tra</a:t>
            </a:r>
          </a:p>
          <a:p>
            <a:pPr algn="l">
              <a:spcAft>
                <a:spcPts val="400"/>
              </a:spcAft>
            </a:pPr>
            <a:r>
              <a:rPr sz="1200" b="0">
                <a:solidFill>
                  <a:srgbClr val="555F6B"/>
                </a:solidFill>
              </a:rPr>
              <a:t>Jira/Confluence 65.000 điểm/giờ/app · Notion 180 req/phút · Teams 1 req/s/user</a:t>
            </a:r>
          </a:p>
          <a:p>
            <a:pPr algn="l">
              <a:spcAft>
                <a:spcPts val="400"/>
              </a:spcAft>
            </a:pPr>
            <a:r>
              <a:rPr sz="1200" b="0">
                <a:solidFill>
                  <a:srgbClr val="555F6B"/>
                </a:solidFill>
              </a:rPr>
              <a:t>Worker dùng hàng đợi và backoff; ưu tiên webhook thay cho polling</a:t>
            </a:r>
          </a:p>
          <a:p>
            <a:pPr algn="l">
              <a:spcAft>
                <a:spcPts val="400"/>
              </a:spcAft>
            </a:pPr>
            <a:r>
              <a:rPr sz="1200" b="1">
                <a:solidFill>
                  <a:srgbClr val="555F6B"/>
                </a:solidFill>
              </a:rPr>
              <a:t>Chi phí</a:t>
            </a:r>
          </a:p>
          <a:p>
            <a:pPr algn="l">
              <a:spcAft>
                <a:spcPts val="400"/>
              </a:spcAft>
            </a:pPr>
            <a:r>
              <a:rPr sz="1200" b="0">
                <a:solidFill>
                  <a:srgbClr val="555F6B"/>
                </a:solidFill>
              </a:rPr>
              <a:t>API của 11 SaaS không tính phí theo lượt gọi; tập đoàn đã có license SaaS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Workspace riêng và sandbox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669280" cy="2514600"/>
        </p:xfrm>
        <a:graphic>
          <a:graphicData uri="http://schemas.openxmlformats.org/drawingml/2006/table">
            <a:tbl>
              <a:tblPr firstRow="1" bandRow="1">
                <a:tableStyleId>{5C22544A-7EE6-4342-B048-85BDC9FD1C3A}</a:tableStyleId>
              </a:tblPr>
              <a:tblGrid>
                <a:gridCol w="1188720"/>
                <a:gridCol w="4480560"/>
              </a:tblGrid>
              <a:tr h="502920">
                <a:tc>
                  <a:txBody>
                    <a:bodyPr/>
                    <a:lstStyle/>
                    <a:p>
                      <a:r>
                        <a:rPr sz="1100" b="1">
                          <a:solidFill>
                            <a:srgbClr val="FFFFFF"/>
                          </a:solidFill>
                        </a:rPr>
                        <a:t>Lớp</a:t>
                      </a:r>
                    </a:p>
                  </a:txBody>
                  <a:tcPr marL="45720" marR="45720" marT="18288" marB="18288">
                    <a:solidFill>
                      <a:srgbClr val="2E6FB7"/>
                    </a:solidFill>
                  </a:tcPr>
                </a:tc>
                <a:tc>
                  <a:txBody>
                    <a:bodyPr/>
                    <a:lstStyle/>
                    <a:p>
                      <a:r>
                        <a:rPr sz="1100" b="1">
                          <a:solidFill>
                            <a:srgbClr val="FFFFFF"/>
                          </a:solidFill>
                        </a:rPr>
                        <a:t>Cơ chế</a:t>
                      </a:r>
                    </a:p>
                  </a:txBody>
                  <a:tcPr marL="45720" marR="45720" marT="18288" marB="18288">
                    <a:solidFill>
                      <a:srgbClr val="2E6FB7"/>
                    </a:solidFill>
                  </a:tcPr>
                </a:tc>
              </a:tr>
              <a:tr h="502920">
                <a:tc>
                  <a:txBody>
                    <a:bodyPr/>
                    <a:lstStyle/>
                    <a:p>
                      <a:r>
                        <a:rPr sz="1100" b="0">
                          <a:solidFill>
                            <a:srgbClr val="555F6B"/>
                          </a:solidFill>
                        </a:rPr>
                        <a:t>Lưu trữ</a:t>
                      </a:r>
                    </a:p>
                  </a:txBody>
                  <a:tcPr marL="45720" marR="45720" marT="18288" marB="18288">
                    <a:solidFill>
                      <a:srgbClr val="EEF3F8"/>
                    </a:solidFill>
                  </a:tcPr>
                </a:tc>
                <a:tc>
                  <a:txBody>
                    <a:bodyPr/>
                    <a:lstStyle/>
                    <a:p>
                      <a:r>
                        <a:rPr sz="1100" b="0">
                          <a:solidFill>
                            <a:srgbClr val="555F6B"/>
                          </a:solidFill>
                        </a:rPr>
                        <a:t>Bucket GCS chia prefix theo user_id; IAM chỉ cấp quyền cho service account của app; app áp quota 10 GB/user</a:t>
                      </a:r>
                    </a:p>
                  </a:txBody>
                  <a:tcPr marL="45720" marR="45720" marT="18288" marB="18288">
                    <a:solidFill>
                      <a:srgbClr val="EEF3F8"/>
                    </a:solidFill>
                  </a:tcPr>
                </a:tc>
              </a:tr>
              <a:tr h="502920">
                <a:tc>
                  <a:txBody>
                    <a:bodyPr/>
                    <a:lstStyle/>
                    <a:p>
                      <a:r>
                        <a:rPr sz="1100" b="0">
                          <a:solidFill>
                            <a:srgbClr val="555F6B"/>
                          </a:solidFill>
                        </a:rPr>
                        <a:t>Database</a:t>
                      </a:r>
                    </a:p>
                  </a:txBody>
                  <a:tcPr marL="45720" marR="45720" marT="18288" marB="18288">
                    <a:solidFill>
                      <a:srgbClr val="FFFFFF"/>
                    </a:solidFill>
                  </a:tcPr>
                </a:tc>
                <a:tc>
                  <a:txBody>
                    <a:bodyPr/>
                    <a:lstStyle/>
                    <a:p>
                      <a:r>
                        <a:rPr sz="1100" b="0">
                          <a:solidFill>
                            <a:srgbClr val="555F6B"/>
                          </a:solidFill>
                        </a:rPr>
                        <a:t>RLS theo owner_id cho chat, bộ nhớ dài hạn và metadata của file</a:t>
                      </a:r>
                    </a:p>
                  </a:txBody>
                  <a:tcPr marL="45720" marR="45720" marT="18288" marB="18288">
                    <a:solidFill>
                      <a:srgbClr val="FFFFFF"/>
                    </a:solidFill>
                  </a:tcPr>
                </a:tc>
              </a:tr>
              <a:tr h="502920">
                <a:tc>
                  <a:txBody>
                    <a:bodyPr/>
                    <a:lstStyle/>
                    <a:p>
                      <a:r>
                        <a:rPr sz="1100" b="0">
                          <a:solidFill>
                            <a:srgbClr val="555F6B"/>
                          </a:solidFill>
                        </a:rPr>
                        <a:t>Tìm kiếm</a:t>
                      </a:r>
                    </a:p>
                  </a:txBody>
                  <a:tcPr marL="45720" marR="45720" marT="18288" marB="18288">
                    <a:solidFill>
                      <a:srgbClr val="EEF3F8"/>
                    </a:solidFill>
                  </a:tcPr>
                </a:tc>
                <a:tc>
                  <a:txBody>
                    <a:bodyPr/>
                    <a:lstStyle/>
                    <a:p>
                      <a:r>
                        <a:rPr sz="1100" b="0">
                          <a:solidFill>
                            <a:srgbClr val="555F6B"/>
                          </a:solidFill>
                        </a:rPr>
                        <a:t>Mọi truy vấn pgvector bắt buộc lọc theo owner_id hoặc allowed_groups</a:t>
                      </a:r>
                    </a:p>
                  </a:txBody>
                  <a:tcPr marL="45720" marR="45720" marT="18288" marB="18288">
                    <a:solidFill>
                      <a:srgbClr val="EEF3F8"/>
                    </a:solidFill>
                  </a:tcPr>
                </a:tc>
              </a:tr>
              <a:tr h="502920">
                <a:tc>
                  <a:txBody>
                    <a:bodyPr/>
                    <a:lstStyle/>
                    <a:p>
                      <a:r>
                        <a:rPr sz="1100" b="0">
                          <a:solidFill>
                            <a:srgbClr val="555F6B"/>
                          </a:solidFill>
                        </a:rPr>
                        <a:t>Connector</a:t>
                      </a:r>
                    </a:p>
                  </a:txBody>
                  <a:tcPr marL="45720" marR="45720" marT="18288" marB="18288">
                    <a:solidFill>
                      <a:srgbClr val="FFFFFF"/>
                    </a:solidFill>
                  </a:tcPr>
                </a:tc>
                <a:tc>
                  <a:txBody>
                    <a:bodyPr/>
                    <a:lstStyle/>
                    <a:p>
                      <a:r>
                        <a:rPr sz="1100" b="0">
                          <a:solidFill>
                            <a:srgbClr val="555F6B"/>
                          </a:solidFill>
                        </a:rPr>
                        <a:t>Dùng token OAuth của chính user, nên không thấy dữ liệu của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846320"/>
          </a:xfrm>
          <a:prstGeom prst="rect">
            <a:avLst/>
          </a:prstGeom>
          <a:noFill/>
        </p:spPr>
        <p:txBody>
          <a:bodyPr wrap="square">
            <a:spAutoFit/>
          </a:bodyPr>
          <a:lstStyle/>
          <a:p>
            <a:pPr algn="l">
              <a:spcAft>
                <a:spcPts val="400"/>
              </a:spcAft>
            </a:pPr>
            <a:r>
              <a:rPr sz="1200" b="1">
                <a:solidFill>
                  <a:srgbClr val="555F6B"/>
                </a:solidFill>
              </a:rPr>
              <a:t>Sandbox chạy code của agent</a:t>
            </a:r>
          </a:p>
          <a:p>
            <a:pPr algn="l">
              <a:spcAft>
                <a:spcPts val="400"/>
              </a:spcAft>
            </a:pPr>
            <a:r>
              <a:rPr sz="1200" b="0">
                <a:solidFill>
                  <a:srgbClr val="555F6B"/>
                </a:solidFill>
              </a:rPr>
              <a:t>GKE Sandbox (gVisor, kernel chạy ở userspace): mỗi lượt một pod, hủy pod sau khi chạy</a:t>
            </a:r>
          </a:p>
          <a:p>
            <a:pPr algn="l">
              <a:spcAft>
                <a:spcPts val="400"/>
              </a:spcAft>
            </a:pPr>
            <a:r>
              <a:rPr sz="1200" b="0">
                <a:solidFill>
                  <a:srgbClr val="555F6B"/>
                </a:solidFill>
              </a:rPr>
              <a:t>Hạng mặc định: 1 vCPU, 2 GB, 2 phút. Hạng mở rộng: 2 vCPU, 4 GB, 10 phút. Đĩa tạm 5 GB</a:t>
            </a:r>
          </a:p>
          <a:p>
            <a:pPr algn="l">
              <a:spcAft>
                <a:spcPts val="400"/>
              </a:spcAft>
            </a:pPr>
            <a:r>
              <a:rPr sz="1200" b="0">
                <a:solidFill>
                  <a:srgbClr val="555F6B"/>
                </a:solidFill>
              </a:rPr>
              <a:t>Chỉ mount thư mục workspace của đúng user; đọc/ghi qua sidecar dùng token ngắn hạn</a:t>
            </a:r>
          </a:p>
          <a:p>
            <a:pPr algn="l">
              <a:spcAft>
                <a:spcPts val="400"/>
              </a:spcAft>
            </a:pPr>
            <a:r>
              <a:rPr sz="1200" b="0">
                <a:solidFill>
                  <a:srgbClr val="555F6B"/>
                </a:solidFill>
              </a:rPr>
              <a:t>NetworkPolicy chặn mọi egress: không ra internet, không vào mạng nội bộ</a:t>
            </a:r>
          </a:p>
          <a:p>
            <a:pPr algn="l">
              <a:spcAft>
                <a:spcPts val="400"/>
              </a:spcAft>
            </a:pPr>
            <a:r>
              <a:rPr sz="1200" b="0">
                <a:solidFill>
                  <a:srgbClr val="555F6B"/>
                </a:solidFill>
              </a:rPr>
              <a:t>Chặn metadata server (Workload Identity với service account không có quyền); node không có quyền IAM</a:t>
            </a:r>
          </a:p>
          <a:p>
            <a:pPr algn="l">
              <a:spcAft>
                <a:spcPts val="400"/>
              </a:spcAft>
            </a:pPr>
            <a:r>
              <a:rPr sz="1200" b="0">
                <a:solidFill>
                  <a:srgbClr val="555F6B"/>
                </a:solidFill>
              </a:rPr>
              <a:t>Image dựng sẵn (pandas, openpyxl, python-docx/pptx, matplotlib, Node); không cài thư viện lúc chạy</a:t>
            </a:r>
          </a:p>
          <a:p>
            <a:pPr algn="l">
              <a:spcAft>
                <a:spcPts val="400"/>
              </a:spcAft>
            </a:pPr>
            <a:r>
              <a:rPr sz="1200" b="1">
                <a:solidFill>
                  <a:srgbClr val="555F6B"/>
                </a:solidFill>
              </a:rPr>
              <a:t>Nếu code cố thoát ra node?</a:t>
            </a:r>
          </a:p>
          <a:p>
            <a:pPr algn="l">
              <a:spcAft>
                <a:spcPts val="400"/>
              </a:spcAft>
            </a:pPr>
            <a:r>
              <a:rPr sz="1200" b="0">
                <a:solidFill>
                  <a:srgbClr val="555F6B"/>
                </a:solidFill>
              </a:rPr>
              <a:t>Mọi syscall đi qua gVisor. Pod không chạy privileged, không mount hostPath, và bị kill khi hết thời gian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AI governance và data governance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Hệ thống xử lý thế nào?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846320"/>
          </a:xfrm>
          <a:prstGeom prst="rect">
            <a:avLst/>
          </a:prstGeom>
          <a:noFill/>
        </p:spPr>
        <p:txBody>
          <a:bodyPr wrap="square">
            <a:spAutoFit/>
          </a:bodyPr>
          <a:lstStyle/>
          <a:p>
            <a:pPr algn="l">
              <a:spcAft>
                <a:spcPts val="400"/>
              </a:spcAft>
            </a:pPr>
            <a:r>
              <a:rPr sz="1200" b="1">
                <a:solidFill>
                  <a:srgbClr val="555F6B"/>
                </a:solidFill>
              </a:rPr>
              <a:t>Chống prompt injection</a:t>
            </a:r>
          </a:p>
          <a:p>
            <a:pPr algn="l">
              <a:spcAft>
                <a:spcPts val="400"/>
              </a:spcAft>
            </a:pPr>
            <a:r>
              <a:rPr sz="1200" b="0">
                <a:solidFill>
                  <a:srgbClr val="555F6B"/>
                </a:solidFill>
              </a:rPr>
              <a:t>Model Armor quét tin nhắn mới, nội dung từ connector và output cuối (281 USD/tháng)</a:t>
            </a:r>
          </a:p>
          <a:p>
            <a:pPr algn="l">
              <a:spcAft>
                <a:spcPts val="400"/>
              </a:spcAft>
            </a:pPr>
            <a:r>
              <a:rPr sz="1200" b="0">
                <a:solidFill>
                  <a:srgbClr val="555F6B"/>
                </a:solidFill>
              </a:rPr>
              <a:t>Nội dung từ connector nằm trong khối "dữ liệu không tin cậy"; model không coi đó là chỉ dẫn</a:t>
            </a:r>
          </a:p>
          <a:p>
            <a:pPr algn="l">
              <a:spcAft>
                <a:spcPts val="400"/>
              </a:spcAft>
            </a:pPr>
            <a:r>
              <a:rPr sz="1200" b="0">
                <a:solidFill>
                  <a:srgbClr val="555F6B"/>
                </a:solidFill>
              </a:rPr>
              <a:t>Chỉ yêu cầu của user mới kích hoạt được hành động ghi; nội dung từ connector thì không</a:t>
            </a:r>
          </a:p>
          <a:p>
            <a:pPr algn="l">
              <a:spcAft>
                <a:spcPts val="400"/>
              </a:spcAft>
            </a:pPr>
            <a:r>
              <a:rPr sz="1200" b="1">
                <a:solidFill>
                  <a:srgbClr val="555F6B"/>
                </a:solidFill>
              </a:rPr>
              <a:t>Xác nhận trước hành động ghi</a:t>
            </a:r>
          </a:p>
          <a:p>
            <a:pPr algn="l">
              <a:spcAft>
                <a:spcPts val="400"/>
              </a:spcAft>
            </a:pPr>
            <a:r>
              <a:rPr sz="1200" b="0">
                <a:solidFill>
                  <a:srgbClr val="555F6B"/>
                </a:solidFill>
              </a:rPr>
              <a:t>Rủi ro cao (gửi ra ngoài tập đoàn, xóa, chia sẻ quyền): user xác nhận từng hành động</a:t>
            </a:r>
          </a:p>
          <a:p>
            <a:pPr algn="l">
              <a:spcAft>
                <a:spcPts val="400"/>
              </a:spcAft>
            </a:pPr>
            <a:r>
              <a:rPr sz="1200" b="0">
                <a:solidFill>
                  <a:srgbClr val="555F6B"/>
                </a:solidFill>
              </a:rPr>
              <a:t>Rủi ro thấp (ticket, trang, email nháp): user duyệt cả nhóm một lần; màn hình hiện người nhận, nội dung và tệp đính kèm</a:t>
            </a:r>
          </a:p>
          <a:p>
            <a:pPr algn="l">
              <a:spcAft>
                <a:spcPts val="400"/>
              </a:spcAft>
            </a:pPr>
            <a:r>
              <a:rPr sz="1200" b="0">
                <a:solidFill>
                  <a:srgbClr val="555F6B"/>
                </a:solidFill>
              </a:rPr>
              <a:t>Sandbox chặn egress, nên code không gửi được dữ liệu ra ngoài</a:t>
            </a:r>
          </a:p>
          <a:p>
            <a:pPr algn="l">
              <a:spcAft>
                <a:spcPts val="400"/>
              </a:spcAft>
            </a:pPr>
            <a:r>
              <a:rPr sz="1200" b="1">
                <a:solidFill>
                  <a:srgbClr val="555F6B"/>
                </a:solidFill>
              </a:rPr>
              <a:t>Eval gate</a:t>
            </a:r>
          </a:p>
          <a:p>
            <a:pPr algn="l">
              <a:spcAft>
                <a:spcPts val="400"/>
              </a:spcAft>
            </a:pPr>
            <a:r>
              <a:rPr sz="1200" b="0">
                <a:solidFill>
                  <a:srgbClr val="555F6B"/>
                </a:solidFill>
              </a:rPr>
              <a:t>Mỗi lần đổi model hoặc prompt, chạy golden set trên staging. Điểm &lt; 95% thì không deploy</a:t>
            </a:r>
          </a:p>
        </p:txBody>
      </p:sp>
      <p:sp>
        <p:nvSpPr>
          <p:cNvPr id="8" name="TextBox 7"/>
          <p:cNvSpPr txBox="1"/>
          <p:nvPr/>
        </p:nvSpPr>
        <p:spPr>
          <a:xfrm>
            <a:off x="6309360" y="1371600"/>
            <a:ext cx="5486400" cy="4846320"/>
          </a:xfrm>
          <a:prstGeom prst="rect">
            <a:avLst/>
          </a:prstGeom>
          <a:noFill/>
        </p:spPr>
        <p:txBody>
          <a:bodyPr wrap="square">
            <a:spAutoFit/>
          </a:bodyPr>
          <a:lstStyle/>
          <a:p>
            <a:pPr algn="l">
              <a:spcAft>
                <a:spcPts val="400"/>
              </a:spcAft>
            </a:pPr>
            <a:r>
              <a:rPr sz="1200" b="1">
                <a:solidFill>
                  <a:srgbClr val="555F6B"/>
                </a:solidFill>
              </a:rPr>
              <a:t>Data governance</a:t>
            </a:r>
          </a:p>
          <a:p>
            <a:pPr algn="l">
              <a:spcAft>
                <a:spcPts val="400"/>
              </a:spcAft>
            </a:pPr>
            <a:r>
              <a:rPr sz="1200" b="0">
                <a:solidFill>
                  <a:srgbClr val="555F6B"/>
                </a:solidFill>
              </a:rPr>
              <a:t>Mã hóa khi lưu (Google-managed key; riêng token dùng KMS) và khi truyền (TLS, PSC)</a:t>
            </a:r>
          </a:p>
          <a:p>
            <a:pPr algn="l">
              <a:spcAft>
                <a:spcPts val="400"/>
              </a:spcAft>
            </a:pPr>
            <a:r>
              <a:rPr sz="1200" b="0">
                <a:solidFill>
                  <a:srgbClr val="555F6B"/>
                </a:solidFill>
              </a:rPr>
              <a:t>Sensitive Data Protection (đi kèm Model Armor) che PII</a:t>
            </a:r>
          </a:p>
          <a:p>
            <a:pPr algn="l">
              <a:spcAft>
                <a:spcPts val="400"/>
              </a:spcAft>
            </a:pPr>
            <a:r>
              <a:rPr sz="1200" b="0">
                <a:solidFill>
                  <a:srgbClr val="555F6B"/>
                </a:solidFill>
              </a:rPr>
              <a:t>Phân loại dữ liệu theo nhãn nguồn (HR, pháp chế: nhạy cảm cao)</a:t>
            </a:r>
          </a:p>
          <a:p>
            <a:pPr algn="l">
              <a:spcAft>
                <a:spcPts val="400"/>
              </a:spcAft>
            </a:pPr>
            <a:r>
              <a:rPr sz="1200" b="0">
                <a:solidFill>
                  <a:srgbClr val="555F6B"/>
                </a:solidFill>
              </a:rPr>
              <a:t>Thời hạn lưu: audit 12 tháng (truy vấn được 30 ngày, sau đó archive); chat 12 tháng; file tạm 30 ngày; prompt log 30 ngày, đã che PII</a:t>
            </a:r>
          </a:p>
          <a:p>
            <a:pPr algn="l">
              <a:spcAft>
                <a:spcPts val="400"/>
              </a:spcAft>
            </a:pPr>
            <a:r>
              <a:rPr sz="1200" b="0">
                <a:solidFill>
                  <a:srgbClr val="555F6B"/>
                </a:solidFill>
              </a:rPr>
              <a:t>Vertex AI không dùng dữ liệu để huấn luyện; tắt durable cache để không lưu dữ liệu (zero-retention)</a:t>
            </a:r>
          </a:p>
          <a:p>
            <a:pPr algn="l">
              <a:spcAft>
                <a:spcPts val="400"/>
              </a:spcAft>
            </a:pPr>
            <a:r>
              <a:rPr sz="1200" b="1">
                <a:solidFill>
                  <a:srgbClr val="555F6B"/>
                </a:solidFill>
              </a:rPr>
              <a:t>Audit log</a:t>
            </a:r>
          </a:p>
          <a:p>
            <a:pPr algn="l">
              <a:spcAft>
                <a:spcPts val="400"/>
              </a:spcAft>
            </a:pPr>
            <a:r>
              <a:rPr sz="1200" b="0">
                <a:solidFill>
                  <a:srgbClr val="555F6B"/>
                </a:solidFill>
              </a:rPr>
              <a:t>Ghi ai, lúc nào, tool và connector nào, hành động ghi nào đã được xác nhận. Chỉ nhóm bảo mật được đọc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HA, backup và DR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Mục tiêu: 99,5% trong giờ hành chính · RTO 4 giờ · RPO 1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6400800" cy="3072384"/>
        </p:xfrm>
        <a:graphic>
          <a:graphicData uri="http://schemas.openxmlformats.org/drawingml/2006/table">
            <a:tbl>
              <a:tblPr firstRow="1" bandRow="1">
                <a:tableStyleId>{5C22544A-7EE6-4342-B048-85BDC9FD1C3A}</a:tableStyleId>
              </a:tblPr>
              <a:tblGrid>
                <a:gridCol w="1737360"/>
                <a:gridCol w="2286000"/>
                <a:gridCol w="2377440"/>
              </a:tblGrid>
              <a:tr h="384048">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HA</a:t>
                      </a:r>
                    </a:p>
                  </a:txBody>
                  <a:tcPr marL="45720" marR="45720" marT="18288" marB="18288">
                    <a:solidFill>
                      <a:srgbClr val="2E6FB7"/>
                    </a:solidFill>
                  </a:tcPr>
                </a:tc>
                <a:tc>
                  <a:txBody>
                    <a:bodyPr/>
                    <a:lstStyle/>
                    <a:p>
                      <a:r>
                        <a:rPr sz="1100" b="1">
                          <a:solidFill>
                            <a:srgbClr val="FFFFFF"/>
                          </a:solidFill>
                        </a:rPr>
                        <a:t>Backup / DR</a:t>
                      </a:r>
                    </a:p>
                  </a:txBody>
                  <a:tcPr marL="45720" marR="45720" marT="18288" marB="18288">
                    <a:solidFill>
                      <a:srgbClr val="2E6FB7"/>
                    </a:solidFill>
                  </a:tcPr>
                </a:tc>
              </a:tr>
              <a:tr h="384048">
                <a:tc>
                  <a:txBody>
                    <a:bodyPr/>
                    <a:lstStyle/>
                    <a:p>
                      <a:r>
                        <a:rPr sz="1100" b="0">
                          <a:solidFill>
                            <a:srgbClr val="555F6B"/>
                          </a:solidFill>
                        </a:rPr>
                        <a:t>LB, Cloud Armor</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384048">
                <a:tc>
                  <a:txBody>
                    <a:bodyPr/>
                    <a:lstStyle/>
                    <a:p>
                      <a:r>
                        <a:rPr sz="1100" b="0">
                          <a:solidFill>
                            <a:srgbClr val="555F6B"/>
                          </a:solidFill>
                        </a:rPr>
                        <a:t>GKE Autopilot</a:t>
                      </a:r>
                    </a:p>
                  </a:txBody>
                  <a:tcPr marL="45720" marR="45720" marT="18288" marB="18288">
                    <a:solidFill>
                      <a:srgbClr val="FFFFFF"/>
                    </a:solidFill>
                  </a:tcPr>
                </a:tc>
                <a:tc>
                  <a:txBody>
                    <a:bodyPr/>
                    <a:lstStyle/>
                    <a:p>
                      <a:r>
                        <a:rPr sz="1100" b="0">
                          <a:solidFill>
                            <a:srgbClr val="555F6B"/>
                          </a:solidFill>
                        </a:rPr>
                        <a:t>Regional; mỗi pod 2 replica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384048">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replica,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384048">
                <a:tc>
                  <a:txBody>
                    <a:bodyPr/>
                    <a:lstStyle/>
                    <a:p>
                      <a:r>
                        <a:rPr sz="1100" b="0">
                          <a:solidFill>
                            <a:srgbClr val="555F6B"/>
                          </a:solidFill>
                        </a:rPr>
                        <a:t>Cloud SQL</a:t>
                      </a:r>
                    </a:p>
                  </a:txBody>
                  <a:tcPr marL="45720" marR="45720" marT="18288" marB="18288">
                    <a:solidFill>
                      <a:srgbClr val="FFFFFF"/>
                    </a:solidFill>
                  </a:tcPr>
                </a:tc>
                <a:tc>
                  <a:txBody>
                    <a:bodyPr/>
                    <a:lstStyle/>
                    <a:p>
                      <a:r>
                        <a:rPr sz="1100" b="0">
                          <a:solidFill>
                            <a:srgbClr val="555F6B"/>
                          </a:solidFill>
                        </a:rPr>
                        <a:t>Standby ở zone khác, failover tự động</a:t>
                      </a:r>
                    </a:p>
                  </a:txBody>
                  <a:tcPr marL="45720" marR="45720" marT="18288" marB="18288">
                    <a:solidFill>
                      <a:srgbClr val="FFFFFF"/>
                    </a:solidFill>
                  </a:tcPr>
                </a:tc>
                <a:tc>
                  <a:txBody>
                    <a:bodyPr/>
                    <a:lstStyle/>
                    <a:p>
                      <a:r>
                        <a:rPr sz="1100" b="0">
                          <a:solidFill>
                            <a:srgbClr val="555F6B"/>
                          </a:solidFill>
                        </a:rPr>
                        <a:t>Backup hằng ngày + PITR; bản sao ở Jakarta</a:t>
                      </a:r>
                    </a:p>
                  </a:txBody>
                  <a:tcPr marL="45720" marR="45720" marT="18288" marB="18288">
                    <a:solidFill>
                      <a:srgbClr val="FFFFFF"/>
                    </a:solidFill>
                  </a:tcPr>
                </a:tc>
              </a:tr>
              <a:tr h="384048">
                <a:tc>
                  <a:txBody>
                    <a:bodyPr/>
                    <a:lstStyle/>
                    <a:p>
                      <a:r>
                        <a:rPr sz="1100" b="0">
                          <a:solidFill>
                            <a:srgbClr val="555F6B"/>
                          </a:solidFill>
                        </a:rPr>
                        <a:t>Valkey</a:t>
                      </a:r>
                    </a:p>
                  </a:txBody>
                  <a:tcPr marL="45720" marR="45720" marT="18288" marB="18288">
                    <a:solidFill>
                      <a:srgbClr val="EEF3F8"/>
                    </a:solidFill>
                  </a:tcPr>
                </a:tc>
                <a:tc>
                  <a:txBody>
                    <a:bodyPr/>
                    <a:lstStyle/>
                    <a:p>
                      <a:r>
                        <a:rPr sz="1100" b="0">
                          <a:solidFill>
                            <a:srgbClr val="555F6B"/>
                          </a:solidFill>
                        </a:rPr>
                        <a:t>Primary + replica</a:t>
                      </a:r>
                    </a:p>
                  </a:txBody>
                  <a:tcPr marL="45720" marR="45720" marT="18288" marB="18288">
                    <a:solidFill>
                      <a:srgbClr val="EEF3F8"/>
                    </a:solidFill>
                  </a:tcPr>
                </a:tc>
                <a:tc>
                  <a:txBody>
                    <a:bodyPr/>
                    <a:lstStyle/>
                    <a:p>
                      <a:r>
                        <a:rPr sz="1100" b="0">
                          <a:solidFill>
                            <a:srgbClr val="555F6B"/>
                          </a:solidFill>
                        </a:rPr>
                        <a:t>Không cần (chỉ chứa dữ liệu tạm)</a:t>
                      </a:r>
                    </a:p>
                  </a:txBody>
                  <a:tcPr marL="45720" marR="45720" marT="18288" marB="18288">
                    <a:solidFill>
                      <a:srgbClr val="EEF3F8"/>
                    </a:solidFill>
                  </a:tcPr>
                </a:tc>
              </a:tr>
              <a:tr h="384048">
                <a:tc>
                  <a:txBody>
                    <a:bodyPr/>
                    <a:lstStyle/>
                    <a:p>
                      <a:r>
                        <a:rPr sz="1100" b="0">
                          <a:solidFill>
                            <a:srgbClr val="555F6B"/>
                          </a:solidFill>
                        </a:rPr>
                        <a:t>GCS workspace</a:t>
                      </a:r>
                    </a:p>
                  </a:txBody>
                  <a:tcPr marL="45720" marR="45720" marT="18288" marB="18288">
                    <a:solidFill>
                      <a:srgbClr val="FFFFFF"/>
                    </a:solidFill>
                  </a:tcPr>
                </a:tc>
                <a:tc>
                  <a:txBody>
                    <a:bodyPr/>
                    <a:lstStyle/>
                    <a:p>
                      <a:r>
                        <a:rPr sz="1100" b="0">
                          <a:solidFill>
                            <a:srgbClr val="555F6B"/>
                          </a:solidFill>
                        </a:rPr>
                        <a:t>Regional, đa zone</a:t>
                      </a:r>
                    </a:p>
                  </a:txBody>
                  <a:tcPr marL="45720" marR="45720" marT="18288" marB="18288">
                    <a:solidFill>
                      <a:srgbClr val="FFFFFF"/>
                    </a:solidFill>
                  </a:tcPr>
                </a:tc>
                <a:tc>
                  <a:txBody>
                    <a:bodyPr/>
                    <a:lstStyle/>
                    <a:p>
                      <a:r>
                        <a:rPr sz="1100" b="0">
                          <a:solidFill>
                            <a:srgbClr val="555F6B"/>
                          </a:solidFill>
                        </a:rPr>
                        <a:t>Dual-region</a:t>
                      </a:r>
                    </a:p>
                  </a:txBody>
                  <a:tcPr marL="45720" marR="45720" marT="18288" marB="18288">
                    <a:solidFill>
                      <a:srgbClr val="FFFFFF"/>
                    </a:solidFill>
                  </a:tcPr>
                </a:tc>
              </a:tr>
              <a:tr h="384048">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84632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LB ngừng gửi traffic vào zone hỏng. Pod ở zone còn lại nhận tải; Autopilot tạo thêm pod</a:t>
            </a:r>
          </a:p>
          <a:p>
            <a:pPr algn="l">
              <a:spcAft>
                <a:spcPts val="400"/>
              </a:spcAft>
            </a:pPr>
            <a:r>
              <a:rPr sz="1200" b="0">
                <a:solidFill>
                  <a:srgbClr val="555F6B"/>
                </a:solidFill>
              </a:rPr>
              <a:t>Cloud SQL failover sang standby, thường trong vài chục giây đến 1–2 phút. Chỉ mất các giao dịch đang chạy</a:t>
            </a:r>
          </a:p>
          <a:p>
            <a:pPr algn="l">
              <a:spcAft>
                <a:spcPts val="400"/>
              </a:spcAft>
            </a:pPr>
            <a:r>
              <a:rPr sz="1200" b="0">
                <a:solidFill>
                  <a:srgbClr val="555F6B"/>
                </a:solidFill>
              </a:rPr>
              <a:t>Một số request bị lỗi; user gửi lại được. Dữ liệu đã commit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backup DB đã sao chép và bucket dual-region. Mất ≤ 4 giờ và ≤ 1 giờ dữ liệu</a:t>
            </a:r>
          </a:p>
          <a:p>
            <a:pPr algn="l">
              <a:spcAft>
                <a:spcPts val="400"/>
              </a:spcAft>
            </a:pPr>
            <a:r>
              <a:rPr sz="1200" b="1">
                <a:solidFill>
                  <a:srgbClr val="555F6B"/>
                </a:solidFill>
              </a:rPr>
              <a:t>Diễn tập</a:t>
            </a:r>
          </a:p>
          <a:p>
            <a:pPr algn="l">
              <a:spcAft>
                <a:spcPts val="400"/>
              </a:spcAft>
            </a:pPr>
            <a:r>
              <a:rPr sz="1200" b="0">
                <a:solidFill>
                  <a:srgbClr val="555F6B"/>
                </a:solidFill>
              </a:rPr>
              <a:t>Khôi phục DB từ backup mỗi quý. Diễn tập dựng region DR mỗi 6 tháng</a:t>
            </a:r>
          </a:p>
          <a:p>
            <a:pPr algn="l">
              <a:spcAft>
                <a:spcPts val="400"/>
              </a:spcAft>
            </a:pPr>
            <a:r>
              <a:rPr sz="1200" b="1">
                <a:solidFill>
                  <a:srgbClr val="555F6B"/>
                </a:solidFill>
              </a:rPr>
              <a:t>Chi phí</a:t>
            </a:r>
          </a:p>
          <a:p>
            <a:pPr algn="l">
              <a:spcAft>
                <a:spcPts val="400"/>
              </a:spcAft>
            </a:pPr>
            <a:r>
              <a:rPr sz="1200" b="0">
                <a:solidFill>
                  <a:srgbClr val="555F6B"/>
                </a:solidFill>
              </a:rPr>
              <a:t>backup_dr: 164 USD/tháng (gồm 153 USD cho DR sang Jakarta)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Monitoring và FinOps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Đo gì, cảnh báo khi nào, và chi phí theo từng user và phòng ban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846320"/>
          </a:xfrm>
          <a:prstGeom prst="rect">
            <a:avLst/>
          </a:prstGeom>
          <a:noFill/>
        </p:spPr>
        <p:txBody>
          <a:bodyPr wrap="square">
            <a:spAutoFit/>
          </a:bodyPr>
          <a:lstStyle/>
          <a:p>
            <a:pPr algn="l">
              <a:spcAft>
                <a:spcPts val="400"/>
              </a:spcAft>
            </a:pPr>
            <a:r>
              <a:rPr sz="1200" b="1">
                <a:solidFill>
                  <a:srgbClr val="555F6B"/>
                </a:solidFill>
              </a:rPr>
              <a:t>Chỉ số đo</a:t>
            </a:r>
          </a:p>
          <a:p>
            <a:pPr algn="l">
              <a:spcAft>
                <a:spcPts val="400"/>
              </a:spcAft>
            </a:pPr>
            <a:r>
              <a:rPr sz="1200" b="0">
                <a:solidFill>
                  <a:srgbClr val="555F6B"/>
                </a:solidFill>
              </a:rPr>
              <a:t>SLO: tỉ lệ thành công, p95 TTFT theo cấp, thời gian chạy agent nền, lỗi connector theo từng SaaS</a:t>
            </a:r>
          </a:p>
          <a:p>
            <a:pPr algn="l">
              <a:spcAft>
                <a:spcPts val="400"/>
              </a:spcAft>
            </a:pPr>
            <a:r>
              <a:rPr sz="1200" b="0">
                <a:solidFill>
                  <a:srgbClr val="555F6B"/>
                </a:solidFill>
              </a:rPr>
              <a:t>LiteLLM: token vào/ra/cache; USD theo user, phòng ban, model và cấp</a:t>
            </a:r>
          </a:p>
          <a:p>
            <a:pPr algn="l">
              <a:spcAft>
                <a:spcPts val="400"/>
              </a:spcAft>
            </a:pPr>
            <a:r>
              <a:rPr sz="1200" b="0">
                <a:solidFill>
                  <a:srgbClr val="555F6B"/>
                </a:solidFill>
              </a:rPr>
              <a:t>Hạ tầng: CPU/RAM của pod, Cloud SQL, hàng đợi Cloud Tasks, số lượt sandbox</a:t>
            </a:r>
          </a:p>
          <a:p>
            <a:pPr algn="l">
              <a:spcAft>
                <a:spcPts val="400"/>
              </a:spcAft>
            </a:pPr>
            <a:r>
              <a:rPr sz="1200" b="0">
                <a:solidFill>
                  <a:srgbClr val="555F6B"/>
                </a:solidFill>
              </a:rPr>
              <a:t>An toàn: số lần Model Armor chặn, số hành động ghi bị user từ chối</a:t>
            </a:r>
          </a:p>
          <a:p>
            <a:pPr algn="l">
              <a:spcAft>
                <a:spcPts val="400"/>
              </a:spcAft>
            </a:pPr>
            <a:r>
              <a:rPr sz="1200" b="1">
                <a:solidFill>
                  <a:srgbClr val="555F6B"/>
                </a:solidFill>
              </a:rPr>
              <a:t>Cảnh báo</a:t>
            </a:r>
          </a:p>
          <a:p>
            <a:pPr algn="l">
              <a:spcAft>
                <a:spcPts val="400"/>
              </a:spcAft>
            </a:pPr>
            <a:r>
              <a:rPr sz="1200" b="0">
                <a:solidFill>
                  <a:srgbClr val="555F6B"/>
                </a:solidFill>
              </a:rPr>
              <a:t>p95 TTFT &gt; 3 s trong 10 phút · agent chạy &gt; 10 phút · tỉ lệ lỗi &gt; 2% · Cloud SQL failover</a:t>
            </a:r>
          </a:p>
          <a:p>
            <a:pPr algn="l">
              <a:spcAft>
                <a:spcPts val="400"/>
              </a:spcAft>
            </a:pPr>
            <a:r>
              <a:rPr sz="1200" b="0">
                <a:solidFill>
                  <a:srgbClr val="555F6B"/>
                </a:solidFill>
              </a:rPr>
              <a:t>Cache hit &lt; 50% (chi phí sẽ tăng) · chi tiêu trong ngày vượt dự báo 20%</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100" b="1">
                          <a:solidFill>
                            <a:srgbClr val="FFFFFF"/>
                          </a:solidFill>
                        </a:rPr>
                        <a:t>Ngưỡng quota (USD/tháng)</a:t>
                      </a:r>
                    </a:p>
                  </a:txBody>
                  <a:tcPr marL="45720" marR="45720" marT="18288" marB="18288">
                    <a:solidFill>
                      <a:srgbClr val="2E6FB7"/>
                    </a:solidFill>
                  </a:tcPr>
                </a:tc>
                <a:tc>
                  <a:txBody>
                    <a:bodyPr/>
                    <a:lstStyle/>
                    <a:p>
                      <a:r>
                        <a:rPr sz="1100" b="1">
                          <a:solidFill>
                            <a:srgbClr val="FFFFFF"/>
                          </a:solidFill>
                        </a:rPr>
                        <a:t>Hành động</a:t>
                      </a:r>
                    </a:p>
                  </a:txBody>
                  <a:tcPr marL="45720" marR="45720" marT="18288" marB="18288">
                    <a:solidFill>
                      <a:srgbClr val="2E6FB7"/>
                    </a:solidFill>
                  </a:tcPr>
                </a:tc>
              </a:tr>
              <a:tr h="457200">
                <a:tc>
                  <a:txBody>
                    <a:bodyPr/>
                    <a:lstStyle/>
                    <a:p>
                      <a:r>
                        <a:rPr sz="1100" b="0">
                          <a:solidFill>
                            <a:srgbClr val="555F6B"/>
                          </a:solidFill>
                        </a:rPr>
                        <a:t>80%</a:t>
                      </a:r>
                    </a:p>
                  </a:txBody>
                  <a:tcPr marL="45720" marR="45720" marT="18288" marB="18288">
                    <a:solidFill>
                      <a:srgbClr val="EEF3F8"/>
                    </a:solidFill>
                  </a:tcPr>
                </a:tc>
                <a:tc>
                  <a:txBody>
                    <a:bodyPr/>
                    <a:lstStyle/>
                    <a:p>
                      <a:r>
                        <a:rPr sz="11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100" b="0">
                          <a:solidFill>
                            <a:srgbClr val="555F6B"/>
                          </a:solidFill>
                        </a:rPr>
                        <a:t>100%</a:t>
                      </a:r>
                    </a:p>
                  </a:txBody>
                  <a:tcPr marL="45720" marR="45720" marT="18288" marB="18288">
                    <a:solidFill>
                      <a:srgbClr val="FFFFFF"/>
                    </a:solidFill>
                  </a:tcPr>
                </a:tc>
                <a:tc>
                  <a:txBody>
                    <a:bodyPr/>
                    <a:lstStyle/>
                    <a:p>
                      <a:r>
                        <a:rPr sz="11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100" b="0">
                          <a:solidFill>
                            <a:srgbClr val="555F6B"/>
                          </a:solidFill>
                        </a:rPr>
                        <a:t>90% ngân sách hệ thống</a:t>
                      </a:r>
                    </a:p>
                  </a:txBody>
                  <a:tcPr marL="45720" marR="45720" marT="18288" marB="18288">
                    <a:solidFill>
                      <a:srgbClr val="FFFFFF"/>
                    </a:solidFill>
                  </a:tcPr>
                </a:tc>
                <a:tc>
                  <a:txBody>
                    <a:bodyPr/>
                    <a:lstStyle/>
                    <a:p>
                      <a:r>
                        <a:rPr sz="11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286000"/>
          </a:xfrm>
          <a:prstGeom prst="rect">
            <a:avLst/>
          </a:prstGeom>
          <a:noFill/>
        </p:spPr>
        <p:txBody>
          <a:bodyPr wrap="square">
            <a:spAutoFit/>
          </a:bodyPr>
          <a:lstStyle/>
          <a:p>
            <a:pPr algn="l">
              <a:spcAft>
                <a:spcPts val="400"/>
              </a:spcAft>
            </a:pPr>
            <a:r>
              <a:rPr sz="1200" b="1">
                <a:solidFill>
                  <a:srgbClr val="555F6B"/>
                </a:solidFill>
              </a:rPr>
              <a:t>Chi phí theo đầu người</a:t>
            </a:r>
          </a:p>
          <a:p>
            <a:pPr algn="l">
              <a:spcAft>
                <a:spcPts val="400"/>
              </a:spcAft>
            </a:pPr>
            <a:r>
              <a:rPr sz="1200" b="0">
                <a:solidFill>
                  <a:srgbClr val="555F6B"/>
                </a:solidFill>
              </a:rPr>
              <a:t>LLM + guardrail + sandbox ≈ 2.214 USD/tháng, tức 1,11 USD/user/tháng</a:t>
            </a:r>
          </a:p>
          <a:p>
            <a:pPr algn="l">
              <a:spcAft>
                <a:spcPts val="400"/>
              </a:spcAft>
            </a:pPr>
            <a:r>
              <a:rPr sz="1200" b="0">
                <a:solidFill>
                  <a:srgbClr val="555F6B"/>
                </a:solidFill>
              </a:rPr>
              <a:t>Quota mặc định đề xuất: 3 USD/user/tháng (khoảng 2 lần mức trung bình)</a:t>
            </a:r>
          </a:p>
          <a:p>
            <a:pPr algn="l">
              <a:spcAft>
                <a:spcPts val="400"/>
              </a:spcAft>
            </a:pPr>
            <a:r>
              <a:rPr sz="1200" b="0">
                <a:solidFill>
                  <a:srgbClr val="555F6B"/>
                </a:solidFill>
              </a:rPr>
              <a:t>Báo cáo hằng tháng theo phòng ban, lấy từ log chi tiêu của LiteLLM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Tổng trên slide bằng dòng TOTAL của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3657600" cy="1463040"/>
          </a:xfrm>
          <a:prstGeom prst="rect">
            <a:avLst/>
          </a:prstGeom>
          <a:noFill/>
        </p:spPr>
        <p:txBody>
          <a:bodyPr wrap="square">
            <a:spAutoFit/>
          </a:bodyPr>
          <a:lstStyle/>
          <a:p>
            <a:pPr algn="l">
              <a:spcAft>
                <a:spcPts val="400"/>
              </a:spcAft>
            </a:pPr>
            <a:r>
              <a:rPr sz="2600" b="1">
                <a:solidFill>
                  <a:srgbClr val="1F3A5F"/>
                </a:solidFill>
              </a:rPr>
              <a:t>6.821,44 USD/tháng</a:t>
            </a:r>
          </a:p>
          <a:p>
            <a:pPr algn="l">
              <a:spcAft>
                <a:spcPts val="400"/>
              </a:spcAft>
            </a:pPr>
            <a:r>
              <a:rPr sz="2600" b="0">
                <a:solidFill>
                  <a:srgbClr val="1F3A5F"/>
                </a:solidFill>
              </a:rPr>
              <a:t>3,41 USD/DAU/tháng</a:t>
            </a:r>
          </a:p>
        </p:txBody>
      </p:sp>
      <p:graphicFrame>
        <p:nvGraphicFramePr>
          <p:cNvPr id="8" name="Table 7"/>
          <p:cNvGraphicFramePr>
            <a:graphicFrameLocks noGrp="1"/>
          </p:cNvGraphicFramePr>
          <p:nvPr/>
        </p:nvGraphicFramePr>
        <p:xfrm>
          <a:off x="457200" y="2834640"/>
          <a:ext cx="4572000" cy="2304288"/>
        </p:xfrm>
        <a:graphic>
          <a:graphicData uri="http://schemas.openxmlformats.org/drawingml/2006/table">
            <a:tbl>
              <a:tblPr firstRow="1" bandRow="1">
                <a:tableStyleId>{5C22544A-7EE6-4342-B048-85BDC9FD1C3A}</a:tableStyleId>
              </a:tblPr>
              <a:tblGrid>
                <a:gridCol w="2194560"/>
                <a:gridCol w="1280160"/>
                <a:gridCol w="1097280"/>
              </a:tblGrid>
              <a:tr h="384048">
                <a:tc>
                  <a:txBody>
                    <a:bodyPr/>
                    <a:lstStyle/>
                    <a:p>
                      <a:r>
                        <a:rPr sz="1200" b="1">
                          <a:solidFill>
                            <a:srgbClr val="FFFFFF"/>
                          </a:solidFill>
                        </a:rPr>
                        <a:t>5 hạng mục lớn nhất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a:t>
                      </a:r>
                    </a:p>
                  </a:txBody>
                  <a:tcPr marL="45720" marR="45720" marT="18288" marB="18288">
                    <a:solidFill>
                      <a:srgbClr val="2E6FB7"/>
                    </a:solidFill>
                  </a:tcPr>
                </a:tc>
              </a:tr>
              <a:tr h="384048">
                <a:tc>
                  <a:txBody>
                    <a:bodyPr/>
                    <a:lstStyle/>
                    <a:p>
                      <a:r>
                        <a:rPr sz="1200" b="0">
                          <a:solidFill>
                            <a:srgbClr val="555F6B"/>
                          </a:solidFill>
                        </a:rPr>
                        <a:t>ops_labor</a:t>
                      </a:r>
                    </a:p>
                  </a:txBody>
                  <a:tcPr marL="45720" marR="45720" marT="18288" marB="18288">
                    <a:solidFill>
                      <a:srgbClr val="EEF3F8"/>
                    </a:solidFill>
                  </a:tcPr>
                </a:tc>
                <a:tc>
                  <a:txBody>
                    <a:bodyPr/>
                    <a:lstStyle/>
                    <a:p>
                      <a:r>
                        <a:rPr sz="1200" b="0">
                          <a:solidFill>
                            <a:srgbClr val="555F6B"/>
                          </a:solidFill>
                        </a:rPr>
                        <a:t>3.400</a:t>
                      </a:r>
                    </a:p>
                  </a:txBody>
                  <a:tcPr marL="45720" marR="45720" marT="18288" marB="18288">
                    <a:solidFill>
                      <a:srgbClr val="EEF3F8"/>
                    </a:solidFill>
                  </a:tcPr>
                </a:tc>
                <a:tc>
                  <a:txBody>
                    <a:bodyPr/>
                    <a:lstStyle/>
                    <a:p>
                      <a:r>
                        <a:rPr sz="1200" b="0">
                          <a:solidFill>
                            <a:srgbClr val="555F6B"/>
                          </a:solidFill>
                        </a:rPr>
                        <a:t>50%</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a:t>
                      </a:r>
                    </a:p>
                  </a:txBody>
                  <a:tcPr marL="45720" marR="45720" marT="18288" marB="18288">
                    <a:solidFill>
                      <a:srgbClr val="FFFFFF"/>
                    </a:solidFill>
                  </a:tcPr>
                </a:tc>
                <a:tc>
                  <a:txBody>
                    <a:bodyPr/>
                    <a:lstStyle/>
                    <a:p>
                      <a:r>
                        <a:rPr sz="1200" b="0">
                          <a:solidFill>
                            <a:srgbClr val="555F6B"/>
                          </a:solidFill>
                        </a:rPr>
                        <a:t>16%</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806</a:t>
                      </a:r>
                    </a:p>
                  </a:txBody>
                  <a:tcPr marL="45720" marR="45720" marT="18288" marB="18288">
                    <a:solidFill>
                      <a:srgbClr val="EEF3F8"/>
                    </a:solidFill>
                  </a:tcPr>
                </a:tc>
                <a:tc>
                  <a:txBody>
                    <a:bodyPr/>
                    <a:lstStyle/>
                    <a:p>
                      <a:r>
                        <a:rPr sz="1200" b="0">
                          <a:solidFill>
                            <a:srgbClr val="555F6B"/>
                          </a:solidFill>
                        </a:rPr>
                        <a:t>12%</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467</a:t>
                      </a:r>
                    </a:p>
                  </a:txBody>
                  <a:tcPr marL="45720" marR="45720" marT="18288" marB="18288">
                    <a:solidFill>
                      <a:srgbClr val="FFFFFF"/>
                    </a:solidFill>
                  </a:tcPr>
                </a:tc>
                <a:tc>
                  <a:txBody>
                    <a:bodyPr/>
                    <a:lstStyle/>
                    <a:p>
                      <a:r>
                        <a:rPr sz="1200" b="0">
                          <a:solidFill>
                            <a:srgbClr val="555F6B"/>
                          </a:solidFill>
                        </a:rPr>
                        <a:t>7%</a:t>
                      </a:r>
                    </a:p>
                  </a:txBody>
                  <a:tcPr marL="45720" marR="45720" marT="18288" marB="18288">
                    <a:solidFill>
                      <a:srgbClr val="FFFFFF"/>
                    </a:solidFill>
                  </a:tcPr>
                </a:tc>
              </a:tr>
              <a:tr h="38404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315</a:t>
                      </a:r>
                    </a:p>
                  </a:txBody>
                  <a:tcPr marL="45720" marR="45720" marT="18288" marB="18288">
                    <a:solidFill>
                      <a:srgbClr val="EEF3F8"/>
                    </a:solidFill>
                  </a:tcPr>
                </a:tc>
                <a:tc>
                  <a:txBody>
                    <a:bodyPr/>
                    <a:lstStyle/>
                    <a:p>
                      <a:r>
                        <a:rPr sz="1200" b="0">
                          <a:solidFill>
                            <a:srgbClr val="555F6B"/>
                          </a:solidFill>
                        </a:rPr>
                        <a:t>5%</a:t>
                      </a:r>
                    </a:p>
                  </a:txBody>
                  <a:tcPr marL="45720" marR="45720" marT="18288" marB="18288">
                    <a:solidFill>
                      <a:srgbClr val="EEF3F8"/>
                    </a:solidFill>
                  </a:tcPr>
                </a:tc>
              </a:tr>
            </a:tbl>
          </a:graphicData>
        </a:graphic>
      </p:graphicFrame>
      <p:graphicFrame>
        <p:nvGraphicFramePr>
          <p:cNvPr id="9" name="Table 8"/>
          <p:cNvGraphicFramePr>
            <a:graphicFrameLocks noGrp="1"/>
          </p:cNvGraphicFramePr>
          <p:nvPr/>
        </p:nvGraphicFramePr>
        <p:xfrm>
          <a:off x="5486400" y="1371600"/>
          <a:ext cx="6309360" cy="3456432"/>
        </p:xfrm>
        <a:graphic>
          <a:graphicData uri="http://schemas.openxmlformats.org/drawingml/2006/table">
            <a:tbl>
              <a:tblPr firstRow="1" bandRow="1">
                <a:tableStyleId>{5C22544A-7EE6-4342-B048-85BDC9FD1C3A}</a:tableStyleId>
              </a:tblPr>
              <a:tblGrid>
                <a:gridCol w="4663440"/>
                <a:gridCol w="1645920"/>
              </a:tblGrid>
              <a:tr h="384048">
                <a:tc>
                  <a:txBody>
                    <a:bodyPr/>
                    <a:lstStyle/>
                    <a:p>
                      <a:r>
                        <a:rPr sz="1100" b="1">
                          <a:solidFill>
                            <a:srgbClr val="FFFFFF"/>
                          </a:solidFill>
                        </a:rPr>
                        <a:t>Đòn bẩy tiết kiệm (so với phương án thay thế)</a:t>
                      </a:r>
                    </a:p>
                  </a:txBody>
                  <a:tcPr marL="45720" marR="45720" marT="18288" marB="18288">
                    <a:solidFill>
                      <a:srgbClr val="2E6FB7"/>
                    </a:solidFill>
                  </a:tcPr>
                </a:tc>
                <a:tc>
                  <a:txBody>
                    <a:bodyPr/>
                    <a:lstStyle/>
                    <a:p>
                      <a:r>
                        <a:rPr sz="1100" b="1">
                          <a:solidFill>
                            <a:srgbClr val="FFFFFF"/>
                          </a:solidFill>
                        </a:rPr>
                        <a:t>Tiết kiệm (USD/tháng)</a:t>
                      </a:r>
                    </a:p>
                  </a:txBody>
                  <a:tcPr marL="45720" marR="45720" marT="18288" marB="18288">
                    <a:solidFill>
                      <a:srgbClr val="2E6FB7"/>
                    </a:solidFill>
                  </a:tcPr>
                </a:tc>
              </a:tr>
              <a:tr h="384048">
                <a:tc>
                  <a:txBody>
                    <a:bodyPr/>
                    <a:lstStyle/>
                    <a:p>
                      <a:r>
                        <a:rPr sz="1100" b="0">
                          <a:solidFill>
                            <a:srgbClr val="555F6B"/>
                          </a:solidFill>
                        </a:rPr>
                        <a:t>Haiku cho cả 5 cấp, thay Sonnet ở cấp 3–4 (eval gate giữ chất lượng)</a:t>
                      </a:r>
                    </a:p>
                  </a:txBody>
                  <a:tcPr marL="45720" marR="45720" marT="18288" marB="18288">
                    <a:solidFill>
                      <a:srgbClr val="EEF3F8"/>
                    </a:solidFill>
                  </a:tcPr>
                </a:tc>
                <a:tc>
                  <a:txBody>
                    <a:bodyPr/>
                    <a:lstStyle/>
                    <a:p>
                      <a:r>
                        <a:rPr sz="1100" b="0">
                          <a:solidFill>
                            <a:srgbClr val="555F6B"/>
                          </a:solidFill>
                        </a:rPr>
                        <a:t>4.705</a:t>
                      </a:r>
                    </a:p>
                  </a:txBody>
                  <a:tcPr marL="45720" marR="45720" marT="18288" marB="18288">
                    <a:solidFill>
                      <a:srgbClr val="EEF3F8"/>
                    </a:solidFill>
                  </a:tcPr>
                </a:tc>
              </a:tr>
              <a:tr h="384048">
                <a:tc>
                  <a:txBody>
                    <a:bodyPr/>
                    <a:lstStyle/>
                    <a:p>
                      <a:r>
                        <a:rPr sz="1100" b="0">
                          <a:solidFill>
                            <a:srgbClr val="555F6B"/>
                          </a:solidFill>
                        </a:rPr>
                        <a:t>LiteLLM thay Apigee</a:t>
                      </a:r>
                    </a:p>
                  </a:txBody>
                  <a:tcPr marL="45720" marR="45720" marT="18288" marB="18288">
                    <a:solidFill>
                      <a:srgbClr val="FFFFFF"/>
                    </a:solidFill>
                  </a:tcPr>
                </a:tc>
                <a:tc>
                  <a:txBody>
                    <a:bodyPr/>
                    <a:lstStyle/>
                    <a:p>
                      <a:r>
                        <a:rPr sz="1100" b="0">
                          <a:solidFill>
                            <a:srgbClr val="555F6B"/>
                          </a:solidFill>
                        </a:rPr>
                        <a:t>~1.595</a:t>
                      </a:r>
                    </a:p>
                  </a:txBody>
                  <a:tcPr marL="45720" marR="45720" marT="18288" marB="18288">
                    <a:solidFill>
                      <a:srgbClr val="FFFFFF"/>
                    </a:solidFill>
                  </a:tcPr>
                </a:tc>
              </a:tr>
              <a:tr h="384048">
                <a:tc>
                  <a:txBody>
                    <a:bodyPr/>
                    <a:lstStyle/>
                    <a:p>
                      <a:r>
                        <a:rPr sz="1100" b="0">
                          <a:solidFill>
                            <a:srgbClr val="555F6B"/>
                          </a:solidFill>
                        </a:rPr>
                        <a:t>Guardrail chỉ quét text mới, thay vì quét toàn bộ token</a:t>
                      </a:r>
                    </a:p>
                  </a:txBody>
                  <a:tcPr marL="45720" marR="45720" marT="18288" marB="18288">
                    <a:solidFill>
                      <a:srgbClr val="EEF3F8"/>
                    </a:solidFill>
                  </a:tcPr>
                </a:tc>
                <a:tc>
                  <a:txBody>
                    <a:bodyPr/>
                    <a:lstStyle/>
                    <a:p>
                      <a:r>
                        <a:rPr sz="1100" b="0">
                          <a:solidFill>
                            <a:srgbClr val="555F6B"/>
                          </a:solidFill>
                        </a:rPr>
                        <a:t>1.018</a:t>
                      </a:r>
                    </a:p>
                  </a:txBody>
                  <a:tcPr marL="45720" marR="45720" marT="18288" marB="18288">
                    <a:solidFill>
                      <a:srgbClr val="EEF3F8"/>
                    </a:solidFill>
                  </a:tcPr>
                </a:tc>
              </a:tr>
              <a:tr h="384048">
                <a:tc>
                  <a:txBody>
                    <a:bodyPr/>
                    <a:lstStyle/>
                    <a:p>
                      <a:r>
                        <a:rPr sz="1100" b="0">
                          <a:solidFill>
                            <a:srgbClr val="555F6B"/>
                          </a:solidFill>
                        </a:rPr>
                        <a:t>Token vault bằng KMS envelope, thay Secret Manager</a:t>
                      </a:r>
                    </a:p>
                  </a:txBody>
                  <a:tcPr marL="45720" marR="45720" marT="18288" marB="18288">
                    <a:solidFill>
                      <a:srgbClr val="FFFFFF"/>
                    </a:solidFill>
                  </a:tcPr>
                </a:tc>
                <a:tc>
                  <a:txBody>
                    <a:bodyPr/>
                    <a:lstStyle/>
                    <a:p>
                      <a:r>
                        <a:rPr sz="1100" b="0">
                          <a:solidFill>
                            <a:srgbClr val="555F6B"/>
                          </a:solidFill>
                        </a:rPr>
                        <a:t>~716</a:t>
                      </a:r>
                    </a:p>
                  </a:txBody>
                  <a:tcPr marL="45720" marR="45720" marT="18288" marB="18288">
                    <a:solidFill>
                      <a:srgbClr val="FFFFFF"/>
                    </a:solidFill>
                  </a:tcPr>
                </a:tc>
              </a:tr>
              <a:tr h="384048">
                <a:tc>
                  <a:txBody>
                    <a:bodyPr/>
                    <a:lstStyle/>
                    <a:p>
                      <a:r>
                        <a:rPr sz="1100" b="0">
                          <a:solidFill>
                            <a:srgbClr val="555F6B"/>
                          </a:solidFill>
                        </a:rPr>
                        <a:t>Prompt caching (61% token vào đọc từ cache)</a:t>
                      </a:r>
                    </a:p>
                  </a:txBody>
                  <a:tcPr marL="45720" marR="45720" marT="18288" marB="18288">
                    <a:solidFill>
                      <a:srgbClr val="EEF3F8"/>
                    </a:solidFill>
                  </a:tcPr>
                </a:tc>
                <a:tc>
                  <a:txBody>
                    <a:bodyPr/>
                    <a:lstStyle/>
                    <a:p>
                      <a:r>
                        <a:rPr sz="1100" b="0">
                          <a:solidFill>
                            <a:srgbClr val="555F6B"/>
                          </a:solidFill>
                        </a:rPr>
                        <a:t>670</a:t>
                      </a:r>
                    </a:p>
                  </a:txBody>
                  <a:tcPr marL="45720" marR="45720" marT="18288" marB="18288">
                    <a:solidFill>
                      <a:srgbClr val="EEF3F8"/>
                    </a:solidFill>
                  </a:tcPr>
                </a:tc>
              </a:tr>
              <a:tr h="384048">
                <a:tc>
                  <a:txBody>
                    <a:bodyPr/>
                    <a:lstStyle/>
                    <a:p>
                      <a:r>
                        <a:rPr sz="1100" b="0">
                          <a:solidFill>
                            <a:srgbClr val="555F6B"/>
                          </a:solidFill>
                        </a:rPr>
                        <a:t>Ngoài giờ chỉ chạy 1 pod, thay vì 2 pod 24/7</a:t>
                      </a:r>
                    </a:p>
                  </a:txBody>
                  <a:tcPr marL="45720" marR="45720" marT="18288" marB="18288">
                    <a:solidFill>
                      <a:srgbClr val="FFFFFF"/>
                    </a:solidFill>
                  </a:tcPr>
                </a:tc>
                <a:tc>
                  <a:txBody>
                    <a:bodyPr/>
                    <a:lstStyle/>
                    <a:p>
                      <a:r>
                        <a:rPr sz="1100" b="0">
                          <a:solidFill>
                            <a:srgbClr val="555F6B"/>
                          </a:solidFill>
                        </a:rPr>
                        <a:t>109</a:t>
                      </a:r>
                    </a:p>
                  </a:txBody>
                  <a:tcPr marL="45720" marR="45720" marT="18288" marB="18288">
                    <a:solidFill>
                      <a:srgbClr val="FFFFFF"/>
                    </a:solidFill>
                  </a:tcPr>
                </a:tc>
              </a:tr>
              <a:tr h="384048">
                <a:tc>
                  <a:txBody>
                    <a:bodyPr/>
                    <a:lstStyle/>
                    <a:p>
                      <a:r>
                        <a:rPr sz="1100" b="0">
                          <a:solidFill>
                            <a:srgbClr val="555F6B"/>
                          </a:solidFill>
                        </a:rPr>
                        <a:t>pgvector trong DB, thay Vertex Vector Search</a:t>
                      </a:r>
                    </a:p>
                  </a:txBody>
                  <a:tcPr marL="45720" marR="45720" marT="18288" marB="18288">
                    <a:solidFill>
                      <a:srgbClr val="EEF3F8"/>
                    </a:solidFill>
                  </a:tcPr>
                </a:tc>
                <a:tc>
                  <a:txBody>
                    <a:bodyPr/>
                    <a:lstStyle/>
                    <a:p>
                      <a:r>
                        <a:rPr sz="1100" b="0">
                          <a:solidFill>
                            <a:srgbClr val="555F6B"/>
                          </a:solidFill>
                        </a:rPr>
                        <a:t>~84</a:t>
                      </a:r>
                    </a:p>
                  </a:txBody>
                  <a:tcPr marL="45720" marR="45720" marT="18288" marB="18288">
                    <a:solidFill>
                      <a:srgbClr val="EEF3F8"/>
                    </a:solidFill>
                  </a:tcPr>
                </a:tc>
              </a:tr>
              <a:tr h="384048">
                <a:tc>
                  <a:txBody>
                    <a:bodyPr/>
                    <a:lstStyle/>
                    <a:p>
                      <a:r>
                        <a:rPr sz="1100" b="0">
                          <a:solidFill>
                            <a:srgbClr val="555F6B"/>
                          </a:solidFill>
                        </a:rPr>
                        <a:t>Staging là namespace, thay vì cluster riêng</a:t>
                      </a:r>
                    </a:p>
                  </a:txBody>
                  <a:tcPr marL="45720" marR="45720" marT="18288" marB="18288">
                    <a:solidFill>
                      <a:srgbClr val="FFFFFF"/>
                    </a:solidFill>
                  </a:tcPr>
                </a:tc>
                <a:tc>
                  <a:txBody>
                    <a:bodyPr/>
                    <a:lstStyle/>
                    <a:p>
                      <a:r>
                        <a:rPr sz="1100" b="0">
                          <a:solidFill>
                            <a:srgbClr val="555F6B"/>
                          </a:solidFill>
                        </a:rPr>
                        <a:t>73</a:t>
                      </a:r>
                    </a:p>
                  </a:txBody>
                  <a:tcPr marL="45720" marR="45720" marT="18288" marB="18288">
                    <a:solidFill>
                      <a:srgbClr val="FFFFFF"/>
                    </a:solidFill>
                  </a:tcPr>
                </a:tc>
              </a:tr>
            </a:tbl>
          </a:graphicData>
        </a:graphic>
      </p:graphicFrame>
      <p:sp>
        <p:nvSpPr>
          <p:cNvPr id="10" name="TextBox 9"/>
          <p:cNvSpPr txBox="1"/>
          <p:nvPr/>
        </p:nvSpPr>
        <p:spPr>
          <a:xfrm>
            <a:off x="5486400" y="5029200"/>
            <a:ext cx="6309360" cy="1280160"/>
          </a:xfrm>
          <a:prstGeom prst="rect">
            <a:avLst/>
          </a:prstGeom>
          <a:noFill/>
        </p:spPr>
        <p:txBody>
          <a:bodyPr wrap="square">
            <a:spAutoFit/>
          </a:bodyPr>
          <a:lstStyle/>
          <a:p>
            <a:pPr algn="l">
              <a:spcAft>
                <a:spcPts val="400"/>
              </a:spcAft>
            </a:pPr>
            <a:r>
              <a:rPr sz="1100" b="0">
                <a:solidFill>
                  <a:srgbClr val="555F6B"/>
                </a:solidFill>
              </a:rPr>
              <a:t>Không dùng free tier, credit hay giá khuyến mãi (ví dụ: không tính đợt giảm giá tạm thời của Gemini 3.8 Flash).</a:t>
            </a:r>
          </a:p>
          <a:p>
            <a:pPr algn="l">
              <a:spcAft>
                <a:spcPts val="400"/>
              </a:spcAft>
            </a:pPr>
            <a:r>
              <a:rPr sz="1100" b="0">
                <a:solidFill>
                  <a:srgbClr val="555F6B"/>
                </a:solidFill>
              </a:rPr>
              <a:t>Chưa tính phí ghi cache của Claude (ước tính vài %). Không mua gói support. Không có dòng dự phòng.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và mở rộng</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6" name="Table 5"/>
          <p:cNvGraphicFramePr>
            <a:graphicFrameLocks noGrp="1"/>
          </p:cNvGraphicFramePr>
          <p:nvPr/>
        </p:nvGraphicFramePr>
        <p:xfrm>
          <a:off x="457200" y="128016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6.821</a:t>
                      </a:r>
                    </a:p>
                  </a:txBody>
                  <a:tcPr marL="45720" marR="45720" marT="18288" marB="18288">
                    <a:solidFill>
                      <a:srgbClr val="EEF3F8"/>
                    </a:solidFill>
                  </a:tcPr>
                </a:tc>
                <a:tc>
                  <a:txBody>
                    <a:bodyPr/>
                    <a:lstStyle/>
                    <a:p>
                      <a:r>
                        <a:rPr sz="1200" b="0">
                          <a:solidFill>
                            <a:srgbClr val="555F6B"/>
                          </a:solidFill>
                        </a:rPr>
                        <a:t>3,41</a:t>
                      </a:r>
                    </a:p>
                  </a:txBody>
                  <a:tcPr marL="45720" marR="45720" marT="18288" marB="18288">
                    <a:solidFill>
                      <a:srgbClr val="EEF3F8"/>
                    </a:solidFill>
                  </a:tcPr>
                </a:tc>
              </a:tr>
              <a:tr h="384048">
                <a:tc>
                  <a:txBody>
                    <a:bodyPr/>
                    <a:lstStyle/>
                    <a:p>
                      <a:r>
                        <a:rPr sz="1200" b="0">
                          <a:solidFill>
                            <a:srgbClr val="555F6B"/>
                          </a:solidFill>
                        </a:rPr>
                        <a:t>DAU ×2 = 4.000</a:t>
                      </a:r>
                    </a:p>
                  </a:txBody>
                  <a:tcPr marL="45720" marR="45720" marT="18288" marB="18288">
                    <a:solidFill>
                      <a:srgbClr val="FFFFFF"/>
                    </a:solidFill>
                  </a:tcPr>
                </a:tc>
                <a:tc>
                  <a:txBody>
                    <a:bodyPr/>
                    <a:lstStyle/>
                    <a:p>
                      <a:r>
                        <a:rPr sz="1200" b="0">
                          <a:solidFill>
                            <a:srgbClr val="555F6B"/>
                          </a:solidFill>
                        </a:rPr>
                        <a:t>8.826</a:t>
                      </a:r>
                    </a:p>
                  </a:txBody>
                  <a:tcPr marL="45720" marR="45720" marT="18288" marB="18288">
                    <a:solidFill>
                      <a:srgbClr val="FFFFFF"/>
                    </a:solidFill>
                  </a:tcPr>
                </a:tc>
                <a:tc>
                  <a:txBody>
                    <a:bodyPr/>
                    <a:lstStyle/>
                    <a:p>
                      <a:r>
                        <a:rPr sz="1200" b="0">
                          <a:solidFill>
                            <a:srgbClr val="555F6B"/>
                          </a:solidFill>
                        </a:rPr>
                        <a:t>2,21</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7.263</a:t>
                      </a:r>
                    </a:p>
                  </a:txBody>
                  <a:tcPr marL="45720" marR="45720" marT="18288" marB="18288">
                    <a:solidFill>
                      <a:srgbClr val="EEF3F8"/>
                    </a:solidFill>
                  </a:tcPr>
                </a:tc>
                <a:tc>
                  <a:txBody>
                    <a:bodyPr/>
                    <a:lstStyle/>
                    <a:p>
                      <a:r>
                        <a:rPr sz="1200" b="0">
                          <a:solidFill>
                            <a:srgbClr val="555F6B"/>
                          </a:solidFill>
                        </a:rPr>
                        <a:t>3,63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6.085</a:t>
                      </a:r>
                    </a:p>
                  </a:txBody>
                  <a:tcPr marL="45720" marR="45720" marT="18288" marB="18288">
                    <a:solidFill>
                      <a:srgbClr val="FFFFFF"/>
                    </a:solidFill>
                  </a:tcPr>
                </a:tc>
                <a:tc>
                  <a:txBody>
                    <a:bodyPr/>
                    <a:lstStyle/>
                    <a:p>
                      <a:r>
                        <a:rPr sz="1200" b="0">
                          <a:solidFill>
                            <a:srgbClr val="555F6B"/>
                          </a:solidFill>
                        </a:rPr>
                        <a:t>3,04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11.526</a:t>
                      </a:r>
                    </a:p>
                  </a:txBody>
                  <a:tcPr marL="45720" marR="45720" marT="18288" marB="18288">
                    <a:solidFill>
                      <a:srgbClr val="EEF3F8"/>
                    </a:solidFill>
                  </a:tcPr>
                </a:tc>
                <a:tc>
                  <a:txBody>
                    <a:bodyPr/>
                    <a:lstStyle/>
                    <a:p>
                      <a:r>
                        <a:rPr sz="1200" b="0">
                          <a:solidFill>
                            <a:srgbClr val="555F6B"/>
                          </a:solidFill>
                        </a:rPr>
                        <a:t>5,76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7" name="TextBox 6"/>
          <p:cNvSpPr txBox="1"/>
          <p:nvPr/>
        </p:nvSpPr>
        <p:spPr>
          <a:xfrm>
            <a:off x="457200" y="4206240"/>
            <a:ext cx="5760720" cy="2103120"/>
          </a:xfrm>
          <a:prstGeom prst="rect">
            <a:avLst/>
          </a:prstGeom>
          <a:noFill/>
        </p:spPr>
        <p:txBody>
          <a:bodyPr wrap="square">
            <a:spAutoFit/>
          </a:bodyPr>
          <a:lstStyle/>
          <a:p>
            <a:pPr algn="l">
              <a:spcAft>
                <a:spcPts val="400"/>
              </a:spcAft>
            </a:pPr>
            <a:r>
              <a:rPr sz="1100" b="1">
                <a:solidFill>
                  <a:srgbClr val="555F6B"/>
                </a:solidFill>
              </a:rPr>
              <a:t>Khi DAU tăng gấp đôi</a:t>
            </a:r>
          </a:p>
          <a:p>
            <a:pPr algn="l">
              <a:spcAft>
                <a:spcPts val="400"/>
              </a:spcAft>
            </a:pPr>
            <a:r>
              <a:rPr sz="1100" b="0">
                <a:solidFill>
                  <a:srgbClr val="555F6B"/>
                </a:solidFill>
              </a:rPr>
              <a:t>Tăng tuyến tính: LLM, guardrail, sandbox, storage, log</a:t>
            </a:r>
          </a:p>
          <a:p>
            <a:pPr algn="l">
              <a:spcAft>
                <a:spcPts val="400"/>
              </a:spcAft>
            </a:pPr>
            <a:r>
              <a:rPr sz="1100" b="0">
                <a:solidFill>
                  <a:srgbClr val="555F6B"/>
                </a:solidFill>
              </a:rPr>
              <a:t>Gần như cố định: 2 FTE, cluster, Cloud SQL, Valkey, LB. Vì vậy USD/DAU giảm</a:t>
            </a:r>
          </a:p>
          <a:p>
            <a:pPr algn="l">
              <a:spcAft>
                <a:spcPts val="400"/>
              </a:spcAft>
            </a:pPr>
            <a:r>
              <a:rPr sz="1100" b="0">
                <a:solidFill>
                  <a:srgbClr val="555F6B"/>
                </a:solidFill>
              </a:rPr>
              <a:t>Chỉ xét tự host GPU khi chi phí token vượt chi phí chạy ≥ 2 GPU HA 24/7 cộng chi phí vận hành</a:t>
            </a:r>
          </a:p>
        </p:txBody>
      </p:sp>
      <p:sp>
        <p:nvSpPr>
          <p:cNvPr id="8" name="TextBox 7"/>
          <p:cNvSpPr txBox="1"/>
          <p:nvPr/>
        </p:nvSpPr>
        <p:spPr>
          <a:xfrm>
            <a:off x="6492240" y="1280160"/>
            <a:ext cx="5303520" cy="4937760"/>
          </a:xfrm>
          <a:prstGeom prst="rect">
            <a:avLst/>
          </a:prstGeom>
          <a:noFill/>
        </p:spPr>
        <p:txBody>
          <a:bodyPr wrap="square">
            <a:spAutoFit/>
          </a:bodyPr>
          <a:lstStyle/>
          <a:p>
            <a:pPr algn="l">
              <a:spcAft>
                <a:spcPts val="400"/>
              </a:spcAft>
            </a:pPr>
            <a:r>
              <a:rPr sz="1100" b="1">
                <a:solidFill>
                  <a:srgbClr val="555F6B"/>
                </a:solidFill>
              </a:rPr>
              <a:t>Rủi ro lớn nhất</a:t>
            </a:r>
          </a:p>
          <a:p>
            <a:pPr algn="l">
              <a:spcAft>
                <a:spcPts val="400"/>
              </a:spcAft>
            </a:pPr>
            <a:r>
              <a:rPr sz="1100" b="0">
                <a:solidFill>
                  <a:srgbClr val="555F6B"/>
                </a:solidFill>
              </a:rPr>
              <a:t>Haiku không đạt 95% ở cấp 3–4: thêm 4.705 USD/tháng. Đã tính sẵn; LiteLLM đổi model bằng 1 dòng cấu hình</a:t>
            </a:r>
          </a:p>
          <a:p>
            <a:pPr algn="l">
              <a:spcAft>
                <a:spcPts val="400"/>
              </a:spcAft>
            </a:pPr>
            <a:r>
              <a:rPr sz="1100" b="0">
                <a:solidFill>
                  <a:srgbClr val="555F6B"/>
                </a:solidFill>
              </a:rPr>
              <a:t>Token agent thực tế có thể cao hơn giả định (khoảng 4,6–42,8 tỉ token/tháng). Đo trong pilot 2–4 tuần</a:t>
            </a:r>
          </a:p>
          <a:p>
            <a:pPr algn="l">
              <a:spcAft>
                <a:spcPts val="400"/>
              </a:spcAft>
            </a:pPr>
            <a:r>
              <a:rPr sz="1100" b="0">
                <a:solidFill>
                  <a:srgbClr val="555F6B"/>
                </a:solidFill>
              </a:rPr>
              <a:t>Chưa có số đo chính thức về TTFT của Haiku khi tắt reasoning</a:t>
            </a:r>
          </a:p>
          <a:p>
            <a:pPr algn="l">
              <a:spcAft>
                <a:spcPts val="400"/>
              </a:spcAft>
            </a:pPr>
            <a:r>
              <a:rPr sz="1100" b="0">
                <a:solidFill>
                  <a:srgbClr val="555F6B"/>
                </a:solidFill>
              </a:rPr>
              <a:t>Phụ thuộc endpoint global của Vertex AI và quy định về dữ liệu (Nghị định 13/2023). Phương án hybrid: dữ liệu nhạy cảm dùng model chạy tại Singapore</a:t>
            </a:r>
          </a:p>
          <a:p>
            <a:pPr algn="l">
              <a:spcAft>
                <a:spcPts val="400"/>
              </a:spcAft>
            </a:pPr>
            <a:r>
              <a:rPr sz="1100" b="0">
                <a:solidFill>
                  <a:srgbClr val="555F6B"/>
                </a:solidFill>
              </a:rPr>
              <a:t>Rate limit Jira/Confluence tính chung cho cả app (65.000 điểm/giờ)</a:t>
            </a:r>
          </a:p>
          <a:p>
            <a:pPr algn="l">
              <a:spcAft>
                <a:spcPts val="400"/>
              </a:spcAft>
            </a:pPr>
            <a:r>
              <a:rPr sz="1100" b="0">
                <a:solidFill>
                  <a:srgbClr val="555F6B"/>
                </a:solidFill>
              </a:rPr>
              <a:t>Google dự kiến tính phí API Workspace khi vượt ngưỡng, từ cuối 2026 (chưa công bố giá)</a:t>
            </a:r>
          </a:p>
          <a:p>
            <a:pPr algn="l">
              <a:spcAft>
                <a:spcPts val="400"/>
              </a:spcAft>
            </a:pPr>
            <a:r>
              <a:rPr sz="1100" b="0">
                <a:solidFill>
                  <a:srgbClr val="555F6B"/>
                </a:solidFill>
              </a:rPr>
              <a:t>LiteLLM là open source, không có SLA. Cách giảm rủi ro: 2 FTE trực, pin phiên bản, test trên staging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3.400,00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6.821,44</a:t>
                      </a:r>
                    </a:p>
                  </a:txBody>
                  <a:tcPr marL="45720" marR="45720" marT="18288" marB="18288">
                    <a:solidFill>
                      <a:srgbClr val="EEF3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